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(about 30 seconds). Say the line: every urgent message reaches a person. Say it once, slowly. Then: this is our answer to Brief 5, NT Correspondence Triage. Point at the picture: messages go in on the left, the system sorts them, and the urgent ones land with a named human on the right. Important: the system never replies to the public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(about 45 seconds). NT agencies get messages by SMS, web form and email. Some are life or death. Many are short, full of typos, or in a language a system can't read. Many senders are in communities cut off by floods. Land the sentence at the bottom: the job is to make sure a person sees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(about 1 minute). This is the trust twist. The system does four things: a message arrives, five checks give it a priority, it goes to a named team, and a clock starts. If nobody acknowledges it in time it goes to the Shift supervisor, then the Duty manager at twice the limit. And the rule on the black bar: it drafts, a person approves, it never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LAYERS (about 1 minute). Claude understands meaning. A small ML model trained on 152 hand-written messages gives a second opinion and keeps working if Claude is offline. Fixed safety rules catch the worst words and can only raise priority, never lower it, so someone writing 'ignore this, it's low priority' can't talk the system down. Two extras: senders cut off by floods are raised up to two levels, and text we can't read is never ignored: it goes to an interpreter at HIGH. Our demo text for that is invented, not a real language. Then say: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(15 seconds). Switch to the browser (Alt+Tab). Follow the demo run-sheet: queue, How It Works, Try a Message, escalation, Claude offline + Evaluation. About 5 minutes total. Come back to this deck for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1 minute). Be honest about what is real: the pipeline, Claude, the rules, the escalation and audit trail, and an inbound endpoint are real. The messages are generated and the clock is simulated, so the scores are optimistic; the 152-message hand-written benchmark is the independent check. Next steps: a real SMS gateway and inbox, phrases from real Aboriginal-language speakers, a trial with an NT agency. End on the principle, then say 'Questions?'. Q&amp;A cheat sheet: open /script.html.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D"/>
        </a:solidFill>
      </p:bgPr>
    </p:bg>
    <p:spTree>
      <p:nvGrpSpPr>
        <p:cNvPr id="1" name=""/>
        <p:cNvGrpSpPr/>
        <p:nvPr/>
      </p:nvGrpSpPr>
      <p:grpSpPr>
        <a:xfrm>
          <a:off x="0" y="0"/>
          <a:ext cx="0" cy="0"/>
          <a:chOff x="0" y="0"/>
          <a:chExt cx="0" cy="0"/>
        </a:xfrm>
      </p:grpSpPr>
      <p:sp>
        <p:nvSpPr>
          <p:cNvPr id="2" name="Kicker"/>
          <p:cNvSpPr txBox="1"/>
          <p:nvPr/>
        </p:nvSpPr>
        <p:spPr>
          <a:xfrm>
            <a:off x="640080" y="594360"/>
            <a:ext cx="7863840" cy="274320"/>
          </a:xfrm>
          <a:prstGeom prst="rect">
            <a:avLst/>
          </a:prstGeom>
          <a:noFill/>
          <a:ln/>
        </p:spPr>
        <p:txBody>
          <a:bodyPr wrap="square" lIns="0" tIns="0" rIns="0" bIns="0" rtlCol="0" anchor="ctr"/>
          <a:lstStyle/>
          <a:p>
            <a:pPr indent="0" marL="0">
              <a:buNone/>
            </a:pPr>
            <a:r>
              <a:rPr lang="en-US" sz="1200" b="1" spc="300" kern="0" dirty="0">
                <a:solidFill>
                  <a:srgbClr val="C1440E"/>
                </a:solidFill>
                <a:latin typeface="Calibri" pitchFamily="34" charset="0"/>
                <a:ea typeface="Calibri" pitchFamily="34" charset="-122"/>
                <a:cs typeface="Calibri" pitchFamily="34" charset="-120"/>
              </a:rPr>
              <a:t>CDU IT CODE FAIR 2026  ·  AI CHALLENGE #5</a:t>
            </a:r>
            <a:endParaRPr lang="en-US" sz="1200" dirty="0"/>
          </a:p>
        </p:txBody>
      </p:sp>
      <p:sp>
        <p:nvSpPr>
          <p:cNvPr id="3" name="Title"/>
          <p:cNvSpPr txBox="1"/>
          <p:nvPr/>
        </p:nvSpPr>
        <p:spPr>
          <a:xfrm>
            <a:off x="640080" y="1005840"/>
            <a:ext cx="7680960" cy="155448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Every urgent message reaches a person.</a:t>
            </a:r>
            <a:endParaRPr lang="en-US" sz="4600" dirty="0"/>
          </a:p>
        </p:txBody>
      </p:sp>
      <p:sp>
        <p:nvSpPr>
          <p:cNvPr id="4" name="Subtitle"/>
          <p:cNvSpPr txBox="1"/>
          <p:nvPr/>
        </p:nvSpPr>
        <p:spPr>
          <a:xfrm>
            <a:off x="640080" y="2697480"/>
            <a:ext cx="6766560" cy="731520"/>
          </a:xfrm>
          <a:prstGeom prst="rect">
            <a:avLst/>
          </a:prstGeom>
          <a:noFill/>
          <a:ln/>
        </p:spPr>
        <p:txBody>
          <a:bodyPr wrap="square" lIns="0" tIns="0" rIns="0" bIns="0" rtlCol="0" anchor="t"/>
          <a:lstStyle/>
          <a:p>
            <a:pPr indent="0" marL="0">
              <a:buNone/>
            </a:pPr>
            <a:r>
              <a:rPr lang="en-US" sz="1800" dirty="0">
                <a:solidFill>
                  <a:srgbClr val="9AA1AD"/>
                </a:solidFill>
                <a:latin typeface="Calibri" pitchFamily="34" charset="0"/>
                <a:ea typeface="Calibri" pitchFamily="34" charset="-122"/>
                <a:cs typeface="Calibri" pitchFamily="34" charset="-120"/>
              </a:rPr>
              <a:t>NT Correspondence Triage. It classifies, routes and explains, and it never replies by itself.</a:t>
            </a:r>
            <a:endParaRPr lang="en-US" sz="1800" dirty="0"/>
          </a:p>
        </p:txBody>
      </p:sp>
      <p:sp>
        <p:nvSpPr>
          <p:cNvPr id="5" name="Flow line"/>
          <p:cNvSpPr/>
          <p:nvPr/>
        </p:nvSpPr>
        <p:spPr>
          <a:xfrm>
            <a:off x="731520" y="4169664"/>
            <a:ext cx="7680960" cy="0"/>
          </a:xfrm>
          <a:prstGeom prst="line">
            <a:avLst/>
          </a:prstGeom>
          <a:noFill/>
          <a:ln w="25400">
            <a:solidFill>
              <a:srgbClr val="303844"/>
            </a:solidFill>
            <a:prstDash val="solid"/>
          </a:ln>
        </p:spPr>
      </p:sp>
      <p:sp>
        <p:nvSpPr>
          <p:cNvPr id="6" name="Message dot 1"/>
          <p:cNvSpPr/>
          <p:nvPr/>
        </p:nvSpPr>
        <p:spPr>
          <a:xfrm>
            <a:off x="822960" y="4069080"/>
            <a:ext cx="201168" cy="201168"/>
          </a:xfrm>
          <a:prstGeom prst="ellipse">
            <a:avLst/>
          </a:prstGeom>
          <a:solidFill>
            <a:srgbClr val="9AA1AD"/>
          </a:solidFill>
          <a:ln w="12700">
            <a:solidFill>
              <a:srgbClr val="9AA1AD"/>
            </a:solidFill>
            <a:prstDash val="solid"/>
          </a:ln>
        </p:spPr>
      </p:sp>
      <p:sp>
        <p:nvSpPr>
          <p:cNvPr id="7" name="Message dot 2"/>
          <p:cNvSpPr/>
          <p:nvPr/>
        </p:nvSpPr>
        <p:spPr>
          <a:xfrm>
            <a:off x="1463040" y="4069080"/>
            <a:ext cx="201168" cy="201168"/>
          </a:xfrm>
          <a:prstGeom prst="ellipse">
            <a:avLst/>
          </a:prstGeom>
          <a:solidFill>
            <a:srgbClr val="D7263D"/>
          </a:solidFill>
          <a:ln w="12700">
            <a:solidFill>
              <a:srgbClr val="D7263D"/>
            </a:solidFill>
            <a:prstDash val="solid"/>
          </a:ln>
        </p:spPr>
      </p:sp>
      <p:sp>
        <p:nvSpPr>
          <p:cNvPr id="8" name="Message dot 3"/>
          <p:cNvSpPr/>
          <p:nvPr/>
        </p:nvSpPr>
        <p:spPr>
          <a:xfrm>
            <a:off x="2103120" y="4069080"/>
            <a:ext cx="201168" cy="201168"/>
          </a:xfrm>
          <a:prstGeom prst="ellipse">
            <a:avLst/>
          </a:prstGeom>
          <a:solidFill>
            <a:srgbClr val="2F9E5B"/>
          </a:solidFill>
          <a:ln w="12700">
            <a:solidFill>
              <a:srgbClr val="2F9E5B"/>
            </a:solidFill>
            <a:prstDash val="solid"/>
          </a:ln>
        </p:spPr>
      </p:sp>
      <p:sp>
        <p:nvSpPr>
          <p:cNvPr id="9" name="Message dot 4"/>
          <p:cNvSpPr/>
          <p:nvPr/>
        </p:nvSpPr>
        <p:spPr>
          <a:xfrm>
            <a:off x="2743200" y="4069080"/>
            <a:ext cx="201168" cy="201168"/>
          </a:xfrm>
          <a:prstGeom prst="ellipse">
            <a:avLst/>
          </a:prstGeom>
          <a:solidFill>
            <a:srgbClr val="E8590C"/>
          </a:solidFill>
          <a:ln w="12700">
            <a:solidFill>
              <a:srgbClr val="E8590C"/>
            </a:solidFill>
            <a:prstDash val="solid"/>
          </a:ln>
        </p:spPr>
      </p:sp>
      <p:sp>
        <p:nvSpPr>
          <p:cNvPr id="10" name="Message dot 5"/>
          <p:cNvSpPr/>
          <p:nvPr/>
        </p:nvSpPr>
        <p:spPr>
          <a:xfrm>
            <a:off x="3383280" y="4069080"/>
            <a:ext cx="201168" cy="201168"/>
          </a:xfrm>
          <a:prstGeom prst="ellipse">
            <a:avLst/>
          </a:prstGeom>
          <a:solidFill>
            <a:srgbClr val="B8860B"/>
          </a:solidFill>
          <a:ln w="12700">
            <a:solidFill>
              <a:srgbClr val="B8860B"/>
            </a:solidFill>
            <a:prstDash val="solid"/>
          </a:ln>
        </p:spPr>
      </p:sp>
      <p:sp>
        <p:nvSpPr>
          <p:cNvPr id="11" name="Triage gate"/>
          <p:cNvSpPr/>
          <p:nvPr/>
        </p:nvSpPr>
        <p:spPr>
          <a:xfrm>
            <a:off x="3977640" y="3886200"/>
            <a:ext cx="1371600" cy="566928"/>
          </a:xfrm>
          <a:prstGeom prst="roundRect">
            <a:avLst>
              <a:gd name="adj" fmla="val 16129"/>
            </a:avLst>
          </a:prstGeom>
          <a:solidFill>
            <a:srgbClr val="14171D"/>
          </a:solidFill>
          <a:ln w="25400">
            <a:solidFill>
              <a:srgbClr val="C1440E"/>
            </a:solidFill>
            <a:prstDash val="solid"/>
          </a:ln>
        </p:spPr>
      </p:sp>
      <p:sp>
        <p:nvSpPr>
          <p:cNvPr id="12" name="Triage label"/>
          <p:cNvSpPr txBox="1"/>
          <p:nvPr/>
        </p:nvSpPr>
        <p:spPr>
          <a:xfrm>
            <a:off x="3977640" y="3886200"/>
            <a:ext cx="1371600" cy="566928"/>
          </a:xfrm>
          <a:prstGeom prst="rect">
            <a:avLst/>
          </a:prstGeom>
          <a:noFill/>
          <a:ln/>
        </p:spPr>
        <p:txBody>
          <a:bodyPr wrap="square" lIns="0" tIns="0" rIns="0" bIns="0" rtlCol="0" anchor="ctr"/>
          <a:lstStyle/>
          <a:p>
            <a:pPr algn="ctr" indent="0" marL="0">
              <a:buNone/>
            </a:pPr>
            <a:r>
              <a:rPr lang="en-US" sz="1300" b="1" spc="300" kern="0" dirty="0">
                <a:solidFill>
                  <a:srgbClr val="FFFFFF"/>
                </a:solidFill>
                <a:latin typeface="Calibri" pitchFamily="34" charset="0"/>
                <a:ea typeface="Calibri" pitchFamily="34" charset="-122"/>
                <a:cs typeface="Calibri" pitchFamily="34" charset="-120"/>
              </a:rPr>
              <a:t>TRIAGE</a:t>
            </a:r>
            <a:endParaRPr lang="en-US" sz="1300" dirty="0"/>
          </a:p>
        </p:txBody>
      </p:sp>
      <p:sp>
        <p:nvSpPr>
          <p:cNvPr id="13" name="Routed dot 1"/>
          <p:cNvSpPr/>
          <p:nvPr/>
        </p:nvSpPr>
        <p:spPr>
          <a:xfrm>
            <a:off x="5669280" y="4069080"/>
            <a:ext cx="201168" cy="201168"/>
          </a:xfrm>
          <a:prstGeom prst="ellipse">
            <a:avLst/>
          </a:prstGeom>
          <a:solidFill>
            <a:srgbClr val="D7263D"/>
          </a:solidFill>
          <a:ln w="12700">
            <a:solidFill>
              <a:srgbClr val="D7263D"/>
            </a:solidFill>
            <a:prstDash val="solid"/>
          </a:ln>
        </p:spPr>
      </p:sp>
      <p:sp>
        <p:nvSpPr>
          <p:cNvPr id="14" name="Routed dot 2"/>
          <p:cNvSpPr/>
          <p:nvPr/>
        </p:nvSpPr>
        <p:spPr>
          <a:xfrm>
            <a:off x="6309360" y="4069080"/>
            <a:ext cx="201168" cy="201168"/>
          </a:xfrm>
          <a:prstGeom prst="ellipse">
            <a:avLst/>
          </a:prstGeom>
          <a:solidFill>
            <a:srgbClr val="E8590C"/>
          </a:solidFill>
          <a:ln w="12700">
            <a:solidFill>
              <a:srgbClr val="E8590C"/>
            </a:solidFill>
            <a:prstDash val="solid"/>
          </a:ln>
        </p:spPr>
      </p:sp>
      <p:sp>
        <p:nvSpPr>
          <p:cNvPr id="15" name="Human box"/>
          <p:cNvSpPr/>
          <p:nvPr/>
        </p:nvSpPr>
        <p:spPr>
          <a:xfrm>
            <a:off x="6949440" y="3886200"/>
            <a:ext cx="1463040" cy="566928"/>
          </a:xfrm>
          <a:prstGeom prst="roundRect">
            <a:avLst>
              <a:gd name="adj" fmla="val 16129"/>
            </a:avLst>
          </a:prstGeom>
          <a:solidFill>
            <a:srgbClr val="14171D"/>
          </a:solidFill>
          <a:ln w="25400">
            <a:solidFill>
              <a:srgbClr val="0E7C7B"/>
            </a:solidFill>
            <a:prstDash val="solid"/>
          </a:ln>
        </p:spPr>
      </p:sp>
      <p:sp>
        <p:nvSpPr>
          <p:cNvPr id="16" name="Human label"/>
          <p:cNvSpPr txBox="1"/>
          <p:nvPr/>
        </p:nvSpPr>
        <p:spPr>
          <a:xfrm>
            <a:off x="6949440" y="3886200"/>
            <a:ext cx="14630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 named human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65760"/>
            <a:ext cx="8046720" cy="731520"/>
          </a:xfrm>
          <a:prstGeom prst="rect">
            <a:avLst/>
          </a:prstGeom>
          <a:noFill/>
          <a:ln/>
        </p:spPr>
        <p:txBody>
          <a:bodyPr wrap="square" lIns="0" tIns="0" rIns="0" bIns="0" rtlCol="0" anchor="t"/>
          <a:lstStyle/>
          <a:p>
            <a:pPr indent="0" marL="0">
              <a:buNone/>
            </a:pPr>
            <a:r>
              <a:rPr lang="en-US" sz="3400" b="1" dirty="0">
                <a:solidFill>
                  <a:srgbClr val="191B20"/>
                </a:solidFill>
                <a:latin typeface="Calibri" pitchFamily="34" charset="0"/>
                <a:ea typeface="Calibri" pitchFamily="34" charset="-122"/>
                <a:cs typeface="Calibri" pitchFamily="34" charset="-120"/>
              </a:rPr>
              <a:t>Urgent messages arrive as plain text</a:t>
            </a:r>
            <a:endParaRPr lang="en-US" sz="3400" dirty="0"/>
          </a:p>
        </p:txBody>
      </p:sp>
      <p:sp>
        <p:nvSpPr>
          <p:cNvPr id="3" name="Card 1"/>
          <p:cNvSpPr/>
          <p:nvPr/>
        </p:nvSpPr>
        <p:spPr>
          <a:xfrm>
            <a:off x="548640" y="1371600"/>
            <a:ext cx="2468880" cy="2331720"/>
          </a:xfrm>
          <a:prstGeom prst="roundRect">
            <a:avLst>
              <a:gd name="adj" fmla="val 4706"/>
            </a:avLst>
          </a:prstGeom>
          <a:solidFill>
            <a:srgbClr val="F3F4F6"/>
          </a:solidFill>
          <a:ln w="12700">
            <a:solidFill>
              <a:srgbClr val="F3F4F6"/>
            </a:solidFill>
            <a:prstDash val="solid"/>
          </a:ln>
        </p:spPr>
      </p:sp>
      <p:sp>
        <p:nvSpPr>
          <p:cNvPr id="4" name="Life or death badge"/>
          <p:cNvSpPr/>
          <p:nvPr/>
        </p:nvSpPr>
        <p:spPr>
          <a:xfrm>
            <a:off x="777240" y="1600200"/>
            <a:ext cx="594360" cy="594360"/>
          </a:xfrm>
          <a:prstGeom prst="ellipse">
            <a:avLst/>
          </a:prstGeom>
          <a:solidFill>
            <a:srgbClr val="D7263D"/>
          </a:solidFill>
          <a:ln w="12700">
            <a:solidFill>
              <a:srgbClr val="D7263D"/>
            </a:solidFill>
            <a:prstDash val="solid"/>
          </a:ln>
        </p:spPr>
      </p:sp>
      <p:pic>
        <p:nvPicPr>
          <p:cNvPr id="5" name="Life or death icon" descr="Life or death">    </p:cNvPr>
          <p:cNvPicPr>
            <a:picLocks noChangeAspect="1"/>
          </p:cNvPicPr>
          <p:nvPr/>
        </p:nvPicPr>
        <p:blipFill>
          <a:blip r:embed="rId1"/>
          <a:stretch>
            <a:fillRect/>
          </a:stretch>
        </p:blipFill>
        <p:spPr>
          <a:xfrm>
            <a:off x="925830" y="1748790"/>
            <a:ext cx="297180" cy="297180"/>
          </a:xfrm>
          <a:prstGeom prst="rect">
            <a:avLst/>
          </a:prstGeom>
        </p:spPr>
      </p:pic>
      <p:sp>
        <p:nvSpPr>
          <p:cNvPr id="6" name="Card 1 title"/>
          <p:cNvSpPr txBox="1"/>
          <p:nvPr/>
        </p:nvSpPr>
        <p:spPr>
          <a:xfrm>
            <a:off x="777240" y="2331720"/>
            <a:ext cx="201168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Life or death</a:t>
            </a:r>
            <a:endParaRPr lang="en-US" sz="2000" dirty="0"/>
          </a:p>
        </p:txBody>
      </p:sp>
      <p:sp>
        <p:nvSpPr>
          <p:cNvPr id="7" name="Card 1 text"/>
          <p:cNvSpPr txBox="1"/>
          <p:nvPr/>
        </p:nvSpPr>
        <p:spPr>
          <a:xfrm>
            <a:off x="777240" y="2743200"/>
            <a:ext cx="2057400" cy="8686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Floods, fires, medical emergencies and family violence, all in one inbox.</a:t>
            </a:r>
            <a:endParaRPr lang="en-US" sz="1400" dirty="0"/>
          </a:p>
        </p:txBody>
      </p:sp>
      <p:sp>
        <p:nvSpPr>
          <p:cNvPr id="8" name="Card 2"/>
          <p:cNvSpPr/>
          <p:nvPr/>
        </p:nvSpPr>
        <p:spPr>
          <a:xfrm>
            <a:off x="3291840" y="1371600"/>
            <a:ext cx="2468880" cy="2331720"/>
          </a:xfrm>
          <a:prstGeom prst="roundRect">
            <a:avLst>
              <a:gd name="adj" fmla="val 4706"/>
            </a:avLst>
          </a:prstGeom>
          <a:solidFill>
            <a:srgbClr val="F3F4F6"/>
          </a:solidFill>
          <a:ln w="12700">
            <a:solidFill>
              <a:srgbClr val="F3F4F6"/>
            </a:solidFill>
            <a:prstDash val="solid"/>
          </a:ln>
        </p:spPr>
      </p:sp>
      <p:sp>
        <p:nvSpPr>
          <p:cNvPr id="9" name="Hard to read badge"/>
          <p:cNvSpPr/>
          <p:nvPr/>
        </p:nvSpPr>
        <p:spPr>
          <a:xfrm>
            <a:off x="3520440" y="1600200"/>
            <a:ext cx="594360" cy="594360"/>
          </a:xfrm>
          <a:prstGeom prst="ellipse">
            <a:avLst/>
          </a:prstGeom>
          <a:solidFill>
            <a:srgbClr val="E8590C"/>
          </a:solidFill>
          <a:ln w="12700">
            <a:solidFill>
              <a:srgbClr val="E8590C"/>
            </a:solidFill>
            <a:prstDash val="solid"/>
          </a:ln>
        </p:spPr>
      </p:sp>
      <p:pic>
        <p:nvPicPr>
          <p:cNvPr id="10" name="Hard to read icon" descr="Hard to read">    </p:cNvPr>
          <p:cNvPicPr>
            <a:picLocks noChangeAspect="1"/>
          </p:cNvPicPr>
          <p:nvPr/>
        </p:nvPicPr>
        <p:blipFill>
          <a:blip r:embed="rId2"/>
          <a:stretch>
            <a:fillRect/>
          </a:stretch>
        </p:blipFill>
        <p:spPr>
          <a:xfrm>
            <a:off x="3669030" y="1748790"/>
            <a:ext cx="297180" cy="297180"/>
          </a:xfrm>
          <a:prstGeom prst="rect">
            <a:avLst/>
          </a:prstGeom>
        </p:spPr>
      </p:pic>
      <p:sp>
        <p:nvSpPr>
          <p:cNvPr id="11" name="Card 2 title"/>
          <p:cNvSpPr txBox="1"/>
          <p:nvPr/>
        </p:nvSpPr>
        <p:spPr>
          <a:xfrm>
            <a:off x="3520440" y="2331720"/>
            <a:ext cx="201168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Hard to read</a:t>
            </a:r>
            <a:endParaRPr lang="en-US" sz="2000" dirty="0"/>
          </a:p>
        </p:txBody>
      </p:sp>
      <p:sp>
        <p:nvSpPr>
          <p:cNvPr id="12" name="Card 2 text"/>
          <p:cNvSpPr txBox="1"/>
          <p:nvPr/>
        </p:nvSpPr>
        <p:spPr>
          <a:xfrm>
            <a:off x="3520440" y="2743200"/>
            <a:ext cx="2057400" cy="8686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Typos, slang, and languages a system may not understand.</a:t>
            </a:r>
            <a:endParaRPr lang="en-US" sz="1400" dirty="0"/>
          </a:p>
        </p:txBody>
      </p:sp>
      <p:sp>
        <p:nvSpPr>
          <p:cNvPr id="13" name="Card 3"/>
          <p:cNvSpPr/>
          <p:nvPr/>
        </p:nvSpPr>
        <p:spPr>
          <a:xfrm>
            <a:off x="6035040" y="1371600"/>
            <a:ext cx="2468880" cy="2331720"/>
          </a:xfrm>
          <a:prstGeom prst="roundRect">
            <a:avLst>
              <a:gd name="adj" fmla="val 4706"/>
            </a:avLst>
          </a:prstGeom>
          <a:solidFill>
            <a:srgbClr val="F3F4F6"/>
          </a:solidFill>
          <a:ln w="12700">
            <a:solidFill>
              <a:srgbClr val="F3F4F6"/>
            </a:solidFill>
            <a:prstDash val="solid"/>
          </a:ln>
        </p:spPr>
      </p:sp>
      <p:sp>
        <p:nvSpPr>
          <p:cNvPr id="14" name="Hard to reach badge"/>
          <p:cNvSpPr/>
          <p:nvPr/>
        </p:nvSpPr>
        <p:spPr>
          <a:xfrm>
            <a:off x="6263640" y="1600200"/>
            <a:ext cx="594360" cy="594360"/>
          </a:xfrm>
          <a:prstGeom prst="ellipse">
            <a:avLst/>
          </a:prstGeom>
          <a:solidFill>
            <a:srgbClr val="0E7C7B"/>
          </a:solidFill>
          <a:ln w="12700">
            <a:solidFill>
              <a:srgbClr val="0E7C7B"/>
            </a:solidFill>
            <a:prstDash val="solid"/>
          </a:ln>
        </p:spPr>
      </p:sp>
      <p:pic>
        <p:nvPicPr>
          <p:cNvPr id="15" name="Hard to reach icon" descr="Hard to reach">    </p:cNvPr>
          <p:cNvPicPr>
            <a:picLocks noChangeAspect="1"/>
          </p:cNvPicPr>
          <p:nvPr/>
        </p:nvPicPr>
        <p:blipFill>
          <a:blip r:embed="rId3"/>
          <a:stretch>
            <a:fillRect/>
          </a:stretch>
        </p:blipFill>
        <p:spPr>
          <a:xfrm>
            <a:off x="6412230" y="1748790"/>
            <a:ext cx="297180" cy="297180"/>
          </a:xfrm>
          <a:prstGeom prst="rect">
            <a:avLst/>
          </a:prstGeom>
        </p:spPr>
      </p:pic>
      <p:sp>
        <p:nvSpPr>
          <p:cNvPr id="16" name="Card 3 title"/>
          <p:cNvSpPr txBox="1"/>
          <p:nvPr/>
        </p:nvSpPr>
        <p:spPr>
          <a:xfrm>
            <a:off x="6263640" y="2331720"/>
            <a:ext cx="201168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Hard to reach</a:t>
            </a:r>
            <a:endParaRPr lang="en-US" sz="2000" dirty="0"/>
          </a:p>
        </p:txBody>
      </p:sp>
      <p:sp>
        <p:nvSpPr>
          <p:cNvPr id="17" name="Card 3 text"/>
          <p:cNvSpPr txBox="1"/>
          <p:nvPr/>
        </p:nvSpPr>
        <p:spPr>
          <a:xfrm>
            <a:off x="6263640" y="2743200"/>
            <a:ext cx="2057400" cy="8686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Many senders are cut off by weather and distance.</a:t>
            </a:r>
            <a:endParaRPr lang="en-US" sz="1400" dirty="0"/>
          </a:p>
        </p:txBody>
      </p:sp>
      <p:sp>
        <p:nvSpPr>
          <p:cNvPr id="18" name="Takeaway"/>
          <p:cNvSpPr txBox="1"/>
          <p:nvPr/>
        </p:nvSpPr>
        <p:spPr>
          <a:xfrm>
            <a:off x="548640" y="4023360"/>
            <a:ext cx="7955280" cy="640080"/>
          </a:xfrm>
          <a:prstGeom prst="rect">
            <a:avLst/>
          </a:prstGeom>
          <a:noFill/>
          <a:ln/>
        </p:spPr>
        <p:txBody>
          <a:bodyPr wrap="square" lIns="0" tIns="0" rIns="0" bIns="0" rtlCol="0" anchor="ctr"/>
          <a:lstStyle/>
          <a:p>
            <a:pPr indent="0" marL="0">
              <a:buNone/>
            </a:pPr>
            <a:r>
              <a:rPr lang="en-US" sz="2000" b="1" dirty="0">
                <a:solidFill>
                  <a:srgbClr val="C1440E"/>
                </a:solidFill>
                <a:latin typeface="Calibri" pitchFamily="34" charset="0"/>
                <a:ea typeface="Calibri" pitchFamily="34" charset="-122"/>
                <a:cs typeface="Calibri" pitchFamily="34" charset="-120"/>
              </a:rPr>
              <a:t>A missed message can cost a life. So the system's job is to make sure a person sees 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65760"/>
            <a:ext cx="8046720" cy="731520"/>
          </a:xfrm>
          <a:prstGeom prst="rect">
            <a:avLst/>
          </a:prstGeom>
          <a:noFill/>
          <a:ln/>
        </p:spPr>
        <p:txBody>
          <a:bodyPr wrap="square" lIns="0" tIns="0" rIns="0" bIns="0" rtlCol="0" anchor="t"/>
          <a:lstStyle/>
          <a:p>
            <a:pPr indent="0" marL="0">
              <a:buNone/>
            </a:pPr>
            <a:r>
              <a:rPr lang="en-US" sz="3400" b="1" dirty="0">
                <a:solidFill>
                  <a:srgbClr val="191B20"/>
                </a:solidFill>
                <a:latin typeface="Calibri" pitchFamily="34" charset="0"/>
                <a:ea typeface="Calibri" pitchFamily="34" charset="-122"/>
                <a:cs typeface="Calibri" pitchFamily="34" charset="-120"/>
              </a:rPr>
              <a:t>Triage, escalate, never reply</a:t>
            </a:r>
            <a:endParaRPr lang="en-US" sz="3400" dirty="0"/>
          </a:p>
        </p:txBody>
      </p:sp>
      <p:sp>
        <p:nvSpPr>
          <p:cNvPr id="3" name="Step 1"/>
          <p:cNvSpPr/>
          <p:nvPr/>
        </p:nvSpPr>
        <p:spPr>
          <a:xfrm>
            <a:off x="548640" y="1371600"/>
            <a:ext cx="1783080" cy="2331720"/>
          </a:xfrm>
          <a:prstGeom prst="roundRect">
            <a:avLst>
              <a:gd name="adj" fmla="val 6154"/>
            </a:avLst>
          </a:prstGeom>
          <a:solidFill>
            <a:srgbClr val="F3F4F6"/>
          </a:solidFill>
          <a:ln w="12700">
            <a:solidFill>
              <a:srgbClr val="F3F4F6"/>
            </a:solidFill>
            <a:prstDash val="solid"/>
          </a:ln>
        </p:spPr>
      </p:sp>
      <p:sp>
        <p:nvSpPr>
          <p:cNvPr id="4" name="Step 1 badge"/>
          <p:cNvSpPr/>
          <p:nvPr/>
        </p:nvSpPr>
        <p:spPr>
          <a:xfrm>
            <a:off x="731520" y="1554480"/>
            <a:ext cx="457200" cy="457200"/>
          </a:xfrm>
          <a:prstGeom prst="ellipse">
            <a:avLst/>
          </a:prstGeom>
          <a:solidFill>
            <a:srgbClr val="14171D"/>
          </a:solidFill>
          <a:ln w="12700">
            <a:solidFill>
              <a:srgbClr val="14171D"/>
            </a:solidFill>
            <a:prstDash val="solid"/>
          </a:ln>
        </p:spPr>
      </p:sp>
      <p:sp>
        <p:nvSpPr>
          <p:cNvPr id="5" name="Step 1 number"/>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tep 1 title"/>
          <p:cNvSpPr txBox="1"/>
          <p:nvPr/>
        </p:nvSpPr>
        <p:spPr>
          <a:xfrm>
            <a:off x="731520" y="2148840"/>
            <a:ext cx="1463040" cy="320040"/>
          </a:xfrm>
          <a:prstGeom prst="rect">
            <a:avLst/>
          </a:prstGeom>
          <a:noFill/>
          <a:ln/>
        </p:spPr>
        <p:txBody>
          <a:bodyPr wrap="square" lIns="0" tIns="0" rIns="0" bIns="0" rtlCol="0" anchor="ctr"/>
          <a:lstStyle/>
          <a:p>
            <a:pPr indent="0" marL="0">
              <a:buNone/>
            </a:pPr>
            <a:r>
              <a:rPr lang="en-US" sz="1800" b="1" dirty="0">
                <a:solidFill>
                  <a:srgbClr val="191B20"/>
                </a:solidFill>
                <a:latin typeface="Calibri" pitchFamily="34" charset="0"/>
                <a:ea typeface="Calibri" pitchFamily="34" charset="-122"/>
                <a:cs typeface="Calibri" pitchFamily="34" charset="-120"/>
              </a:rPr>
              <a:t>Arrives</a:t>
            </a:r>
            <a:endParaRPr lang="en-US" sz="1800" dirty="0"/>
          </a:p>
        </p:txBody>
      </p:sp>
      <p:sp>
        <p:nvSpPr>
          <p:cNvPr id="7" name="Step 1 text"/>
          <p:cNvSpPr txBox="1"/>
          <p:nvPr/>
        </p:nvSpPr>
        <p:spPr>
          <a:xfrm>
            <a:off x="731520" y="2514600"/>
            <a:ext cx="1463040" cy="10972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SMS, web form, email or phone. One inbox.</a:t>
            </a:r>
            <a:endParaRPr lang="en-US" sz="1400" dirty="0"/>
          </a:p>
        </p:txBody>
      </p:sp>
      <p:sp>
        <p:nvSpPr>
          <p:cNvPr id="8" name="Arrow 1"/>
          <p:cNvSpPr txBox="1"/>
          <p:nvPr/>
        </p:nvSpPr>
        <p:spPr>
          <a:xfrm>
            <a:off x="2331720" y="2286000"/>
            <a:ext cx="274320" cy="457200"/>
          </a:xfrm>
          <a:prstGeom prst="rect">
            <a:avLst/>
          </a:prstGeom>
          <a:noFill/>
          <a:ln/>
        </p:spPr>
        <p:txBody>
          <a:bodyPr wrap="square" lIns="0" tIns="0" rIns="0" bIns="0" rtlCol="0" anchor="ctr"/>
          <a:lstStyle/>
          <a:p>
            <a:pPr algn="ctr" indent="0" marL="0">
              <a:buNone/>
            </a:pPr>
            <a:r>
              <a:rPr lang="en-US" sz="2800" b="1" dirty="0">
                <a:solidFill>
                  <a:srgbClr val="9AA1AD"/>
                </a:solidFill>
                <a:latin typeface="Calibri" pitchFamily="34" charset="0"/>
                <a:ea typeface="Calibri" pitchFamily="34" charset="-122"/>
                <a:cs typeface="Calibri" pitchFamily="34" charset="-120"/>
              </a:rPr>
              <a:t>›</a:t>
            </a:r>
            <a:endParaRPr lang="en-US" sz="2800" dirty="0"/>
          </a:p>
        </p:txBody>
      </p:sp>
      <p:sp>
        <p:nvSpPr>
          <p:cNvPr id="9" name="Step 2"/>
          <p:cNvSpPr/>
          <p:nvPr/>
        </p:nvSpPr>
        <p:spPr>
          <a:xfrm>
            <a:off x="2606040" y="1371600"/>
            <a:ext cx="1783080" cy="2331720"/>
          </a:xfrm>
          <a:prstGeom prst="roundRect">
            <a:avLst>
              <a:gd name="adj" fmla="val 6154"/>
            </a:avLst>
          </a:prstGeom>
          <a:solidFill>
            <a:srgbClr val="F3F4F6"/>
          </a:solidFill>
          <a:ln w="12700">
            <a:solidFill>
              <a:srgbClr val="F3F4F6"/>
            </a:solidFill>
            <a:prstDash val="solid"/>
          </a:ln>
        </p:spPr>
      </p:sp>
      <p:sp>
        <p:nvSpPr>
          <p:cNvPr id="10" name="Step 2 badge"/>
          <p:cNvSpPr/>
          <p:nvPr/>
        </p:nvSpPr>
        <p:spPr>
          <a:xfrm>
            <a:off x="2788920" y="1554480"/>
            <a:ext cx="457200" cy="457200"/>
          </a:xfrm>
          <a:prstGeom prst="ellipse">
            <a:avLst/>
          </a:prstGeom>
          <a:solidFill>
            <a:srgbClr val="14171D"/>
          </a:solidFill>
          <a:ln w="12700">
            <a:solidFill>
              <a:srgbClr val="14171D"/>
            </a:solidFill>
            <a:prstDash val="solid"/>
          </a:ln>
        </p:spPr>
      </p:sp>
      <p:sp>
        <p:nvSpPr>
          <p:cNvPr id="11" name="Step 2 number"/>
          <p:cNvSpPr txBox="1"/>
          <p:nvPr/>
        </p:nvSpPr>
        <p:spPr>
          <a:xfrm>
            <a:off x="27889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Step 2 title"/>
          <p:cNvSpPr txBox="1"/>
          <p:nvPr/>
        </p:nvSpPr>
        <p:spPr>
          <a:xfrm>
            <a:off x="2788920" y="2148840"/>
            <a:ext cx="1463040" cy="320040"/>
          </a:xfrm>
          <a:prstGeom prst="rect">
            <a:avLst/>
          </a:prstGeom>
          <a:noFill/>
          <a:ln/>
        </p:spPr>
        <p:txBody>
          <a:bodyPr wrap="square" lIns="0" tIns="0" rIns="0" bIns="0" rtlCol="0" anchor="ctr"/>
          <a:lstStyle/>
          <a:p>
            <a:pPr indent="0" marL="0">
              <a:buNone/>
            </a:pPr>
            <a:r>
              <a:rPr lang="en-US" sz="1800" b="1" dirty="0">
                <a:solidFill>
                  <a:srgbClr val="191B20"/>
                </a:solidFill>
                <a:latin typeface="Calibri" pitchFamily="34" charset="0"/>
                <a:ea typeface="Calibri" pitchFamily="34" charset="-122"/>
                <a:cs typeface="Calibri" pitchFamily="34" charset="-120"/>
              </a:rPr>
              <a:t>Five checks</a:t>
            </a:r>
            <a:endParaRPr lang="en-US" sz="1800" dirty="0"/>
          </a:p>
        </p:txBody>
      </p:sp>
      <p:sp>
        <p:nvSpPr>
          <p:cNvPr id="13" name="Step 2 text"/>
          <p:cNvSpPr txBox="1"/>
          <p:nvPr/>
        </p:nvSpPr>
        <p:spPr>
          <a:xfrm>
            <a:off x="2788920" y="2514600"/>
            <a:ext cx="1463040" cy="10972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Readable? Claude. Backup model. Safety rules. Access.</a:t>
            </a:r>
            <a:endParaRPr lang="en-US" sz="1400" dirty="0"/>
          </a:p>
        </p:txBody>
      </p:sp>
      <p:sp>
        <p:nvSpPr>
          <p:cNvPr id="14" name="Arrow 2"/>
          <p:cNvSpPr txBox="1"/>
          <p:nvPr/>
        </p:nvSpPr>
        <p:spPr>
          <a:xfrm>
            <a:off x="4389120" y="2286000"/>
            <a:ext cx="274320" cy="457200"/>
          </a:xfrm>
          <a:prstGeom prst="rect">
            <a:avLst/>
          </a:prstGeom>
          <a:noFill/>
          <a:ln/>
        </p:spPr>
        <p:txBody>
          <a:bodyPr wrap="square" lIns="0" tIns="0" rIns="0" bIns="0" rtlCol="0" anchor="ctr"/>
          <a:lstStyle/>
          <a:p>
            <a:pPr algn="ctr" indent="0" marL="0">
              <a:buNone/>
            </a:pPr>
            <a:r>
              <a:rPr lang="en-US" sz="2800" b="1" dirty="0">
                <a:solidFill>
                  <a:srgbClr val="9AA1AD"/>
                </a:solidFill>
                <a:latin typeface="Calibri" pitchFamily="34" charset="0"/>
                <a:ea typeface="Calibri" pitchFamily="34" charset="-122"/>
                <a:cs typeface="Calibri" pitchFamily="34" charset="-120"/>
              </a:rPr>
              <a:t>›</a:t>
            </a:r>
            <a:endParaRPr lang="en-US" sz="2800" dirty="0"/>
          </a:p>
        </p:txBody>
      </p:sp>
      <p:sp>
        <p:nvSpPr>
          <p:cNvPr id="15" name="Step 3"/>
          <p:cNvSpPr/>
          <p:nvPr/>
        </p:nvSpPr>
        <p:spPr>
          <a:xfrm>
            <a:off x="4663440" y="1371600"/>
            <a:ext cx="1783080" cy="2331720"/>
          </a:xfrm>
          <a:prstGeom prst="roundRect">
            <a:avLst>
              <a:gd name="adj" fmla="val 6154"/>
            </a:avLst>
          </a:prstGeom>
          <a:solidFill>
            <a:srgbClr val="F3F4F6"/>
          </a:solidFill>
          <a:ln w="12700">
            <a:solidFill>
              <a:srgbClr val="F3F4F6"/>
            </a:solidFill>
            <a:prstDash val="solid"/>
          </a:ln>
        </p:spPr>
      </p:sp>
      <p:sp>
        <p:nvSpPr>
          <p:cNvPr id="16" name="Step 3 badge"/>
          <p:cNvSpPr/>
          <p:nvPr/>
        </p:nvSpPr>
        <p:spPr>
          <a:xfrm>
            <a:off x="4846320" y="1554480"/>
            <a:ext cx="457200" cy="457200"/>
          </a:xfrm>
          <a:prstGeom prst="ellipse">
            <a:avLst/>
          </a:prstGeom>
          <a:solidFill>
            <a:srgbClr val="14171D"/>
          </a:solidFill>
          <a:ln w="12700">
            <a:solidFill>
              <a:srgbClr val="14171D"/>
            </a:solidFill>
            <a:prstDash val="solid"/>
          </a:ln>
        </p:spPr>
      </p:sp>
      <p:sp>
        <p:nvSpPr>
          <p:cNvPr id="17" name="Step 3 number"/>
          <p:cNvSpPr txBox="1"/>
          <p:nvPr/>
        </p:nvSpPr>
        <p:spPr>
          <a:xfrm>
            <a:off x="48463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Step 3 title"/>
          <p:cNvSpPr txBox="1"/>
          <p:nvPr/>
        </p:nvSpPr>
        <p:spPr>
          <a:xfrm>
            <a:off x="4846320" y="2148840"/>
            <a:ext cx="1463040" cy="320040"/>
          </a:xfrm>
          <a:prstGeom prst="rect">
            <a:avLst/>
          </a:prstGeom>
          <a:noFill/>
          <a:ln/>
        </p:spPr>
        <p:txBody>
          <a:bodyPr wrap="square" lIns="0" tIns="0" rIns="0" bIns="0" rtlCol="0" anchor="ctr"/>
          <a:lstStyle/>
          <a:p>
            <a:pPr indent="0" marL="0">
              <a:buNone/>
            </a:pPr>
            <a:r>
              <a:rPr lang="en-US" sz="1800" b="1" dirty="0">
                <a:solidFill>
                  <a:srgbClr val="191B20"/>
                </a:solidFill>
                <a:latin typeface="Calibri" pitchFamily="34" charset="0"/>
                <a:ea typeface="Calibri" pitchFamily="34" charset="-122"/>
                <a:cs typeface="Calibri" pitchFamily="34" charset="-120"/>
              </a:rPr>
              <a:t>To a person</a:t>
            </a:r>
            <a:endParaRPr lang="en-US" sz="1800" dirty="0"/>
          </a:p>
        </p:txBody>
      </p:sp>
      <p:sp>
        <p:nvSpPr>
          <p:cNvPr id="19" name="Step 3 text"/>
          <p:cNvSpPr txBox="1"/>
          <p:nvPr/>
        </p:nvSpPr>
        <p:spPr>
          <a:xfrm>
            <a:off x="4846320" y="2514600"/>
            <a:ext cx="1463040" cy="10972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The right team, plus the Duty Officer for serious ones.</a:t>
            </a:r>
            <a:endParaRPr lang="en-US" sz="1400" dirty="0"/>
          </a:p>
        </p:txBody>
      </p:sp>
      <p:sp>
        <p:nvSpPr>
          <p:cNvPr id="20" name="Arrow 3"/>
          <p:cNvSpPr txBox="1"/>
          <p:nvPr/>
        </p:nvSpPr>
        <p:spPr>
          <a:xfrm>
            <a:off x="6446520" y="2286000"/>
            <a:ext cx="274320" cy="457200"/>
          </a:xfrm>
          <a:prstGeom prst="rect">
            <a:avLst/>
          </a:prstGeom>
          <a:noFill/>
          <a:ln/>
        </p:spPr>
        <p:txBody>
          <a:bodyPr wrap="square" lIns="0" tIns="0" rIns="0" bIns="0" rtlCol="0" anchor="ctr"/>
          <a:lstStyle/>
          <a:p>
            <a:pPr algn="ctr" indent="0" marL="0">
              <a:buNone/>
            </a:pPr>
            <a:r>
              <a:rPr lang="en-US" sz="2800" b="1" dirty="0">
                <a:solidFill>
                  <a:srgbClr val="9AA1AD"/>
                </a:solidFill>
                <a:latin typeface="Calibri" pitchFamily="34" charset="0"/>
                <a:ea typeface="Calibri" pitchFamily="34" charset="-122"/>
                <a:cs typeface="Calibri" pitchFamily="34" charset="-120"/>
              </a:rPr>
              <a:t>›</a:t>
            </a:r>
            <a:endParaRPr lang="en-US" sz="2800" dirty="0"/>
          </a:p>
        </p:txBody>
      </p:sp>
      <p:sp>
        <p:nvSpPr>
          <p:cNvPr id="21" name="Step 4"/>
          <p:cNvSpPr/>
          <p:nvPr/>
        </p:nvSpPr>
        <p:spPr>
          <a:xfrm>
            <a:off x="6720840" y="1371600"/>
            <a:ext cx="1783080" cy="2331720"/>
          </a:xfrm>
          <a:prstGeom prst="roundRect">
            <a:avLst>
              <a:gd name="adj" fmla="val 6154"/>
            </a:avLst>
          </a:prstGeom>
          <a:solidFill>
            <a:srgbClr val="F3F4F6"/>
          </a:solidFill>
          <a:ln w="12700">
            <a:solidFill>
              <a:srgbClr val="F3F4F6"/>
            </a:solidFill>
            <a:prstDash val="solid"/>
          </a:ln>
        </p:spPr>
      </p:sp>
      <p:sp>
        <p:nvSpPr>
          <p:cNvPr id="22" name="Step 4 badge"/>
          <p:cNvSpPr/>
          <p:nvPr/>
        </p:nvSpPr>
        <p:spPr>
          <a:xfrm>
            <a:off x="6903720" y="1554480"/>
            <a:ext cx="457200" cy="457200"/>
          </a:xfrm>
          <a:prstGeom prst="ellipse">
            <a:avLst/>
          </a:prstGeom>
          <a:solidFill>
            <a:srgbClr val="C1440E"/>
          </a:solidFill>
          <a:ln w="12700">
            <a:solidFill>
              <a:srgbClr val="C1440E"/>
            </a:solidFill>
            <a:prstDash val="solid"/>
          </a:ln>
        </p:spPr>
      </p:sp>
      <p:sp>
        <p:nvSpPr>
          <p:cNvPr id="23" name="Step 4 number"/>
          <p:cNvSpPr txBox="1"/>
          <p:nvPr/>
        </p:nvSpPr>
        <p:spPr>
          <a:xfrm>
            <a:off x="69037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Step 4 title"/>
          <p:cNvSpPr txBox="1"/>
          <p:nvPr/>
        </p:nvSpPr>
        <p:spPr>
          <a:xfrm>
            <a:off x="6903720" y="2148840"/>
            <a:ext cx="1463040" cy="320040"/>
          </a:xfrm>
          <a:prstGeom prst="rect">
            <a:avLst/>
          </a:prstGeom>
          <a:noFill/>
          <a:ln/>
        </p:spPr>
        <p:txBody>
          <a:bodyPr wrap="square" lIns="0" tIns="0" rIns="0" bIns="0" rtlCol="0" anchor="ctr"/>
          <a:lstStyle/>
          <a:p>
            <a:pPr indent="0" marL="0">
              <a:buNone/>
            </a:pPr>
            <a:r>
              <a:rPr lang="en-US" sz="1800" b="1" dirty="0">
                <a:solidFill>
                  <a:srgbClr val="191B20"/>
                </a:solidFill>
                <a:latin typeface="Calibri" pitchFamily="34" charset="0"/>
                <a:ea typeface="Calibri" pitchFamily="34" charset="-122"/>
                <a:cs typeface="Calibri" pitchFamily="34" charset="-120"/>
              </a:rPr>
              <a:t>Clock starts</a:t>
            </a:r>
            <a:endParaRPr lang="en-US" sz="1800" dirty="0"/>
          </a:p>
        </p:txBody>
      </p:sp>
      <p:sp>
        <p:nvSpPr>
          <p:cNvPr id="25" name="Step 4 text"/>
          <p:cNvSpPr txBox="1"/>
          <p:nvPr/>
        </p:nvSpPr>
        <p:spPr>
          <a:xfrm>
            <a:off x="6903720" y="2514600"/>
            <a:ext cx="1463040" cy="109728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Critical 15 min, high 60, medium 240. Then it escalates.</a:t>
            </a:r>
            <a:endParaRPr lang="en-US" sz="1400" dirty="0"/>
          </a:p>
        </p:txBody>
      </p:sp>
      <p:sp>
        <p:nvSpPr>
          <p:cNvPr id="26" name="Rule banner"/>
          <p:cNvSpPr/>
          <p:nvPr/>
        </p:nvSpPr>
        <p:spPr>
          <a:xfrm>
            <a:off x="548640" y="3977640"/>
            <a:ext cx="7955280" cy="731520"/>
          </a:xfrm>
          <a:prstGeom prst="roundRect">
            <a:avLst>
              <a:gd name="adj" fmla="val 15000"/>
            </a:avLst>
          </a:prstGeom>
          <a:solidFill>
            <a:srgbClr val="14171D"/>
          </a:solidFill>
          <a:ln w="12700">
            <a:solidFill>
              <a:srgbClr val="14171D"/>
            </a:solidFill>
            <a:prstDash val="solid"/>
          </a:ln>
        </p:spPr>
      </p:sp>
      <p:sp>
        <p:nvSpPr>
          <p:cNvPr id="27" name="Rule text"/>
          <p:cNvSpPr txBox="1"/>
          <p:nvPr/>
        </p:nvSpPr>
        <p:spPr>
          <a:xfrm>
            <a:off x="777240" y="3977640"/>
            <a:ext cx="74980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system drafts replies. A person approves them. It </a:t>
            </a:r>
            <a:pPr indent="0" marL="0">
              <a:buNone/>
            </a:pPr>
            <a:r>
              <a:rPr lang="en-US" sz="1800" b="1" dirty="0">
                <a:solidFill>
                  <a:srgbClr val="F2B84B"/>
                </a:solidFill>
                <a:latin typeface="Calibri" pitchFamily="34" charset="0"/>
                <a:ea typeface="Calibri" pitchFamily="34" charset="-122"/>
                <a:cs typeface="Calibri" pitchFamily="34" charset="-120"/>
              </a:rPr>
              <a:t>never</a:t>
            </a:r>
            <a:pPr indent="0" marL="0">
              <a:buNone/>
            </a:pPr>
            <a:r>
              <a:rPr lang="en-US" sz="1800" b="1" dirty="0">
                <a:solidFill>
                  <a:srgbClr val="FFFFFF"/>
                </a:solidFill>
                <a:latin typeface="Calibri" pitchFamily="34" charset="0"/>
                <a:ea typeface="Calibri" pitchFamily="34" charset="-122"/>
                <a:cs typeface="Calibri" pitchFamily="34" charset="-120"/>
              </a:rPr>
              <a:t> sends anything to the public.</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65760"/>
            <a:ext cx="8046720" cy="731520"/>
          </a:xfrm>
          <a:prstGeom prst="rect">
            <a:avLst/>
          </a:prstGeom>
          <a:noFill/>
          <a:ln/>
        </p:spPr>
        <p:txBody>
          <a:bodyPr wrap="square" lIns="0" tIns="0" rIns="0" bIns="0" rtlCol="0" anchor="t"/>
          <a:lstStyle/>
          <a:p>
            <a:pPr indent="0" marL="0">
              <a:buNone/>
            </a:pPr>
            <a:r>
              <a:rPr lang="en-US" sz="3400" b="1" dirty="0">
                <a:solidFill>
                  <a:srgbClr val="191B20"/>
                </a:solidFill>
                <a:latin typeface="Calibri" pitchFamily="34" charset="0"/>
                <a:ea typeface="Calibri" pitchFamily="34" charset="-122"/>
                <a:cs typeface="Calibri" pitchFamily="34" charset="-120"/>
              </a:rPr>
              <a:t>Three layers back each other up</a:t>
            </a:r>
            <a:endParaRPr lang="en-US" sz="3400" dirty="0"/>
          </a:p>
        </p:txBody>
      </p:sp>
      <p:sp>
        <p:nvSpPr>
          <p:cNvPr id="3" name="Layer 1"/>
          <p:cNvSpPr/>
          <p:nvPr/>
        </p:nvSpPr>
        <p:spPr>
          <a:xfrm>
            <a:off x="548640" y="1280160"/>
            <a:ext cx="2468880" cy="2377440"/>
          </a:xfrm>
          <a:prstGeom prst="roundRect">
            <a:avLst>
              <a:gd name="adj" fmla="val 4615"/>
            </a:avLst>
          </a:prstGeom>
          <a:solidFill>
            <a:srgbClr val="F3F4F6"/>
          </a:solidFill>
          <a:ln w="12700">
            <a:solidFill>
              <a:srgbClr val="F3F4F6"/>
            </a:solidFill>
            <a:prstDash val="solid"/>
          </a:ln>
        </p:spPr>
      </p:sp>
      <p:sp>
        <p:nvSpPr>
          <p:cNvPr id="4" name="Claude badge"/>
          <p:cNvSpPr/>
          <p:nvPr/>
        </p:nvSpPr>
        <p:spPr>
          <a:xfrm>
            <a:off x="777240" y="1463040"/>
            <a:ext cx="548640" cy="548640"/>
          </a:xfrm>
          <a:prstGeom prst="ellipse">
            <a:avLst/>
          </a:prstGeom>
          <a:solidFill>
            <a:srgbClr val="C1440E"/>
          </a:solidFill>
          <a:ln w="12700">
            <a:solidFill>
              <a:srgbClr val="C1440E"/>
            </a:solidFill>
            <a:prstDash val="solid"/>
          </a:ln>
        </p:spPr>
      </p:sp>
      <p:pic>
        <p:nvPicPr>
          <p:cNvPr id="5" name="Claude icon" descr="Claude">    </p:cNvPr>
          <p:cNvPicPr>
            <a:picLocks noChangeAspect="1"/>
          </p:cNvPicPr>
          <p:nvPr/>
        </p:nvPicPr>
        <p:blipFill>
          <a:blip r:embed="rId1"/>
          <a:stretch>
            <a:fillRect/>
          </a:stretch>
        </p:blipFill>
        <p:spPr>
          <a:xfrm>
            <a:off x="914400" y="1600200"/>
            <a:ext cx="274320" cy="274320"/>
          </a:xfrm>
          <a:prstGeom prst="rect">
            <a:avLst/>
          </a:prstGeom>
        </p:spPr>
      </p:pic>
      <p:sp>
        <p:nvSpPr>
          <p:cNvPr id="6" name="Layer 1 title"/>
          <p:cNvSpPr txBox="1"/>
          <p:nvPr/>
        </p:nvSpPr>
        <p:spPr>
          <a:xfrm>
            <a:off x="7772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Claude</a:t>
            </a:r>
            <a:endParaRPr lang="en-US" sz="2000" dirty="0"/>
          </a:p>
        </p:txBody>
      </p:sp>
      <p:sp>
        <p:nvSpPr>
          <p:cNvPr id="7" name="Layer 1 text"/>
          <p:cNvSpPr txBox="1"/>
          <p:nvPr/>
        </p:nvSpPr>
        <p:spPr>
          <a:xfrm>
            <a:off x="7772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Reads the meaning. Copes with typos, slang and short messages.</a:t>
            </a:r>
            <a:endParaRPr lang="en-US" sz="1400" dirty="0"/>
          </a:p>
        </p:txBody>
      </p:sp>
      <p:sp>
        <p:nvSpPr>
          <p:cNvPr id="8" name="Layer 2"/>
          <p:cNvSpPr/>
          <p:nvPr/>
        </p:nvSpPr>
        <p:spPr>
          <a:xfrm>
            <a:off x="3291840" y="1280160"/>
            <a:ext cx="2468880" cy="2377440"/>
          </a:xfrm>
          <a:prstGeom prst="roundRect">
            <a:avLst>
              <a:gd name="adj" fmla="val 4615"/>
            </a:avLst>
          </a:prstGeom>
          <a:solidFill>
            <a:srgbClr val="F3F4F6"/>
          </a:solidFill>
          <a:ln w="12700">
            <a:solidFill>
              <a:srgbClr val="F3F4F6"/>
            </a:solidFill>
            <a:prstDash val="solid"/>
          </a:ln>
        </p:spPr>
      </p:sp>
      <p:sp>
        <p:nvSpPr>
          <p:cNvPr id="9" name="Backup ML model badge"/>
          <p:cNvSpPr/>
          <p:nvPr/>
        </p:nvSpPr>
        <p:spPr>
          <a:xfrm>
            <a:off x="3520440" y="1463040"/>
            <a:ext cx="548640" cy="548640"/>
          </a:xfrm>
          <a:prstGeom prst="ellipse">
            <a:avLst/>
          </a:prstGeom>
          <a:solidFill>
            <a:srgbClr val="0E7C7B"/>
          </a:solidFill>
          <a:ln w="12700">
            <a:solidFill>
              <a:srgbClr val="0E7C7B"/>
            </a:solidFill>
            <a:prstDash val="solid"/>
          </a:ln>
        </p:spPr>
      </p:sp>
      <p:pic>
        <p:nvPicPr>
          <p:cNvPr id="10" name="Backup ML model icon" descr="Backup ML model">    </p:cNvPr>
          <p:cNvPicPr>
            <a:picLocks noChangeAspect="1"/>
          </p:cNvPicPr>
          <p:nvPr/>
        </p:nvPicPr>
        <p:blipFill>
          <a:blip r:embed="rId2"/>
          <a:stretch>
            <a:fillRect/>
          </a:stretch>
        </p:blipFill>
        <p:spPr>
          <a:xfrm>
            <a:off x="3657600" y="1600200"/>
            <a:ext cx="274320" cy="274320"/>
          </a:xfrm>
          <a:prstGeom prst="rect">
            <a:avLst/>
          </a:prstGeom>
        </p:spPr>
      </p:pic>
      <p:sp>
        <p:nvSpPr>
          <p:cNvPr id="11" name="Layer 2 title"/>
          <p:cNvSpPr txBox="1"/>
          <p:nvPr/>
        </p:nvSpPr>
        <p:spPr>
          <a:xfrm>
            <a:off x="35204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Backup ML model</a:t>
            </a:r>
            <a:endParaRPr lang="en-US" sz="2000" dirty="0"/>
          </a:p>
        </p:txBody>
      </p:sp>
      <p:sp>
        <p:nvSpPr>
          <p:cNvPr id="12" name="Layer 2 text"/>
          <p:cNvSpPr txBox="1"/>
          <p:nvPr/>
        </p:nvSpPr>
        <p:spPr>
          <a:xfrm>
            <a:off x="35204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A small model trained on 152 messages. A second opinion, and the fallback if Claude is offline.</a:t>
            </a:r>
            <a:endParaRPr lang="en-US" sz="1400" dirty="0"/>
          </a:p>
        </p:txBody>
      </p:sp>
      <p:sp>
        <p:nvSpPr>
          <p:cNvPr id="13" name="Layer 3"/>
          <p:cNvSpPr/>
          <p:nvPr/>
        </p:nvSpPr>
        <p:spPr>
          <a:xfrm>
            <a:off x="6035040" y="1280160"/>
            <a:ext cx="2468880" cy="2377440"/>
          </a:xfrm>
          <a:prstGeom prst="roundRect">
            <a:avLst>
              <a:gd name="adj" fmla="val 4615"/>
            </a:avLst>
          </a:prstGeom>
          <a:solidFill>
            <a:srgbClr val="F3F4F6"/>
          </a:solidFill>
          <a:ln w="12700">
            <a:solidFill>
              <a:srgbClr val="F3F4F6"/>
            </a:solidFill>
            <a:prstDash val="solid"/>
          </a:ln>
        </p:spPr>
      </p:sp>
      <p:sp>
        <p:nvSpPr>
          <p:cNvPr id="14" name="Safety rules badge"/>
          <p:cNvSpPr/>
          <p:nvPr/>
        </p:nvSpPr>
        <p:spPr>
          <a:xfrm>
            <a:off x="6263640" y="1463040"/>
            <a:ext cx="548640" cy="548640"/>
          </a:xfrm>
          <a:prstGeom prst="ellipse">
            <a:avLst/>
          </a:prstGeom>
          <a:solidFill>
            <a:srgbClr val="14171D"/>
          </a:solidFill>
          <a:ln w="12700">
            <a:solidFill>
              <a:srgbClr val="14171D"/>
            </a:solidFill>
            <a:prstDash val="solid"/>
          </a:ln>
        </p:spPr>
      </p:sp>
      <p:pic>
        <p:nvPicPr>
          <p:cNvPr id="15" name="Safety rules icon" descr="Safety rules">    </p:cNvPr>
          <p:cNvPicPr>
            <a:picLocks noChangeAspect="1"/>
          </p:cNvPicPr>
          <p:nvPr/>
        </p:nvPicPr>
        <p:blipFill>
          <a:blip r:embed="rId3"/>
          <a:stretch>
            <a:fillRect/>
          </a:stretch>
        </p:blipFill>
        <p:spPr>
          <a:xfrm>
            <a:off x="6400800" y="1600200"/>
            <a:ext cx="274320" cy="274320"/>
          </a:xfrm>
          <a:prstGeom prst="rect">
            <a:avLst/>
          </a:prstGeom>
        </p:spPr>
      </p:pic>
      <p:sp>
        <p:nvSpPr>
          <p:cNvPr id="16" name="Layer 3 title"/>
          <p:cNvSpPr txBox="1"/>
          <p:nvPr/>
        </p:nvSpPr>
        <p:spPr>
          <a:xfrm>
            <a:off x="62636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Safety rules</a:t>
            </a:r>
            <a:endParaRPr lang="en-US" sz="2000" dirty="0"/>
          </a:p>
        </p:txBody>
      </p:sp>
      <p:sp>
        <p:nvSpPr>
          <p:cNvPr id="17" name="Layer 3 text"/>
          <p:cNvSpPr txBox="1"/>
          <p:nvPr/>
        </p:nvSpPr>
        <p:spPr>
          <a:xfrm>
            <a:off x="62636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A fixed checklist for the worst words. The AI can't override it. It only ever raises priority.</a:t>
            </a:r>
            <a:endParaRPr lang="en-US" sz="1400" dirty="0"/>
          </a:p>
        </p:txBody>
      </p:sp>
      <p:sp>
        <p:nvSpPr>
          <p:cNvPr id="18" name="Fact 1"/>
          <p:cNvSpPr/>
          <p:nvPr/>
        </p:nvSpPr>
        <p:spPr>
          <a:xfrm>
            <a:off x="548640" y="3931920"/>
            <a:ext cx="3886200" cy="777240"/>
          </a:xfrm>
          <a:prstGeom prst="roundRect">
            <a:avLst>
              <a:gd name="adj" fmla="val 14118"/>
            </a:avLst>
          </a:prstGeom>
          <a:solidFill>
            <a:srgbClr val="FFFFFF"/>
          </a:solidFill>
          <a:ln w="15875">
            <a:solidFill>
              <a:srgbClr val="D9DCE1"/>
            </a:solidFill>
            <a:prstDash val="solid"/>
          </a:ln>
        </p:spPr>
      </p:sp>
      <p:sp>
        <p:nvSpPr>
          <p:cNvPr id="19" name="Fact 1 dot"/>
          <p:cNvSpPr/>
          <p:nvPr/>
        </p:nvSpPr>
        <p:spPr>
          <a:xfrm>
            <a:off x="777240" y="4187952"/>
            <a:ext cx="256032" cy="256032"/>
          </a:xfrm>
          <a:prstGeom prst="ellipse">
            <a:avLst/>
          </a:prstGeom>
          <a:solidFill>
            <a:srgbClr val="E8590C"/>
          </a:solidFill>
          <a:ln w="12700">
            <a:solidFill>
              <a:srgbClr val="E8590C"/>
            </a:solidFill>
            <a:prstDash val="solid"/>
          </a:ln>
        </p:spPr>
      </p:sp>
      <p:sp>
        <p:nvSpPr>
          <p:cNvPr id="20" name="Fact 1 text"/>
          <p:cNvSpPr txBox="1"/>
          <p:nvPr/>
        </p:nvSpPr>
        <p:spPr>
          <a:xfrm>
            <a:off x="1188720" y="3931920"/>
            <a:ext cx="3108960" cy="777240"/>
          </a:xfrm>
          <a:prstGeom prst="rect">
            <a:avLst/>
          </a:prstGeom>
          <a:noFill/>
          <a:ln/>
        </p:spPr>
        <p:txBody>
          <a:bodyPr wrap="square" lIns="0" tIns="0" rIns="0" bIns="0" rtlCol="0" anchor="ctr"/>
          <a:lstStyle/>
          <a:p>
            <a:pPr indent="0" marL="0">
              <a:buNone/>
            </a:pPr>
            <a:r>
              <a:rPr lang="en-US" sz="1400" b="1" dirty="0">
                <a:solidFill>
                  <a:srgbClr val="191B20"/>
                </a:solidFill>
                <a:latin typeface="Calibri" pitchFamily="34" charset="0"/>
                <a:ea typeface="Calibri" pitchFamily="34" charset="-122"/>
                <a:cs typeface="Calibri" pitchFamily="34" charset="-120"/>
              </a:rPr>
              <a:t>Cut off by floods? </a:t>
            </a:r>
            <a:pPr indent="0" marL="0">
              <a:buNone/>
            </a:pPr>
            <a:r>
              <a:rPr lang="en-US" sz="1400" dirty="0">
                <a:solidFill>
                  <a:srgbClr val="5B5F68"/>
                </a:solidFill>
                <a:latin typeface="Calibri" pitchFamily="34" charset="0"/>
                <a:ea typeface="Calibri" pitchFamily="34" charset="-122"/>
                <a:cs typeface="Calibri" pitchFamily="34" charset="-120"/>
              </a:rPr>
              <a:t>Priority is raised up to two levels.</a:t>
            </a:r>
            <a:endParaRPr lang="en-US" sz="1400" dirty="0"/>
          </a:p>
        </p:txBody>
      </p:sp>
      <p:sp>
        <p:nvSpPr>
          <p:cNvPr id="21" name="Fact 2"/>
          <p:cNvSpPr/>
          <p:nvPr/>
        </p:nvSpPr>
        <p:spPr>
          <a:xfrm>
            <a:off x="4617720" y="3931920"/>
            <a:ext cx="3886200" cy="777240"/>
          </a:xfrm>
          <a:prstGeom prst="roundRect">
            <a:avLst>
              <a:gd name="adj" fmla="val 14118"/>
            </a:avLst>
          </a:prstGeom>
          <a:solidFill>
            <a:srgbClr val="FFFFFF"/>
          </a:solidFill>
          <a:ln w="15875">
            <a:solidFill>
              <a:srgbClr val="D9DCE1"/>
            </a:solidFill>
            <a:prstDash val="solid"/>
          </a:ln>
        </p:spPr>
      </p:sp>
      <p:sp>
        <p:nvSpPr>
          <p:cNvPr id="22" name="Fact 2 dot"/>
          <p:cNvSpPr/>
          <p:nvPr/>
        </p:nvSpPr>
        <p:spPr>
          <a:xfrm>
            <a:off x="4846320" y="4187952"/>
            <a:ext cx="256032" cy="256032"/>
          </a:xfrm>
          <a:prstGeom prst="ellipse">
            <a:avLst/>
          </a:prstGeom>
          <a:solidFill>
            <a:srgbClr val="D7263D"/>
          </a:solidFill>
          <a:ln w="12700">
            <a:solidFill>
              <a:srgbClr val="D7263D"/>
            </a:solidFill>
            <a:prstDash val="solid"/>
          </a:ln>
        </p:spPr>
      </p:sp>
      <p:sp>
        <p:nvSpPr>
          <p:cNvPr id="23" name="Fact 2 text"/>
          <p:cNvSpPr txBox="1"/>
          <p:nvPr/>
        </p:nvSpPr>
        <p:spPr>
          <a:xfrm>
            <a:off x="5257800" y="3931920"/>
            <a:ext cx="3108960" cy="777240"/>
          </a:xfrm>
          <a:prstGeom prst="rect">
            <a:avLst/>
          </a:prstGeom>
          <a:noFill/>
          <a:ln/>
        </p:spPr>
        <p:txBody>
          <a:bodyPr wrap="square" lIns="0" tIns="0" rIns="0" bIns="0" rtlCol="0" anchor="ctr"/>
          <a:lstStyle/>
          <a:p>
            <a:pPr indent="0" marL="0">
              <a:buNone/>
            </a:pPr>
            <a:r>
              <a:rPr lang="en-US" sz="1400" b="1" dirty="0">
                <a:solidFill>
                  <a:srgbClr val="191B20"/>
                </a:solidFill>
                <a:latin typeface="Calibri" pitchFamily="34" charset="0"/>
                <a:ea typeface="Calibri" pitchFamily="34" charset="-122"/>
                <a:cs typeface="Calibri" pitchFamily="34" charset="-120"/>
              </a:rPr>
              <a:t>Can't read the language? </a:t>
            </a:r>
            <a:pPr indent="0" marL="0">
              <a:buNone/>
            </a:pPr>
            <a:r>
              <a:rPr lang="en-US" sz="1400" dirty="0">
                <a:solidFill>
                  <a:srgbClr val="5B5F68"/>
                </a:solidFill>
                <a:latin typeface="Calibri" pitchFamily="34" charset="0"/>
                <a:ea typeface="Calibri" pitchFamily="34" charset="-122"/>
                <a:cs typeface="Calibri" pitchFamily="34" charset="-120"/>
              </a:rPr>
              <a:t>At least HIGH, sent to an interpreter.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D"/>
        </a:solidFill>
      </p:bgPr>
    </p:bg>
    <p:spTree>
      <p:nvGrpSpPr>
        <p:cNvPr id="1" name=""/>
        <p:cNvGrpSpPr/>
        <p:nvPr/>
      </p:nvGrpSpPr>
      <p:grpSpPr>
        <a:xfrm>
          <a:off x="0" y="0"/>
          <a:ext cx="0" cy="0"/>
          <a:chOff x="0" y="0"/>
          <a:chExt cx="0" cy="0"/>
        </a:xfrm>
      </p:grpSpPr>
      <p:sp>
        <p:nvSpPr>
          <p:cNvPr id="2" name="Title"/>
          <p:cNvSpPr txBox="1"/>
          <p:nvPr/>
        </p:nvSpPr>
        <p:spPr>
          <a:xfrm>
            <a:off x="640080" y="548640"/>
            <a:ext cx="7315200" cy="91440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Live demo</a:t>
            </a:r>
            <a:endParaRPr lang="en-US" sz="5400" dirty="0"/>
          </a:p>
        </p:txBody>
      </p:sp>
      <p:sp>
        <p:nvSpPr>
          <p:cNvPr id="3" name="Subtitle"/>
          <p:cNvSpPr txBox="1"/>
          <p:nvPr/>
        </p:nvSpPr>
        <p:spPr>
          <a:xfrm>
            <a:off x="640080" y="1463040"/>
            <a:ext cx="7315200" cy="365760"/>
          </a:xfrm>
          <a:prstGeom prst="rect">
            <a:avLst/>
          </a:prstGeom>
          <a:noFill/>
          <a:ln/>
        </p:spPr>
        <p:txBody>
          <a:bodyPr wrap="square" lIns="0" tIns="0" rIns="0" bIns="0" rtlCol="0" anchor="ctr"/>
          <a:lstStyle/>
          <a:p>
            <a:pPr indent="0" marL="0">
              <a:buNone/>
            </a:pPr>
            <a:r>
              <a:rPr lang="en-US" sz="1800" dirty="0">
                <a:solidFill>
                  <a:srgbClr val="9AA1AD"/>
                </a:solidFill>
                <a:latin typeface="Calibri" pitchFamily="34" charset="0"/>
                <a:ea typeface="Calibri" pitchFamily="34" charset="-122"/>
                <a:cs typeface="Calibri" pitchFamily="34" charset="-120"/>
              </a:rPr>
              <a:t>About 5 minutes. Switching to the browser.</a:t>
            </a:r>
            <a:endParaRPr lang="en-US" sz="1800" dirty="0"/>
          </a:p>
        </p:txBody>
      </p:sp>
      <p:sp>
        <p:nvSpPr>
          <p:cNvPr id="4" name="Demo 1 badge"/>
          <p:cNvSpPr/>
          <p:nvPr/>
        </p:nvSpPr>
        <p:spPr>
          <a:xfrm>
            <a:off x="640080" y="2148840"/>
            <a:ext cx="365760" cy="365760"/>
          </a:xfrm>
          <a:prstGeom prst="ellipse">
            <a:avLst/>
          </a:prstGeom>
          <a:solidFill>
            <a:srgbClr val="C1440E"/>
          </a:solidFill>
          <a:ln w="12700">
            <a:solidFill>
              <a:srgbClr val="C1440E"/>
            </a:solidFill>
            <a:prstDash val="solid"/>
          </a:ln>
        </p:spPr>
      </p:sp>
      <p:sp>
        <p:nvSpPr>
          <p:cNvPr id="5" name="Demo 1 number"/>
          <p:cNvSpPr txBox="1"/>
          <p:nvPr/>
        </p:nvSpPr>
        <p:spPr>
          <a:xfrm>
            <a:off x="640080" y="2148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Demo 1 text"/>
          <p:cNvSpPr txBox="1"/>
          <p:nvPr/>
        </p:nvSpPr>
        <p:spPr>
          <a:xfrm>
            <a:off x="1234440" y="2148840"/>
            <a:ext cx="713232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live queue and who needs a human now</a:t>
            </a:r>
            <a:endParaRPr lang="en-US" sz="1800" dirty="0"/>
          </a:p>
        </p:txBody>
      </p:sp>
      <p:sp>
        <p:nvSpPr>
          <p:cNvPr id="7" name="Demo 2 badge"/>
          <p:cNvSpPr/>
          <p:nvPr/>
        </p:nvSpPr>
        <p:spPr>
          <a:xfrm>
            <a:off x="640080" y="2679192"/>
            <a:ext cx="365760" cy="365760"/>
          </a:xfrm>
          <a:prstGeom prst="ellipse">
            <a:avLst/>
          </a:prstGeom>
          <a:solidFill>
            <a:srgbClr val="1C212A"/>
          </a:solidFill>
          <a:ln w="12700">
            <a:solidFill>
              <a:srgbClr val="303844"/>
            </a:solidFill>
            <a:prstDash val="solid"/>
          </a:ln>
        </p:spPr>
      </p:sp>
      <p:sp>
        <p:nvSpPr>
          <p:cNvPr id="8" name="Demo 2 number"/>
          <p:cNvSpPr txBox="1"/>
          <p:nvPr/>
        </p:nvSpPr>
        <p:spPr>
          <a:xfrm>
            <a:off x="640080" y="26791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Demo 2 text"/>
          <p:cNvSpPr txBox="1"/>
          <p:nvPr/>
        </p:nvSpPr>
        <p:spPr>
          <a:xfrm>
            <a:off x="1234440" y="2679192"/>
            <a:ext cx="713232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Follow one message through the checks</a:t>
            </a:r>
            <a:endParaRPr lang="en-US" sz="1800" dirty="0"/>
          </a:p>
        </p:txBody>
      </p:sp>
      <p:sp>
        <p:nvSpPr>
          <p:cNvPr id="10" name="Demo 3 badge"/>
          <p:cNvSpPr/>
          <p:nvPr/>
        </p:nvSpPr>
        <p:spPr>
          <a:xfrm>
            <a:off x="640080" y="3209544"/>
            <a:ext cx="365760" cy="365760"/>
          </a:xfrm>
          <a:prstGeom prst="ellipse">
            <a:avLst/>
          </a:prstGeom>
          <a:solidFill>
            <a:srgbClr val="1C212A"/>
          </a:solidFill>
          <a:ln w="12700">
            <a:solidFill>
              <a:srgbClr val="303844"/>
            </a:solidFill>
            <a:prstDash val="solid"/>
          </a:ln>
        </p:spPr>
      </p:sp>
      <p:sp>
        <p:nvSpPr>
          <p:cNvPr id="11" name="Demo 3 number"/>
          <p:cNvSpPr txBox="1"/>
          <p:nvPr/>
        </p:nvSpPr>
        <p:spPr>
          <a:xfrm>
            <a:off x="640080" y="32095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Demo 3 text"/>
          <p:cNvSpPr txBox="1"/>
          <p:nvPr/>
        </p:nvSpPr>
        <p:spPr>
          <a:xfrm>
            <a:off x="1234440" y="3209544"/>
            <a:ext cx="713232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Try to break it: prompt injection, unreadable language</a:t>
            </a:r>
            <a:endParaRPr lang="en-US" sz="1800" dirty="0"/>
          </a:p>
        </p:txBody>
      </p:sp>
      <p:sp>
        <p:nvSpPr>
          <p:cNvPr id="13" name="Demo 4 badge"/>
          <p:cNvSpPr/>
          <p:nvPr/>
        </p:nvSpPr>
        <p:spPr>
          <a:xfrm>
            <a:off x="640080" y="3739896"/>
            <a:ext cx="365760" cy="365760"/>
          </a:xfrm>
          <a:prstGeom prst="ellipse">
            <a:avLst/>
          </a:prstGeom>
          <a:solidFill>
            <a:srgbClr val="1C212A"/>
          </a:solidFill>
          <a:ln w="12700">
            <a:solidFill>
              <a:srgbClr val="303844"/>
            </a:solidFill>
            <a:prstDash val="solid"/>
          </a:ln>
        </p:spPr>
      </p:sp>
      <p:sp>
        <p:nvSpPr>
          <p:cNvPr id="14" name="Demo 4 number"/>
          <p:cNvSpPr txBox="1"/>
          <p:nvPr/>
        </p:nvSpPr>
        <p:spPr>
          <a:xfrm>
            <a:off x="640080" y="3739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Demo 4 text"/>
          <p:cNvSpPr txBox="1"/>
          <p:nvPr/>
        </p:nvSpPr>
        <p:spPr>
          <a:xfrm>
            <a:off x="1234440" y="3739896"/>
            <a:ext cx="713232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Nobody acts, so it escalates</a:t>
            </a:r>
            <a:endParaRPr lang="en-US" sz="1800" dirty="0"/>
          </a:p>
        </p:txBody>
      </p:sp>
      <p:sp>
        <p:nvSpPr>
          <p:cNvPr id="16" name="Demo 5 badge"/>
          <p:cNvSpPr/>
          <p:nvPr/>
        </p:nvSpPr>
        <p:spPr>
          <a:xfrm>
            <a:off x="640080" y="4270248"/>
            <a:ext cx="365760" cy="365760"/>
          </a:xfrm>
          <a:prstGeom prst="ellipse">
            <a:avLst/>
          </a:prstGeom>
          <a:solidFill>
            <a:srgbClr val="1C212A"/>
          </a:solidFill>
          <a:ln w="12700">
            <a:solidFill>
              <a:srgbClr val="303844"/>
            </a:solidFill>
            <a:prstDash val="solid"/>
          </a:ln>
        </p:spPr>
      </p:sp>
      <p:sp>
        <p:nvSpPr>
          <p:cNvPr id="17" name="Demo 5 number"/>
          <p:cNvSpPr txBox="1"/>
          <p:nvPr/>
        </p:nvSpPr>
        <p:spPr>
          <a:xfrm>
            <a:off x="640080"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Demo 5 text"/>
          <p:cNvSpPr txBox="1"/>
          <p:nvPr/>
        </p:nvSpPr>
        <p:spPr>
          <a:xfrm>
            <a:off x="1234440" y="4270248"/>
            <a:ext cx="713232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Claude offline, and the scores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48640" y="365760"/>
            <a:ext cx="8046720" cy="731520"/>
          </a:xfrm>
          <a:prstGeom prst="rect">
            <a:avLst/>
          </a:prstGeom>
          <a:noFill/>
          <a:ln/>
        </p:spPr>
        <p:txBody>
          <a:bodyPr wrap="square" lIns="0" tIns="0" rIns="0" bIns="0" rtlCol="0" anchor="t"/>
          <a:lstStyle/>
          <a:p>
            <a:pPr indent="0" marL="0">
              <a:buNone/>
            </a:pPr>
            <a:r>
              <a:rPr lang="en-US" sz="3400" b="1" dirty="0">
                <a:solidFill>
                  <a:srgbClr val="191B20"/>
                </a:solidFill>
                <a:latin typeface="Calibri" pitchFamily="34" charset="0"/>
                <a:ea typeface="Calibri" pitchFamily="34" charset="-122"/>
                <a:cs typeface="Calibri" pitchFamily="34" charset="-120"/>
              </a:rPr>
              <a:t>What is real, and what is next</a:t>
            </a:r>
            <a:endParaRPr lang="en-US" sz="3400" dirty="0"/>
          </a:p>
        </p:txBody>
      </p:sp>
      <p:sp>
        <p:nvSpPr>
          <p:cNvPr id="3" name="Card 1"/>
          <p:cNvSpPr/>
          <p:nvPr/>
        </p:nvSpPr>
        <p:spPr>
          <a:xfrm>
            <a:off x="548640" y="1280160"/>
            <a:ext cx="2468880" cy="2377440"/>
          </a:xfrm>
          <a:prstGeom prst="roundRect">
            <a:avLst>
              <a:gd name="adj" fmla="val 4615"/>
            </a:avLst>
          </a:prstGeom>
          <a:solidFill>
            <a:srgbClr val="F3F4F6"/>
          </a:solidFill>
          <a:ln w="12700">
            <a:solidFill>
              <a:srgbClr val="F3F4F6"/>
            </a:solidFill>
            <a:prstDash val="solid"/>
          </a:ln>
        </p:spPr>
      </p:sp>
      <p:sp>
        <p:nvSpPr>
          <p:cNvPr id="4" name="Real today badge"/>
          <p:cNvSpPr/>
          <p:nvPr/>
        </p:nvSpPr>
        <p:spPr>
          <a:xfrm>
            <a:off x="777240" y="1463040"/>
            <a:ext cx="548640" cy="548640"/>
          </a:xfrm>
          <a:prstGeom prst="ellipse">
            <a:avLst/>
          </a:prstGeom>
          <a:solidFill>
            <a:srgbClr val="2F9E5B"/>
          </a:solidFill>
          <a:ln w="12700">
            <a:solidFill>
              <a:srgbClr val="2F9E5B"/>
            </a:solidFill>
            <a:prstDash val="solid"/>
          </a:ln>
        </p:spPr>
      </p:sp>
      <p:pic>
        <p:nvPicPr>
          <p:cNvPr id="5" name="Real today icon" descr="Real today">    </p:cNvPr>
          <p:cNvPicPr>
            <a:picLocks noChangeAspect="1"/>
          </p:cNvPicPr>
          <p:nvPr/>
        </p:nvPicPr>
        <p:blipFill>
          <a:blip r:embed="rId1"/>
          <a:stretch>
            <a:fillRect/>
          </a:stretch>
        </p:blipFill>
        <p:spPr>
          <a:xfrm>
            <a:off x="914400" y="1600200"/>
            <a:ext cx="274320" cy="274320"/>
          </a:xfrm>
          <a:prstGeom prst="rect">
            <a:avLst/>
          </a:prstGeom>
        </p:spPr>
      </p:pic>
      <p:sp>
        <p:nvSpPr>
          <p:cNvPr id="6" name="Card 1 title"/>
          <p:cNvSpPr txBox="1"/>
          <p:nvPr/>
        </p:nvSpPr>
        <p:spPr>
          <a:xfrm>
            <a:off x="7772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Real today</a:t>
            </a:r>
            <a:endParaRPr lang="en-US" sz="2000" dirty="0"/>
          </a:p>
        </p:txBody>
      </p:sp>
      <p:sp>
        <p:nvSpPr>
          <p:cNvPr id="7" name="Card 1 text"/>
          <p:cNvSpPr txBox="1"/>
          <p:nvPr/>
        </p:nvSpPr>
        <p:spPr>
          <a:xfrm>
            <a:off x="7772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The full pipeline, escalation clocks, silent-sender checks, an inbound endpoint and an audit trail.</a:t>
            </a:r>
            <a:endParaRPr lang="en-US" sz="1400" dirty="0"/>
          </a:p>
        </p:txBody>
      </p:sp>
      <p:sp>
        <p:nvSpPr>
          <p:cNvPr id="8" name="Card 2"/>
          <p:cNvSpPr/>
          <p:nvPr/>
        </p:nvSpPr>
        <p:spPr>
          <a:xfrm>
            <a:off x="3291840" y="1280160"/>
            <a:ext cx="2468880" cy="2377440"/>
          </a:xfrm>
          <a:prstGeom prst="roundRect">
            <a:avLst>
              <a:gd name="adj" fmla="val 4615"/>
            </a:avLst>
          </a:prstGeom>
          <a:solidFill>
            <a:srgbClr val="F3F4F6"/>
          </a:solidFill>
          <a:ln w="12700">
            <a:solidFill>
              <a:srgbClr val="F3F4F6"/>
            </a:solidFill>
            <a:prstDash val="solid"/>
          </a:ln>
        </p:spPr>
      </p:sp>
      <p:sp>
        <p:nvSpPr>
          <p:cNvPr id="9" name="Next badge"/>
          <p:cNvSpPr/>
          <p:nvPr/>
        </p:nvSpPr>
        <p:spPr>
          <a:xfrm>
            <a:off x="3520440" y="1463040"/>
            <a:ext cx="548640" cy="548640"/>
          </a:xfrm>
          <a:prstGeom prst="ellipse">
            <a:avLst/>
          </a:prstGeom>
          <a:solidFill>
            <a:srgbClr val="0E7C7B"/>
          </a:solidFill>
          <a:ln w="12700">
            <a:solidFill>
              <a:srgbClr val="0E7C7B"/>
            </a:solidFill>
            <a:prstDash val="solid"/>
          </a:ln>
        </p:spPr>
      </p:sp>
      <p:pic>
        <p:nvPicPr>
          <p:cNvPr id="10" name="Next icon" descr="Next">    </p:cNvPr>
          <p:cNvPicPr>
            <a:picLocks noChangeAspect="1"/>
          </p:cNvPicPr>
          <p:nvPr/>
        </p:nvPicPr>
        <p:blipFill>
          <a:blip r:embed="rId2"/>
          <a:stretch>
            <a:fillRect/>
          </a:stretch>
        </p:blipFill>
        <p:spPr>
          <a:xfrm>
            <a:off x="3657600" y="1600200"/>
            <a:ext cx="274320" cy="274320"/>
          </a:xfrm>
          <a:prstGeom prst="rect">
            <a:avLst/>
          </a:prstGeom>
        </p:spPr>
      </p:pic>
      <p:sp>
        <p:nvSpPr>
          <p:cNvPr id="11" name="Card 2 title"/>
          <p:cNvSpPr txBox="1"/>
          <p:nvPr/>
        </p:nvSpPr>
        <p:spPr>
          <a:xfrm>
            <a:off x="35204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Next</a:t>
            </a:r>
            <a:endParaRPr lang="en-US" sz="2000" dirty="0"/>
          </a:p>
        </p:txBody>
      </p:sp>
      <p:sp>
        <p:nvSpPr>
          <p:cNvPr id="12" name="Card 2 text"/>
          <p:cNvSpPr txBox="1"/>
          <p:nvPr/>
        </p:nvSpPr>
        <p:spPr>
          <a:xfrm>
            <a:off x="35204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Connect SMS and email. Add phrases checked by real language speakers. Trial with an NT agency.</a:t>
            </a:r>
            <a:endParaRPr lang="en-US" sz="1400" dirty="0"/>
          </a:p>
        </p:txBody>
      </p:sp>
      <p:sp>
        <p:nvSpPr>
          <p:cNvPr id="13" name="Card 3"/>
          <p:cNvSpPr/>
          <p:nvPr/>
        </p:nvSpPr>
        <p:spPr>
          <a:xfrm>
            <a:off x="6035040" y="1280160"/>
            <a:ext cx="2468880" cy="2377440"/>
          </a:xfrm>
          <a:prstGeom prst="roundRect">
            <a:avLst>
              <a:gd name="adj" fmla="val 4615"/>
            </a:avLst>
          </a:prstGeom>
          <a:solidFill>
            <a:srgbClr val="F3F4F6"/>
          </a:solidFill>
          <a:ln w="12700">
            <a:solidFill>
              <a:srgbClr val="F3F4F6"/>
            </a:solidFill>
            <a:prstDash val="solid"/>
          </a:ln>
        </p:spPr>
      </p:sp>
      <p:sp>
        <p:nvSpPr>
          <p:cNvPr id="14" name="Never badge"/>
          <p:cNvSpPr/>
          <p:nvPr/>
        </p:nvSpPr>
        <p:spPr>
          <a:xfrm>
            <a:off x="6263640" y="1463040"/>
            <a:ext cx="548640" cy="548640"/>
          </a:xfrm>
          <a:prstGeom prst="ellipse">
            <a:avLst/>
          </a:prstGeom>
          <a:solidFill>
            <a:srgbClr val="D7263D"/>
          </a:solidFill>
          <a:ln w="12700">
            <a:solidFill>
              <a:srgbClr val="D7263D"/>
            </a:solidFill>
            <a:prstDash val="solid"/>
          </a:ln>
        </p:spPr>
      </p:sp>
      <p:pic>
        <p:nvPicPr>
          <p:cNvPr id="15" name="Never icon" descr="Never">    </p:cNvPr>
          <p:cNvPicPr>
            <a:picLocks noChangeAspect="1"/>
          </p:cNvPicPr>
          <p:nvPr/>
        </p:nvPicPr>
        <p:blipFill>
          <a:blip r:embed="rId3"/>
          <a:stretch>
            <a:fillRect/>
          </a:stretch>
        </p:blipFill>
        <p:spPr>
          <a:xfrm>
            <a:off x="6400800" y="1600200"/>
            <a:ext cx="274320" cy="274320"/>
          </a:xfrm>
          <a:prstGeom prst="rect">
            <a:avLst/>
          </a:prstGeom>
        </p:spPr>
      </p:pic>
      <p:sp>
        <p:nvSpPr>
          <p:cNvPr id="16" name="Card 3 title"/>
          <p:cNvSpPr txBox="1"/>
          <p:nvPr/>
        </p:nvSpPr>
        <p:spPr>
          <a:xfrm>
            <a:off x="6263640" y="2148840"/>
            <a:ext cx="2103120" cy="365760"/>
          </a:xfrm>
          <a:prstGeom prst="rect">
            <a:avLst/>
          </a:prstGeom>
          <a:noFill/>
          <a:ln/>
        </p:spPr>
        <p:txBody>
          <a:bodyPr wrap="square" lIns="0" tIns="0" rIns="0" bIns="0" rtlCol="0" anchor="ctr"/>
          <a:lstStyle/>
          <a:p>
            <a:pPr indent="0" marL="0">
              <a:buNone/>
            </a:pPr>
            <a:r>
              <a:rPr lang="en-US" sz="2000" b="1" dirty="0">
                <a:solidFill>
                  <a:srgbClr val="191B20"/>
                </a:solidFill>
                <a:latin typeface="Calibri" pitchFamily="34" charset="0"/>
                <a:ea typeface="Calibri" pitchFamily="34" charset="-122"/>
                <a:cs typeface="Calibri" pitchFamily="34" charset="-120"/>
              </a:rPr>
              <a:t>Never</a:t>
            </a:r>
            <a:endParaRPr lang="en-US" sz="2000" dirty="0"/>
          </a:p>
        </p:txBody>
      </p:sp>
      <p:sp>
        <p:nvSpPr>
          <p:cNvPr id="17" name="Card 3 text"/>
          <p:cNvSpPr txBox="1"/>
          <p:nvPr/>
        </p:nvSpPr>
        <p:spPr>
          <a:xfrm>
            <a:off x="6263640" y="2560320"/>
            <a:ext cx="2057400" cy="1051560"/>
          </a:xfrm>
          <a:prstGeom prst="rect">
            <a:avLst/>
          </a:prstGeom>
          <a:noFill/>
          <a:ln/>
        </p:spPr>
        <p:txBody>
          <a:bodyPr wrap="square" lIns="0" tIns="0" rIns="0" bIns="0" rtlCol="0" anchor="t"/>
          <a:lstStyle/>
          <a:p>
            <a:pPr indent="0" marL="0">
              <a:buNone/>
            </a:pPr>
            <a:r>
              <a:rPr lang="en-US" sz="1400" dirty="0">
                <a:solidFill>
                  <a:srgbClr val="5B5F68"/>
                </a:solidFill>
                <a:latin typeface="Calibri" pitchFamily="34" charset="0"/>
                <a:ea typeface="Calibri" pitchFamily="34" charset="-122"/>
                <a:cs typeface="Calibri" pitchFamily="34" charset="-120"/>
              </a:rPr>
              <a:t>No auto-replies. No lowering a priority. No pretending to understand a language we can't read.</a:t>
            </a:r>
            <a:endParaRPr lang="en-US" sz="1400" dirty="0"/>
          </a:p>
        </p:txBody>
      </p:sp>
      <p:sp>
        <p:nvSpPr>
          <p:cNvPr id="18" name="Closing banner"/>
          <p:cNvSpPr/>
          <p:nvPr/>
        </p:nvSpPr>
        <p:spPr>
          <a:xfrm>
            <a:off x="548640" y="3931920"/>
            <a:ext cx="7955280" cy="777240"/>
          </a:xfrm>
          <a:prstGeom prst="roundRect">
            <a:avLst>
              <a:gd name="adj" fmla="val 14118"/>
            </a:avLst>
          </a:prstGeom>
          <a:solidFill>
            <a:srgbClr val="14171D"/>
          </a:solidFill>
          <a:ln w="12700">
            <a:solidFill>
              <a:srgbClr val="14171D"/>
            </a:solidFill>
            <a:prstDash val="solid"/>
          </a:ln>
        </p:spPr>
      </p:sp>
      <p:sp>
        <p:nvSpPr>
          <p:cNvPr id="19" name="Questions"/>
          <p:cNvSpPr txBox="1"/>
          <p:nvPr/>
        </p:nvSpPr>
        <p:spPr>
          <a:xfrm>
            <a:off x="822960" y="3931920"/>
            <a:ext cx="256032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Questions?</a:t>
            </a:r>
            <a:endParaRPr lang="en-US" sz="2800" dirty="0"/>
          </a:p>
        </p:txBody>
      </p:sp>
      <p:sp>
        <p:nvSpPr>
          <p:cNvPr id="20" name="Principle"/>
          <p:cNvSpPr txBox="1"/>
          <p:nvPr/>
        </p:nvSpPr>
        <p:spPr>
          <a:xfrm>
            <a:off x="3657600" y="3931920"/>
            <a:ext cx="4572000" cy="777240"/>
          </a:xfrm>
          <a:prstGeom prst="rect">
            <a:avLst/>
          </a:prstGeom>
          <a:noFill/>
          <a:ln/>
        </p:spPr>
        <p:txBody>
          <a:bodyPr wrap="square" lIns="0" tIns="0" rIns="0" bIns="0" rtlCol="0" anchor="ctr"/>
          <a:lstStyle/>
          <a:p>
            <a:pPr algn="r" indent="0" marL="0">
              <a:buNone/>
            </a:pPr>
            <a:r>
              <a:rPr lang="en-US" sz="2000" b="1" dirty="0">
                <a:solidFill>
                  <a:srgbClr val="F2B84B"/>
                </a:solidFill>
                <a:latin typeface="Calibri" pitchFamily="34" charset="0"/>
                <a:ea typeface="Calibri" pitchFamily="34" charset="-122"/>
                <a:cs typeface="Calibri" pitchFamily="34" charset="-120"/>
              </a:rPr>
              <a:t>Help people. Never replace them.</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NT Correspondence Triage</dc:title>
  <dc:subject>PptxGenJS Presentation</dc:subject>
  <dc:creator>CDU IT Code Fair 2026</dc:creator>
  <cp:lastModifiedBy>CDU IT Code Fair 2026</cp:lastModifiedBy>
  <cp:revision>1</cp:revision>
  <dcterms:created xsi:type="dcterms:W3CDTF">2026-10-08T08:53:02Z</dcterms:created>
  <dcterms:modified xsi:type="dcterms:W3CDTF">2026-10-08T08:53:02Z</dcterms:modified>
</cp:coreProperties>
</file>