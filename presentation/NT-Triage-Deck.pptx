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9AA1AD"/>
                </a:solidFill>
                <a:latin typeface="Calibri"/>
              </a:defRPr>
            </a:pPr>
            <a:r>
              <a:rPr sz="1100" b="0" i="0" u="none" strike="noStrike">
                <a:solidFill>
                  <a:srgbClr val="9AA1AD"/>
                </a:solidFill>
                <a:latin typeface="Calibri"/>
              </a:rPr>
              <a:t>Urgent messages caught</a:t>
            </a:r>
          </a:p>
        </c:rich>
      </c:tx>
      <c:overlay val="0"/>
    </c:title>
    <c:autoTitleDeleted val="0"/>
    <c:plotArea>
      <c:layout/>
      <c:barChart>
        <c:barDir val="bar"/>
        <c:grouping val="clustered"/>
        <c:varyColors val="0"/>
        <c:ser>
          <c:idx val="0"/>
          <c:order val="0"/>
          <c:tx>
            <c:strRef>
              <c:f>Sheet1!$B$1</c:f>
              <c:strCache>
                <c:ptCount val="1"/>
                <c:pt idx="0">
                  <c:v>Urgent messages caught</c:v>
                </c:pt>
              </c:strCache>
            </c:strRef>
          </c:tx>
          <c:spPr>
            <a:solidFill>
              <a:srgbClr val="C0495A"/>
            </a:solidFill>
            <a:effectLst/>
          </c:spPr>
          <c:invertIfNegative val="0"/>
          <c:dPt>
            <c:idx val="0"/>
            <c:invertIfNegative val="0"/>
            <c:bubble3D val="0"/>
            <c:extLst>
              <c:ext xmlns:c16="http://schemas.microsoft.com/office/drawing/2014/chart" uri="{C3380CC4-5D6E-409C-BE32-E72D297353CC}">
                <c16:uniqueId val="{00000001-D4AE-4EEC-8024-104DC6767EC3}"/>
              </c:ext>
            </c:extLst>
          </c:dPt>
          <c:dPt>
            <c:idx val="1"/>
            <c:invertIfNegative val="0"/>
            <c:bubble3D val="0"/>
            <c:extLst>
              <c:ext xmlns:c16="http://schemas.microsoft.com/office/drawing/2014/chart" uri="{C3380CC4-5D6E-409C-BE32-E72D297353CC}">
                <c16:uniqueId val="{00000003-D4AE-4EEC-8024-104DC6767EC3}"/>
              </c:ext>
            </c:extLst>
          </c:dPt>
          <c:dPt>
            <c:idx val="2"/>
            <c:invertIfNegative val="0"/>
            <c:bubble3D val="0"/>
            <c:spPr>
              <a:solidFill>
                <a:srgbClr val="D1A21E"/>
              </a:solidFill>
              <a:effectLst/>
            </c:spPr>
            <c:extLst>
              <c:ext xmlns:c16="http://schemas.microsoft.com/office/drawing/2014/chart" uri="{C3380CC4-5D6E-409C-BE32-E72D297353CC}">
                <c16:uniqueId val="{00000005-D4AE-4EEC-8024-104DC6767EC3}"/>
              </c:ext>
            </c:extLst>
          </c:dPt>
          <c:dPt>
            <c:idx val="3"/>
            <c:invertIfNegative val="0"/>
            <c:bubble3D val="0"/>
            <c:spPr>
              <a:solidFill>
                <a:srgbClr val="36B26B"/>
              </a:solidFill>
              <a:effectLst/>
            </c:spPr>
            <c:extLst>
              <c:ext xmlns:c16="http://schemas.microsoft.com/office/drawing/2014/chart" uri="{C3380CC4-5D6E-409C-BE32-E72D297353CC}">
                <c16:uniqueId val="{00000007-D4AE-4EEC-8024-104DC6767EC3}"/>
              </c:ext>
            </c:extLst>
          </c:dPt>
          <c:dPt>
            <c:idx val="4"/>
            <c:invertIfNegative val="0"/>
            <c:bubble3D val="0"/>
            <c:spPr>
              <a:solidFill>
                <a:srgbClr val="36B26B"/>
              </a:solidFill>
              <a:effectLst/>
            </c:spPr>
            <c:extLst>
              <c:ext xmlns:c16="http://schemas.microsoft.com/office/drawing/2014/chart" uri="{C3380CC4-5D6E-409C-BE32-E72D297353CC}">
                <c16:uniqueId val="{00000009-D4AE-4EEC-8024-104DC6767EC3}"/>
              </c:ext>
            </c:extLst>
          </c:dPt>
          <c:dLbls>
            <c:numFmt formatCode="0.0&quot;%&quot;" sourceLinked="0"/>
            <c:spPr>
              <a:noFill/>
              <a:ln>
                <a:noFill/>
              </a:ln>
              <a:effectLst/>
            </c:spPr>
            <c:txPr>
              <a:bodyPr/>
              <a:lstStyle/>
              <a:p>
                <a:pPr>
                  <a:defRPr sz="1200" b="1" i="0" u="none" strike="noStrike">
                    <a:solidFill>
                      <a:srgbClr val="F3EFE6"/>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Backup model alone</c:v>
                </c:pt>
                <c:pt idx="1">
                  <c:v>Safety rules alone</c:v>
                </c:pt>
                <c:pt idx="2">
                  <c:v>AI model alone</c:v>
                </c:pt>
                <c:pt idx="3">
                  <c:v>Full system</c:v>
                </c:pt>
                <c:pt idx="4">
                  <c:v>Full system, AI off</c:v>
                </c:pt>
              </c:strCache>
            </c:strRef>
          </c:cat>
          <c:val>
            <c:numRef>
              <c:f>Sheet1!$B$2:$B$6</c:f>
              <c:numCache>
                <c:formatCode>General</c:formatCode>
                <c:ptCount val="5"/>
                <c:pt idx="0">
                  <c:v>85.5</c:v>
                </c:pt>
                <c:pt idx="1">
                  <c:v>65.5</c:v>
                </c:pt>
                <c:pt idx="2">
                  <c:v>94.5</c:v>
                </c:pt>
                <c:pt idx="3">
                  <c:v>98.2</c:v>
                </c:pt>
                <c:pt idx="4">
                  <c:v>98.2</c:v>
                </c:pt>
              </c:numCache>
            </c:numRef>
          </c:val>
          <c:extLst>
            <c:ext xmlns:c16="http://schemas.microsoft.com/office/drawing/2014/chart" uri="{C3380CC4-5D6E-409C-BE32-E72D297353CC}">
              <c16:uniqueId val="{0000000A-D4AE-4EEC-8024-104DC6767EC3}"/>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3EFE6"/>
                </a:solidFill>
                <a:latin typeface="Calibri"/>
              </a:defRPr>
            </a:pPr>
            <a:endParaRPr lang="en-US"/>
          </a:p>
        </c:txPr>
        <c:crossAx val="2094734552"/>
        <c:crosses val="autoZero"/>
        <c:auto val="1"/>
        <c:lblAlgn val="ctr"/>
        <c:lblOffset val="100"/>
        <c:noMultiLvlLbl val="1"/>
      </c:catAx>
      <c:valAx>
        <c:axId val="2094734552"/>
        <c:scaling>
          <c:orientation val="minMax"/>
          <c:max val="110"/>
          <c:min val="0"/>
        </c:scaling>
        <c:delete val="1"/>
        <c:axPos val="t"/>
        <c:numFmt formatCode="General" sourceLinked="0"/>
        <c:majorTickMark val="out"/>
        <c:minorTickMark val="none"/>
        <c:tickLblPos val="low"/>
        <c:crossAx val="2094734554"/>
        <c:crosses val="autoZero"/>
        <c:crossBetween val="between"/>
      </c:valAx>
      <c:spPr>
        <a:solidFill>
          <a:srgbClr val="0E1116"/>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75850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Let the inbox build by itself. Say: this is a normal morning in a government correspondence inbox. Bin days, receipts, thank-yous. And one of these is a woman telling us her mum has collapsed and the road is flooded.
Then the line: our system exists so that message is never the 43rd thing someone reads.
One rule to plant now: it never replies by itself. It makes sure a named person sees the urgent ones, and chases them if they do nothing.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Three facts, not a lecture. 58.5% of First Nations people in the NT speak an Indigenous language at home, the highest share in Australia. 43% of First Nations communities and homelands have no mobile service. In 2025 the NT recorded 4,057 assault victims per 100,000 people against 917 nationally, two thirds family and domestic violence.
So the person we built for writes briefly, on a phone, maybe not in English, maybe with the road under water, and may not write twice.
Sources are on the slide and in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The brief's trust twist is the whole design: the system escalates, it never replies. Walk the flow left to right as it builds itself: a message arrives; three readers judge it; the priority can only go up; it lands with a named person; a clock starts, 15 minutes for critical. If nobody acknowledges it, it climbs to the shift supervisor, then the duty manager.
Land the banner: it drafts, a person approves, it never sends.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READERS.
Three independent readers so no single failure hides an emergency. The AI model understands meaning (this runs on the Claude API). A small ML model we trained is the second opinion and works with no network. Fixed safety rules are a checklist that can't be talked out of a threat, and they ignore instructions inside a message.
None of them can lower a priority. Two more things: senders cut off by floods are raised two levels, and text we can't read is never ignored: it goes to an interpreter at HIGH.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FLOOR.
This is the part where we tested our own system and it was wrong. On the benchmark the AI model alone rated a message about a carport blowing away as MEDIUM. The small backup model had said HIGH. Our first pipeline simply ignored that disagreement, and a high message was missed.
The fix is one rule: if the backup model says high or critical and the AI says lower, hold it at HIGH until a person reads it. Two readers disagreeing towards urgent is itself a reason to look.
Does it work? Yes, and we measured it: urgent messages caught went from 94.5% to 98.2% on the 152-message benchmark (3 missed down to 1). The price is honest: routine messages escalated went from 1 to 10 of 97. We also apply it after the access boost, so a routine complaint can't jump two levels. There is a test for the rule, and the numbers come from report/collect_results.py (before and after).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The chart is urgent messages caught, out of the 55 that are truly high or critical. The backup model alone catches 85% and only half the critical ones. The safety rules alone, 65%. The AI model alone is the best single reader at 94.5%. Together: 54 of 55, and all 23 critical messages on the 15-minute clock. Switch the AI off and it is still 98%.
Be honest about the price: 10 of 97 routine messages get escalated, and we wrote this data ourselves, so real scores will be lower. That is why the report recommends a shadow pilot.
Numbers come straight from the running system: report/collect_results.py.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Don't explain each tile, point at them and say you'll show them live in a moment.
Shift timeline: you can drag the clock and the whole console follows. How It Works follows one real message through six checks. The map shows messages flowing to the triage centre in Darwin, and pins pulse when something is overdue. Evaluation computes the scores live against a hidden answer key.
Also in there: three roles (officer, shift supervisor, duty manager), a welfare-check log for senders who go quiet, an audit log of who did what, and a box where you can type any message.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Click OPEN THE CONSOLE (or Alt+Tab to the browser, already open on http://127.0.0.1:5050). The loop on this slide is a short video of the same console playing a shift.
1. LIVE QUEUE: press PLAY, let messages arrive, then pause. Point at the dark panel: only what is overdue or silent. Open one row: full reasoning and draft reply.
2. HOW IT WORKS tab: pick a critical message, press REPLAY. Channel, six checks, named team, escalation ladder.
3. TRY A MESSAGE: click 'Prompt injection', TRIAGE IT: still critical. Then 'Unreadable language (stand-in)': to the interpreter desk at HIGH. Say the stand-in text is invented.
4. ESCALATION: drag the timeline to about +240 min, set ACTING AS to Shift supervisor, ACKNOWLEDGE an overdue row.
5. EVALUATION: point at the bars, then the AI-off row.
Do NOT press NEW SHIFT with an empty seed on stage: it makes live AI calls, costs credit and needs the internet. Typing a seed that has been run before (2026, 4242) is instant and free.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Be straight about what is real: the pipeline, the clocks, the silent-sender check, the audit trail and the real AI verdicts. Next: a shadow pilot for one wet season, real SMS and email feeds, and language phrases reviewed by speakers and held under community control. Never: auto-replies, lowering a priority, pretending to understand a language we can't read.
Our own warnings are on the slide: synthetic data, 30% of messages reach the critical clock because of the access boost, one model, English only.
End on: help people, never replace them. Then Questions. Backup slides follow if asked (they are hidden).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fairness, language, or what went wrong. Full detail is in the report (sections 3.4, 3.5, 3.6, Appendix J).</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six likely questions with one-line answers. The report's Appendix and /script.html have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s>
</file>

<file path=ppt/slides/_rels/slide2.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s>
</file>

<file path=ppt/slides/_rels/slide3.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image" Target="../media/image2.png"/><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1.png"/><Relationship Id="rId2" Type="http://schemas.openxmlformats.org/officeDocument/2006/relationships/notesSlide" Target="../notesSlides/notesSlide3.xml"/><Relationship Id="rId16"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5" Type="http://schemas.openxmlformats.org/officeDocument/2006/relationships/image" Target="../media/image4.png"/><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image" Target="../media/image7.png"/><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s>
</file>

<file path=ppt/slides/_rels/slide6.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slide" Target="slide10.xml"/><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s>
</file>

<file path=ppt/slides/_rels/slide7.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image" Target="../media/image10.png"/><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5" Type="http://schemas.openxmlformats.org/officeDocument/2006/relationships/image" Target="../media/image12.png"/><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image" Target="../media/image11.png"/></Relationships>
</file>

<file path=ppt/slides/_rels/slide8.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hyperlink" Target="http://127.0.0.1:5050/?t=90&amp;msg=L003#journey" TargetMode="External"/><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hyperlink" Target="http://127.0.0.1:5050/?t=60#queue" TargetMode="External"/><Relationship Id="rId17" Type="http://schemas.openxmlformats.org/officeDocument/2006/relationships/image" Target="../media/image13.gif"/><Relationship Id="rId2" Type="http://schemas.openxmlformats.org/officeDocument/2006/relationships/notesSlide" Target="../notesSlides/notesSlide8.xml"/><Relationship Id="rId16" Type="http://schemas.openxmlformats.org/officeDocument/2006/relationships/hyperlink" Target="http://127.0.0.1:5050/?t=480#compare" TargetMode="Externa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5" Type="http://schemas.openxmlformats.org/officeDocument/2006/relationships/hyperlink" Target="http://127.0.0.1:5050/?t=240#queue" TargetMode="Externa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hyperlink" Target="http://127.0.0.1:5050/#try" TargetMode="External"/></Relationships>
</file>

<file path=ppt/slides/_rels/slide9.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image" Target="../media/image15.png"/><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5" Type="http://schemas.openxmlformats.org/officeDocument/2006/relationships/slide" Target="slide11.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E0561A"/>
          </a:solidFill>
          <a:ln w="12700">
            <a:solidFill>
              <a:srgbClr val="E0561A"/>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Kicker"/>
          <p:cNvSpPr txBox="1"/>
          <p:nvPr/>
        </p:nvSpPr>
        <p:spPr>
          <a:xfrm>
            <a:off x="548640" y="502920"/>
            <a:ext cx="4023360" cy="228600"/>
          </a:xfrm>
          <a:prstGeom prst="rect">
            <a:avLst/>
          </a:prstGeom>
          <a:noFill/>
          <a:ln/>
        </p:spPr>
        <p:txBody>
          <a:bodyPr wrap="square" lIns="0" tIns="0" rIns="0" bIns="0" rtlCol="0" anchor="t"/>
          <a:lstStyle/>
          <a:p>
            <a:pPr marL="0" indent="0">
              <a:buNone/>
            </a:pPr>
            <a:r>
              <a:rPr lang="en-US" sz="1000" b="1" kern="0" spc="200" dirty="0">
                <a:solidFill>
                  <a:srgbClr val="E0561A"/>
                </a:solidFill>
                <a:latin typeface="Consolas" pitchFamily="34" charset="0"/>
                <a:ea typeface="Consolas" pitchFamily="34" charset="-122"/>
                <a:cs typeface="Consolas" pitchFamily="34" charset="-120"/>
              </a:rPr>
              <a:t>CODE FAIR 2026  ·  AI CHALLENGE 5</a:t>
            </a:r>
            <a:endParaRPr lang="en-US" sz="1000" dirty="0"/>
          </a:p>
        </p:txBody>
      </p:sp>
      <p:sp>
        <p:nvSpPr>
          <p:cNvPr id="13" name="Title"/>
          <p:cNvSpPr txBox="1"/>
          <p:nvPr/>
        </p:nvSpPr>
        <p:spPr>
          <a:xfrm>
            <a:off x="548640" y="914400"/>
            <a:ext cx="3840480" cy="2011680"/>
          </a:xfrm>
          <a:prstGeom prst="rect">
            <a:avLst/>
          </a:prstGeom>
          <a:noFill/>
          <a:ln/>
        </p:spPr>
        <p:txBody>
          <a:bodyPr wrap="square" lIns="0" tIns="0" rIns="0" bIns="0" rtlCol="0" anchor="t"/>
          <a:lstStyle/>
          <a:p>
            <a:pPr marL="0" indent="0">
              <a:buNone/>
            </a:pPr>
            <a:r>
              <a:rPr lang="en-US" sz="4000" b="1" dirty="0">
                <a:solidFill>
                  <a:srgbClr val="F3EFE6"/>
                </a:solidFill>
                <a:latin typeface="Calibri" pitchFamily="34" charset="0"/>
                <a:ea typeface="Calibri" pitchFamily="34" charset="-122"/>
                <a:cs typeface="Calibri" pitchFamily="34" charset="-120"/>
              </a:rPr>
              <a:t>Every urgent message reaches a person.</a:t>
            </a:r>
            <a:endParaRPr lang="en-US" sz="4000" dirty="0"/>
          </a:p>
        </p:txBody>
      </p:sp>
      <p:sp>
        <p:nvSpPr>
          <p:cNvPr id="14" name="Subtitle"/>
          <p:cNvSpPr txBox="1"/>
          <p:nvPr/>
        </p:nvSpPr>
        <p:spPr>
          <a:xfrm>
            <a:off x="548640" y="3017520"/>
            <a:ext cx="3566160" cy="914400"/>
          </a:xfrm>
          <a:prstGeom prst="rect">
            <a:avLst/>
          </a:prstGeom>
          <a:noFill/>
          <a:ln/>
        </p:spPr>
        <p:txBody>
          <a:bodyPr wrap="square" lIns="0" tIns="0" rIns="0" bIns="0" rtlCol="0" anchor="t"/>
          <a:lstStyle/>
          <a:p>
            <a:pPr marL="0" indent="0">
              <a:buNone/>
            </a:pPr>
            <a:r>
              <a:rPr lang="en-US" sz="1600" dirty="0">
                <a:solidFill>
                  <a:srgbClr val="9AA1AD"/>
                </a:solidFill>
                <a:latin typeface="Calibri" pitchFamily="34" charset="0"/>
                <a:ea typeface="Calibri" pitchFamily="34" charset="-122"/>
                <a:cs typeface="Calibri" pitchFamily="34" charset="-120"/>
              </a:rPr>
              <a:t>NT Correspondence Triage. It sorts, routes and explains every message, and it never replies by itself.</a:t>
            </a:r>
            <a:endParaRPr lang="en-US" sz="1600" dirty="0"/>
          </a:p>
        </p:txBody>
      </p:sp>
      <p:sp>
        <p:nvSpPr>
          <p:cNvPr id="15" name="Team"/>
          <p:cNvSpPr txBox="1"/>
          <p:nvPr/>
        </p:nvSpPr>
        <p:spPr>
          <a:xfrm>
            <a:off x="548640" y="4297680"/>
            <a:ext cx="228600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TEAM AIC023</a:t>
            </a:r>
            <a:endParaRPr lang="en-US" sz="1000" dirty="0"/>
          </a:p>
        </p:txBody>
      </p:sp>
      <p:sp>
        <p:nvSpPr>
          <p:cNvPr id="16" name="Inbox panel"/>
          <p:cNvSpPr/>
          <p:nvPr/>
        </p:nvSpPr>
        <p:spPr>
          <a:xfrm>
            <a:off x="4617720" y="457200"/>
            <a:ext cx="4023360" cy="4069080"/>
          </a:xfrm>
          <a:prstGeom prst="roundRect">
            <a:avLst>
              <a:gd name="adj" fmla="val 2273"/>
            </a:avLst>
          </a:prstGeom>
          <a:solidFill>
            <a:srgbClr val="161B23"/>
          </a:solidFill>
          <a:ln w="12700">
            <a:solidFill>
              <a:srgbClr val="2A323E"/>
            </a:solidFill>
            <a:prstDash val="solid"/>
          </a:ln>
        </p:spPr>
      </p:sp>
      <p:sp>
        <p:nvSpPr>
          <p:cNvPr id="17" name="Inbox header"/>
          <p:cNvSpPr txBox="1"/>
          <p:nvPr/>
        </p:nvSpPr>
        <p:spPr>
          <a:xfrm>
            <a:off x="4800600" y="603504"/>
            <a:ext cx="347472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INBOX  ·  06:41  ·  43 UNREAD</a:t>
            </a:r>
            <a:endParaRPr lang="en-US" sz="1000" dirty="0"/>
          </a:p>
        </p:txBody>
      </p:sp>
      <p:sp>
        <p:nvSpPr>
          <p:cNvPr id="18" name="Inbox row 1"/>
          <p:cNvSpPr/>
          <p:nvPr/>
        </p:nvSpPr>
        <p:spPr>
          <a:xfrm>
            <a:off x="4754880" y="932688"/>
            <a:ext cx="3749040" cy="310896"/>
          </a:xfrm>
          <a:prstGeom prst="roundRect">
            <a:avLst>
              <a:gd name="adj" fmla="val 17647"/>
            </a:avLst>
          </a:prstGeom>
          <a:solidFill>
            <a:srgbClr val="1C222C"/>
          </a:solidFill>
          <a:ln w="9525">
            <a:solidFill>
              <a:srgbClr val="2A323E"/>
            </a:solidFill>
            <a:prstDash val="solid"/>
          </a:ln>
        </p:spPr>
      </p:sp>
      <p:sp>
        <p:nvSpPr>
          <p:cNvPr id="19" name="Inbox time 1"/>
          <p:cNvSpPr txBox="1"/>
          <p:nvPr/>
        </p:nvSpPr>
        <p:spPr>
          <a:xfrm>
            <a:off x="4846320" y="99669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06:12</a:t>
            </a:r>
            <a:endParaRPr lang="en-US" sz="1000" dirty="0"/>
          </a:p>
        </p:txBody>
      </p:sp>
      <p:sp>
        <p:nvSpPr>
          <p:cNvPr id="20" name="Inbox text 1"/>
          <p:cNvSpPr txBox="1"/>
          <p:nvPr/>
        </p:nvSpPr>
        <p:spPr>
          <a:xfrm>
            <a:off x="5394960" y="97840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can i get a receipt for my application</a:t>
            </a:r>
            <a:endParaRPr lang="en-US" sz="1200" dirty="0"/>
          </a:p>
        </p:txBody>
      </p:sp>
      <p:sp>
        <p:nvSpPr>
          <p:cNvPr id="21" name="Inbox row 2"/>
          <p:cNvSpPr/>
          <p:nvPr/>
        </p:nvSpPr>
        <p:spPr>
          <a:xfrm>
            <a:off x="4754880" y="1298448"/>
            <a:ext cx="3749040" cy="310896"/>
          </a:xfrm>
          <a:prstGeom prst="roundRect">
            <a:avLst>
              <a:gd name="adj" fmla="val 17647"/>
            </a:avLst>
          </a:prstGeom>
          <a:solidFill>
            <a:srgbClr val="1C222C"/>
          </a:solidFill>
          <a:ln w="9525">
            <a:solidFill>
              <a:srgbClr val="2A323E"/>
            </a:solidFill>
            <a:prstDash val="solid"/>
          </a:ln>
        </p:spPr>
      </p:sp>
      <p:sp>
        <p:nvSpPr>
          <p:cNvPr id="22" name="Inbox time 2"/>
          <p:cNvSpPr txBox="1"/>
          <p:nvPr/>
        </p:nvSpPr>
        <p:spPr>
          <a:xfrm>
            <a:off x="4846320" y="136245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06:15</a:t>
            </a:r>
            <a:endParaRPr lang="en-US" sz="1000" dirty="0"/>
          </a:p>
        </p:txBody>
      </p:sp>
      <p:sp>
        <p:nvSpPr>
          <p:cNvPr id="23" name="Inbox text 2"/>
          <p:cNvSpPr txBox="1"/>
          <p:nvPr/>
        </p:nvSpPr>
        <p:spPr>
          <a:xfrm>
            <a:off x="5394960" y="134416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bin day changed after the storm?</a:t>
            </a:r>
            <a:endParaRPr lang="en-US" sz="1200" dirty="0"/>
          </a:p>
        </p:txBody>
      </p:sp>
      <p:sp>
        <p:nvSpPr>
          <p:cNvPr id="24" name="Inbox row 3"/>
          <p:cNvSpPr/>
          <p:nvPr/>
        </p:nvSpPr>
        <p:spPr>
          <a:xfrm>
            <a:off x="4754880" y="1664208"/>
            <a:ext cx="3749040" cy="310896"/>
          </a:xfrm>
          <a:prstGeom prst="roundRect">
            <a:avLst>
              <a:gd name="adj" fmla="val 17647"/>
            </a:avLst>
          </a:prstGeom>
          <a:solidFill>
            <a:srgbClr val="1C222C"/>
          </a:solidFill>
          <a:ln w="9525">
            <a:solidFill>
              <a:srgbClr val="2A323E"/>
            </a:solidFill>
            <a:prstDash val="solid"/>
          </a:ln>
        </p:spPr>
      </p:sp>
      <p:sp>
        <p:nvSpPr>
          <p:cNvPr id="25" name="Inbox time 3"/>
          <p:cNvSpPr txBox="1"/>
          <p:nvPr/>
        </p:nvSpPr>
        <p:spPr>
          <a:xfrm>
            <a:off x="4846320" y="172821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06:19</a:t>
            </a:r>
            <a:endParaRPr lang="en-US" sz="1000" dirty="0"/>
          </a:p>
        </p:txBody>
      </p:sp>
      <p:sp>
        <p:nvSpPr>
          <p:cNvPr id="26" name="Inbox text 3"/>
          <p:cNvSpPr txBox="1"/>
          <p:nvPr/>
        </p:nvSpPr>
        <p:spPr>
          <a:xfrm>
            <a:off x="5394960" y="170992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update the address on my account</a:t>
            </a:r>
            <a:endParaRPr lang="en-US" sz="1200" dirty="0"/>
          </a:p>
        </p:txBody>
      </p:sp>
      <p:sp>
        <p:nvSpPr>
          <p:cNvPr id="27" name="Inbox row 4"/>
          <p:cNvSpPr/>
          <p:nvPr/>
        </p:nvSpPr>
        <p:spPr>
          <a:xfrm>
            <a:off x="4754880" y="2029968"/>
            <a:ext cx="3749040" cy="310896"/>
          </a:xfrm>
          <a:prstGeom prst="roundRect">
            <a:avLst>
              <a:gd name="adj" fmla="val 17647"/>
            </a:avLst>
          </a:prstGeom>
          <a:solidFill>
            <a:srgbClr val="1C222C"/>
          </a:solidFill>
          <a:ln w="9525">
            <a:solidFill>
              <a:srgbClr val="2A323E"/>
            </a:solidFill>
            <a:prstDash val="solid"/>
          </a:ln>
        </p:spPr>
      </p:sp>
      <p:sp>
        <p:nvSpPr>
          <p:cNvPr id="28" name="Inbox time 4"/>
          <p:cNvSpPr txBox="1"/>
          <p:nvPr/>
        </p:nvSpPr>
        <p:spPr>
          <a:xfrm>
            <a:off x="4846320" y="209397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06:24</a:t>
            </a:r>
            <a:endParaRPr lang="en-US" sz="1000" dirty="0"/>
          </a:p>
        </p:txBody>
      </p:sp>
      <p:sp>
        <p:nvSpPr>
          <p:cNvPr id="29" name="Inbox text 4"/>
          <p:cNvSpPr txBox="1"/>
          <p:nvPr/>
        </p:nvSpPr>
        <p:spPr>
          <a:xfrm>
            <a:off x="5394960" y="207568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thanks for the quick reply last week</a:t>
            </a:r>
            <a:endParaRPr lang="en-US" sz="1200" dirty="0"/>
          </a:p>
        </p:txBody>
      </p:sp>
      <p:sp>
        <p:nvSpPr>
          <p:cNvPr id="30" name="Inbox row 5"/>
          <p:cNvSpPr/>
          <p:nvPr/>
        </p:nvSpPr>
        <p:spPr>
          <a:xfrm>
            <a:off x="4754880" y="2395728"/>
            <a:ext cx="3749040" cy="310896"/>
          </a:xfrm>
          <a:prstGeom prst="roundRect">
            <a:avLst>
              <a:gd name="adj" fmla="val 17647"/>
            </a:avLst>
          </a:prstGeom>
          <a:solidFill>
            <a:srgbClr val="1C222C"/>
          </a:solidFill>
          <a:ln w="9525">
            <a:solidFill>
              <a:srgbClr val="2A323E"/>
            </a:solidFill>
            <a:prstDash val="solid"/>
          </a:ln>
        </p:spPr>
      </p:sp>
      <p:sp>
        <p:nvSpPr>
          <p:cNvPr id="31" name="Inbox time 5"/>
          <p:cNvSpPr txBox="1"/>
          <p:nvPr/>
        </p:nvSpPr>
        <p:spPr>
          <a:xfrm>
            <a:off x="4846320" y="245973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06:26</a:t>
            </a:r>
            <a:endParaRPr lang="en-US" sz="1000" dirty="0"/>
          </a:p>
        </p:txBody>
      </p:sp>
      <p:sp>
        <p:nvSpPr>
          <p:cNvPr id="32" name="Inbox text 5"/>
          <p:cNvSpPr txBox="1"/>
          <p:nvPr/>
        </p:nvSpPr>
        <p:spPr>
          <a:xfrm>
            <a:off x="5394960" y="244144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opening hours over Easter?</a:t>
            </a:r>
            <a:endParaRPr lang="en-US" sz="1200" dirty="0"/>
          </a:p>
        </p:txBody>
      </p:sp>
      <p:sp>
        <p:nvSpPr>
          <p:cNvPr id="33" name="Inbox row 6"/>
          <p:cNvSpPr/>
          <p:nvPr/>
        </p:nvSpPr>
        <p:spPr>
          <a:xfrm>
            <a:off x="4754880" y="2761488"/>
            <a:ext cx="3749040" cy="310896"/>
          </a:xfrm>
          <a:prstGeom prst="roundRect">
            <a:avLst>
              <a:gd name="adj" fmla="val 17647"/>
            </a:avLst>
          </a:prstGeom>
          <a:solidFill>
            <a:srgbClr val="3A1822"/>
          </a:solidFill>
          <a:ln w="19050">
            <a:solidFill>
              <a:srgbClr val="E03A52"/>
            </a:solidFill>
            <a:prstDash val="solid"/>
          </a:ln>
        </p:spPr>
      </p:sp>
      <p:sp>
        <p:nvSpPr>
          <p:cNvPr id="34" name="Inbox time 6"/>
          <p:cNvSpPr txBox="1"/>
          <p:nvPr/>
        </p:nvSpPr>
        <p:spPr>
          <a:xfrm>
            <a:off x="4846320" y="2825496"/>
            <a:ext cx="502920" cy="182880"/>
          </a:xfrm>
          <a:prstGeom prst="rect">
            <a:avLst/>
          </a:prstGeom>
          <a:noFill/>
          <a:ln/>
        </p:spPr>
        <p:txBody>
          <a:bodyPr wrap="square" lIns="0" tIns="0" rIns="0" bIns="0" rtlCol="0" anchor="t"/>
          <a:lstStyle/>
          <a:p>
            <a:pPr marL="0" indent="0">
              <a:buNone/>
            </a:pPr>
            <a:r>
              <a:rPr lang="en-US" sz="1000" dirty="0">
                <a:solidFill>
                  <a:srgbClr val="FF8A99"/>
                </a:solidFill>
                <a:latin typeface="Consolas" pitchFamily="34" charset="0"/>
                <a:ea typeface="Consolas" pitchFamily="34" charset="-122"/>
                <a:cs typeface="Consolas" pitchFamily="34" charset="-120"/>
              </a:rPr>
              <a:t>06:28</a:t>
            </a:r>
            <a:endParaRPr lang="en-US" sz="1000" dirty="0"/>
          </a:p>
        </p:txBody>
      </p:sp>
      <p:sp>
        <p:nvSpPr>
          <p:cNvPr id="35" name="Inbox text 6"/>
          <p:cNvSpPr txBox="1"/>
          <p:nvPr/>
        </p:nvSpPr>
        <p:spPr>
          <a:xfrm>
            <a:off x="5394960" y="2807208"/>
            <a:ext cx="3063240" cy="228600"/>
          </a:xfrm>
          <a:prstGeom prst="rect">
            <a:avLst/>
          </a:prstGeom>
          <a:noFill/>
          <a:ln/>
        </p:spPr>
        <p:txBody>
          <a:bodyPr wrap="square" lIns="0" tIns="0" rIns="0" bIns="0" rtlCol="0" anchor="t">
            <a:normAutofit/>
          </a:bodyPr>
          <a:lstStyle/>
          <a:p>
            <a:pPr marL="0" indent="0">
              <a:buNone/>
            </a:pPr>
            <a:r>
              <a:rPr lang="en-US" sz="1200" b="1" dirty="0">
                <a:solidFill>
                  <a:srgbClr val="FFFFFF"/>
                </a:solidFill>
                <a:latin typeface="Calibri" pitchFamily="34" charset="0"/>
                <a:ea typeface="Calibri" pitchFamily="34" charset="-122"/>
                <a:cs typeface="Calibri" pitchFamily="34" charset="-120"/>
              </a:rPr>
              <a:t>my mum collapsed and is not responding</a:t>
            </a:r>
            <a:endParaRPr lang="en-US" sz="1200" dirty="0"/>
          </a:p>
        </p:txBody>
      </p:sp>
      <p:sp>
        <p:nvSpPr>
          <p:cNvPr id="36" name="Inbox row 7"/>
          <p:cNvSpPr/>
          <p:nvPr/>
        </p:nvSpPr>
        <p:spPr>
          <a:xfrm>
            <a:off x="4754880" y="3127248"/>
            <a:ext cx="3749040" cy="310896"/>
          </a:xfrm>
          <a:prstGeom prst="roundRect">
            <a:avLst>
              <a:gd name="adj" fmla="val 17647"/>
            </a:avLst>
          </a:prstGeom>
          <a:solidFill>
            <a:srgbClr val="1C222C"/>
          </a:solidFill>
          <a:ln w="9525">
            <a:solidFill>
              <a:srgbClr val="2A323E"/>
            </a:solidFill>
            <a:prstDash val="solid"/>
          </a:ln>
        </p:spPr>
      </p:sp>
      <p:sp>
        <p:nvSpPr>
          <p:cNvPr id="37" name="Inbox time 7"/>
          <p:cNvSpPr txBox="1"/>
          <p:nvPr/>
        </p:nvSpPr>
        <p:spPr>
          <a:xfrm>
            <a:off x="4846320" y="319125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06:31</a:t>
            </a:r>
            <a:endParaRPr lang="en-US" sz="1000" dirty="0"/>
          </a:p>
        </p:txBody>
      </p:sp>
      <p:sp>
        <p:nvSpPr>
          <p:cNvPr id="38" name="Inbox text 7"/>
          <p:cNvSpPr txBox="1"/>
          <p:nvPr/>
        </p:nvSpPr>
        <p:spPr>
          <a:xfrm>
            <a:off x="5394960" y="317296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street light out near the bus stop</a:t>
            </a:r>
            <a:endParaRPr lang="en-US" sz="1200" dirty="0"/>
          </a:p>
        </p:txBody>
      </p:sp>
      <p:sp>
        <p:nvSpPr>
          <p:cNvPr id="39" name="Inbox row 8"/>
          <p:cNvSpPr/>
          <p:nvPr/>
        </p:nvSpPr>
        <p:spPr>
          <a:xfrm>
            <a:off x="4754880" y="3493008"/>
            <a:ext cx="3749040" cy="310896"/>
          </a:xfrm>
          <a:prstGeom prst="roundRect">
            <a:avLst>
              <a:gd name="adj" fmla="val 17647"/>
            </a:avLst>
          </a:prstGeom>
          <a:solidFill>
            <a:srgbClr val="1C222C"/>
          </a:solidFill>
          <a:ln w="9525">
            <a:solidFill>
              <a:srgbClr val="2A323E"/>
            </a:solidFill>
            <a:prstDash val="solid"/>
          </a:ln>
        </p:spPr>
      </p:sp>
      <p:sp>
        <p:nvSpPr>
          <p:cNvPr id="40" name="Inbox time 8"/>
          <p:cNvSpPr txBox="1"/>
          <p:nvPr/>
        </p:nvSpPr>
        <p:spPr>
          <a:xfrm>
            <a:off x="4846320" y="355701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06:36</a:t>
            </a:r>
            <a:endParaRPr lang="en-US" sz="1000" dirty="0"/>
          </a:p>
        </p:txBody>
      </p:sp>
      <p:sp>
        <p:nvSpPr>
          <p:cNvPr id="41" name="Inbox text 8"/>
          <p:cNvSpPr txBox="1"/>
          <p:nvPr/>
        </p:nvSpPr>
        <p:spPr>
          <a:xfrm>
            <a:off x="5394960" y="353872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renewal form: which box do I tick</a:t>
            </a:r>
            <a:endParaRPr lang="en-US" sz="1200" dirty="0"/>
          </a:p>
        </p:txBody>
      </p:sp>
      <p:sp>
        <p:nvSpPr>
          <p:cNvPr id="42" name="Inbox row 9"/>
          <p:cNvSpPr/>
          <p:nvPr/>
        </p:nvSpPr>
        <p:spPr>
          <a:xfrm>
            <a:off x="4754880" y="3858768"/>
            <a:ext cx="3749040" cy="310896"/>
          </a:xfrm>
          <a:prstGeom prst="roundRect">
            <a:avLst>
              <a:gd name="adj" fmla="val 17647"/>
            </a:avLst>
          </a:prstGeom>
          <a:solidFill>
            <a:srgbClr val="1C222C"/>
          </a:solidFill>
          <a:ln w="9525">
            <a:solidFill>
              <a:srgbClr val="2A323E"/>
            </a:solidFill>
            <a:prstDash val="solid"/>
          </a:ln>
        </p:spPr>
      </p:sp>
      <p:sp>
        <p:nvSpPr>
          <p:cNvPr id="43" name="Inbox time 9"/>
          <p:cNvSpPr txBox="1"/>
          <p:nvPr/>
        </p:nvSpPr>
        <p:spPr>
          <a:xfrm>
            <a:off x="4846320" y="392277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06:38</a:t>
            </a:r>
            <a:endParaRPr lang="en-US" sz="1000" dirty="0"/>
          </a:p>
        </p:txBody>
      </p:sp>
      <p:sp>
        <p:nvSpPr>
          <p:cNvPr id="44" name="Inbox text 9"/>
          <p:cNvSpPr txBox="1"/>
          <p:nvPr/>
        </p:nvSpPr>
        <p:spPr>
          <a:xfrm>
            <a:off x="5394960" y="390448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how do i sign up for the training course</a:t>
            </a:r>
            <a:endParaRPr lang="en-US" sz="1200" dirty="0"/>
          </a:p>
        </p:txBody>
      </p:sp>
      <p:sp>
        <p:nvSpPr>
          <p:cNvPr id="45" name="Inbox callout"/>
          <p:cNvSpPr txBox="1"/>
          <p:nvPr/>
        </p:nvSpPr>
        <p:spPr>
          <a:xfrm>
            <a:off x="4800600" y="4206240"/>
            <a:ext cx="3566160" cy="256032"/>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One of these is an emergency.</a:t>
            </a:r>
            <a:endParaRPr lang="en-US" sz="14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25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250"/>
                                        <p:tgtEl>
                                          <p:spTgt spid="1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250"/>
                                        <p:tgtEl>
                                          <p:spTgt spid="20"/>
                                        </p:tgtEl>
                                      </p:cBhvr>
                                    </p:animEffect>
                                  </p:childTnLst>
                                </p:cTn>
                              </p:par>
                            </p:childTnLst>
                          </p:cTn>
                        </p:par>
                        <p:par>
                          <p:cTn id="14" fill="hold">
                            <p:stCondLst>
                              <p:cond delay="250"/>
                            </p:stCondLst>
                            <p:childTnLst>
                              <p:par>
                                <p:cTn id="15" presetID="10" presetClass="entr" presetSubtype="0" fill="hold" nodeType="after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250"/>
                                        <p:tgtEl>
                                          <p:spTgt spid="2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250"/>
                                        <p:tgtEl>
                                          <p:spTgt spid="2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250"/>
                                        <p:tgtEl>
                                          <p:spTgt spid="23"/>
                                        </p:tgtEl>
                                      </p:cBhvr>
                                    </p:animEffect>
                                  </p:childTnLst>
                                </p:cTn>
                              </p:par>
                            </p:childTnLst>
                          </p:cTn>
                        </p:par>
                        <p:par>
                          <p:cTn id="24" fill="hold">
                            <p:stCondLst>
                              <p:cond delay="500"/>
                            </p:stCondLst>
                            <p:childTnLst>
                              <p:par>
                                <p:cTn id="25" presetID="10" presetClass="entr" presetSubtype="0" fill="hold"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25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25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250"/>
                                        <p:tgtEl>
                                          <p:spTgt spid="26"/>
                                        </p:tgtEl>
                                      </p:cBhvr>
                                    </p:animEffect>
                                  </p:childTnLst>
                                </p:cTn>
                              </p:par>
                            </p:childTnLst>
                          </p:cTn>
                        </p:par>
                        <p:par>
                          <p:cTn id="34" fill="hold">
                            <p:stCondLst>
                              <p:cond delay="750"/>
                            </p:stCondLst>
                            <p:childTnLst>
                              <p:par>
                                <p:cTn id="35" presetID="10" presetClass="entr" presetSubtype="0" fill="hold" nodeType="after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25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25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250"/>
                                        <p:tgtEl>
                                          <p:spTgt spid="29"/>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250"/>
                                        <p:tgtEl>
                                          <p:spTgt spid="3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25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250"/>
                                        <p:tgtEl>
                                          <p:spTgt spid="32"/>
                                        </p:tgtEl>
                                      </p:cBhvr>
                                    </p:animEffect>
                                  </p:childTnLst>
                                </p:cTn>
                              </p:par>
                            </p:childTnLst>
                          </p:cTn>
                        </p:par>
                        <p:par>
                          <p:cTn id="54" fill="hold">
                            <p:stCondLst>
                              <p:cond delay="1250"/>
                            </p:stCondLst>
                            <p:childTnLst>
                              <p:par>
                                <p:cTn id="55" presetID="10" presetClass="entr" presetSubtype="0" fill="hold"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250"/>
                                        <p:tgtEl>
                                          <p:spTgt spid="3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4"/>
                                        </p:tgtEl>
                                        <p:attrNameLst>
                                          <p:attrName>style.visibility</p:attrName>
                                        </p:attrNameLst>
                                      </p:cBhvr>
                                      <p:to>
                                        <p:strVal val="visible"/>
                                      </p:to>
                                    </p:set>
                                    <p:animEffect transition="in" filter="fade">
                                      <p:cBhvr>
                                        <p:cTn id="60" dur="250"/>
                                        <p:tgtEl>
                                          <p:spTgt spid="3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5"/>
                                        </p:tgtEl>
                                        <p:attrNameLst>
                                          <p:attrName>style.visibility</p:attrName>
                                        </p:attrNameLst>
                                      </p:cBhvr>
                                      <p:to>
                                        <p:strVal val="visible"/>
                                      </p:to>
                                    </p:set>
                                    <p:animEffect transition="in" filter="fade">
                                      <p:cBhvr>
                                        <p:cTn id="63" dur="250"/>
                                        <p:tgtEl>
                                          <p:spTgt spid="35"/>
                                        </p:tgtEl>
                                      </p:cBhvr>
                                    </p:animEffect>
                                  </p:childTnLst>
                                </p:cTn>
                              </p:par>
                            </p:childTnLst>
                          </p:cTn>
                        </p:par>
                        <p:par>
                          <p:cTn id="64" fill="hold">
                            <p:stCondLst>
                              <p:cond delay="1500"/>
                            </p:stCondLst>
                            <p:childTnLst>
                              <p:par>
                                <p:cTn id="65" presetID="10" presetClass="entr" presetSubtype="0" fill="hold" nodeType="after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250"/>
                                        <p:tgtEl>
                                          <p:spTgt spid="3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250"/>
                                        <p:tgtEl>
                                          <p:spTgt spid="3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250"/>
                                        <p:tgtEl>
                                          <p:spTgt spid="38"/>
                                        </p:tgtEl>
                                      </p:cBhvr>
                                    </p:animEffect>
                                  </p:childTnLst>
                                </p:cTn>
                              </p:par>
                            </p:childTnLst>
                          </p:cTn>
                        </p:par>
                        <p:par>
                          <p:cTn id="74" fill="hold">
                            <p:stCondLst>
                              <p:cond delay="1750"/>
                            </p:stCondLst>
                            <p:childTnLst>
                              <p:par>
                                <p:cTn id="75" presetID="10" presetClass="entr" presetSubtype="0" fill="hold" nodeType="after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250"/>
                                        <p:tgtEl>
                                          <p:spTgt spid="3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0"/>
                                        </p:tgtEl>
                                        <p:attrNameLst>
                                          <p:attrName>style.visibility</p:attrName>
                                        </p:attrNameLst>
                                      </p:cBhvr>
                                      <p:to>
                                        <p:strVal val="visible"/>
                                      </p:to>
                                    </p:set>
                                    <p:animEffect transition="in" filter="fade">
                                      <p:cBhvr>
                                        <p:cTn id="80" dur="250"/>
                                        <p:tgtEl>
                                          <p:spTgt spid="4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1"/>
                                        </p:tgtEl>
                                        <p:attrNameLst>
                                          <p:attrName>style.visibility</p:attrName>
                                        </p:attrNameLst>
                                      </p:cBhvr>
                                      <p:to>
                                        <p:strVal val="visible"/>
                                      </p:to>
                                    </p:set>
                                    <p:animEffect transition="in" filter="fade">
                                      <p:cBhvr>
                                        <p:cTn id="83" dur="250"/>
                                        <p:tgtEl>
                                          <p:spTgt spid="41"/>
                                        </p:tgtEl>
                                      </p:cBhvr>
                                    </p:animEffect>
                                  </p:childTnLst>
                                </p:cTn>
                              </p:par>
                            </p:childTnLst>
                          </p:cTn>
                        </p:par>
                        <p:par>
                          <p:cTn id="84" fill="hold">
                            <p:stCondLst>
                              <p:cond delay="2000"/>
                            </p:stCondLst>
                            <p:childTnLst>
                              <p:par>
                                <p:cTn id="85" presetID="10" presetClass="entr" presetSubtype="0" fill="hold" nodeType="afterEffect">
                                  <p:stCondLst>
                                    <p:cond delay="0"/>
                                  </p:stCondLst>
                                  <p:childTnLst>
                                    <p:set>
                                      <p:cBhvr>
                                        <p:cTn id="86" dur="1" fill="hold">
                                          <p:stCondLst>
                                            <p:cond delay="0"/>
                                          </p:stCondLst>
                                        </p:cTn>
                                        <p:tgtEl>
                                          <p:spTgt spid="42"/>
                                        </p:tgtEl>
                                        <p:attrNameLst>
                                          <p:attrName>style.visibility</p:attrName>
                                        </p:attrNameLst>
                                      </p:cBhvr>
                                      <p:to>
                                        <p:strVal val="visible"/>
                                      </p:to>
                                    </p:set>
                                    <p:animEffect transition="in" filter="fade">
                                      <p:cBhvr>
                                        <p:cTn id="87" dur="250"/>
                                        <p:tgtEl>
                                          <p:spTgt spid="4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fade">
                                      <p:cBhvr>
                                        <p:cTn id="90" dur="250"/>
                                        <p:tgtEl>
                                          <p:spTgt spid="4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fade">
                                      <p:cBhvr>
                                        <p:cTn id="93" dur="250"/>
                                        <p:tgtEl>
                                          <p:spTgt spid="44"/>
                                        </p:tgtEl>
                                      </p:cBhvr>
                                    </p:animEffect>
                                  </p:childTnLst>
                                </p:cTn>
                              </p:par>
                            </p:childTnLst>
                          </p:cTn>
                        </p:par>
                        <p:par>
                          <p:cTn id="94" fill="hold">
                            <p:stCondLst>
                              <p:cond delay="2250"/>
                            </p:stCondLst>
                            <p:childTnLst>
                              <p:par>
                                <p:cTn id="95" presetID="6" presetClass="emph" presetSubtype="0" fill="hold" nodeType="afterEffect">
                                  <p:stCondLst>
                                    <p:cond delay="300"/>
                                  </p:stCondLst>
                                  <p:childTnLst>
                                    <p:animScale>
                                      <p:cBhvr>
                                        <p:cTn id="96" dur="800" fill="hold"/>
                                        <p:tgtEl>
                                          <p:spTgt spid="33"/>
                                        </p:tgtEl>
                                      </p:cBhvr>
                                      <p:by x="150000" y="150000"/>
                                    </p:animScale>
                                  </p:childTnLst>
                                </p:cTn>
                              </p:par>
                            </p:childTnLst>
                          </p:cTn>
                        </p:par>
                        <p:par>
                          <p:cTn id="97" fill="hold">
                            <p:stCondLst>
                              <p:cond delay="3350"/>
                            </p:stCondLst>
                            <p:childTnLst>
                              <p:par>
                                <p:cTn id="98" presetID="10" presetClass="entr" presetSubtype="0" fill="hold" grpId="0" nodeType="afterEffect">
                                  <p:stCondLst>
                                    <p:cond delay="100"/>
                                  </p:stCondLst>
                                  <p:childTnLst>
                                    <p:set>
                                      <p:cBhvr>
                                        <p:cTn id="99" dur="1" fill="hold">
                                          <p:stCondLst>
                                            <p:cond delay="0"/>
                                          </p:stCondLst>
                                        </p:cTn>
                                        <p:tgtEl>
                                          <p:spTgt spid="45"/>
                                        </p:tgtEl>
                                        <p:attrNameLst>
                                          <p:attrName>style.visibility</p:attrName>
                                        </p:attrNameLst>
                                      </p:cBhvr>
                                      <p:to>
                                        <p:strVal val="visible"/>
                                      </p:to>
                                    </p:set>
                                    <p:animEffect transition="in" filter="fade">
                                      <p:cBhvr>
                                        <p:cTn id="10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2" grpId="0" animBg="1"/>
      <p:bldP spid="23" grpId="0" animBg="1"/>
      <p:bldP spid="25" grpId="0" animBg="1"/>
      <p:bldP spid="26" grpId="0" animBg="1"/>
      <p:bldP spid="28" grpId="0" animBg="1"/>
      <p:bldP spid="29" grpId="0" animBg="1"/>
      <p:bldP spid="31" grpId="0" animBg="1"/>
      <p:bldP spid="32" grpId="0" animBg="1"/>
      <p:bldP spid="34" grpId="0" animBg="1"/>
      <p:bldP spid="35" grpId="0" animBg="1"/>
      <p:bldP spid="37" grpId="0" animBg="1"/>
      <p:bldP spid="38" grpId="0" animBg="1"/>
      <p:bldP spid="40" grpId="0" animBg="1"/>
      <p:bldP spid="41" grpId="0" animBg="1"/>
      <p:bldP spid="43" grpId="0" animBg="1"/>
      <p:bldP spid="44" grpId="0" animBg="1"/>
      <p:bldP spid="4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E0561A"/>
          </a:solidFill>
          <a:ln w="12700">
            <a:solidFill>
              <a:srgbClr val="E0561A"/>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Kicker"/>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00" b="1" kern="0" spc="200" dirty="0">
                <a:solidFill>
                  <a:srgbClr val="E0561A"/>
                </a:solidFill>
                <a:latin typeface="Consolas" pitchFamily="34" charset="0"/>
                <a:ea typeface="Consolas" pitchFamily="34" charset="-122"/>
                <a:cs typeface="Consolas" pitchFamily="34" charset="-120"/>
              </a:rPr>
              <a:t>THE NORTHERN TERRITORY, WET SEASON</a:t>
            </a:r>
            <a:endParaRPr lang="en-US" sz="1000" dirty="0"/>
          </a:p>
        </p:txBody>
      </p:sp>
      <p:sp>
        <p:nvSpPr>
          <p:cNvPr id="13" name="Title"/>
          <p:cNvSpPr txBox="1"/>
          <p:nvPr/>
        </p:nvSpPr>
        <p:spPr>
          <a:xfrm>
            <a:off x="548640" y="868680"/>
            <a:ext cx="3566160" cy="155448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A short message, from a phone with one bar of signal.</a:t>
            </a:r>
            <a:endParaRPr lang="en-US" sz="3000" dirty="0"/>
          </a:p>
        </p:txBody>
      </p:sp>
      <p:sp>
        <p:nvSpPr>
          <p:cNvPr id="14" name="Context"/>
          <p:cNvSpPr txBox="1"/>
          <p:nvPr/>
        </p:nvSpPr>
        <p:spPr>
          <a:xfrm>
            <a:off x="548640" y="2606040"/>
            <a:ext cx="3474720" cy="1371600"/>
          </a:xfrm>
          <a:prstGeom prst="rect">
            <a:avLst/>
          </a:prstGeom>
          <a:noFill/>
          <a:ln/>
        </p:spPr>
        <p:txBody>
          <a:bodyPr wrap="square" lIns="0" tIns="0" rIns="0" bIns="0" rtlCol="0" anchor="t"/>
          <a:lstStyle/>
          <a:p>
            <a:pPr marL="0" indent="0">
              <a:buNone/>
            </a:pPr>
            <a:r>
              <a:rPr lang="en-US" sz="1400" dirty="0">
                <a:solidFill>
                  <a:srgbClr val="9AA1AD"/>
                </a:solidFill>
                <a:latin typeface="Calibri" pitchFamily="34" charset="0"/>
                <a:ea typeface="Calibri" pitchFamily="34" charset="-122"/>
                <a:cs typeface="Calibri" pitchFamily="34" charset="-120"/>
              </a:rPr>
              <a:t>From October to April the monsoon can cut roads and take out phone towers. In March 2024 it did both at Borroloola, and mobile coverage across the area went down.</a:t>
            </a:r>
            <a:endParaRPr lang="en-US" sz="1400" dirty="0"/>
          </a:p>
        </p:txBody>
      </p:sp>
      <p:sp>
        <p:nvSpPr>
          <p:cNvPr id="15" name="Sources"/>
          <p:cNvSpPr txBox="1"/>
          <p:nvPr/>
        </p:nvSpPr>
        <p:spPr>
          <a:xfrm>
            <a:off x="548640" y="4297680"/>
            <a:ext cx="365760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Sources: ABS, RMIT / ADM+S, AAP</a:t>
            </a:r>
            <a:endParaRPr lang="en-US" sz="1000" dirty="0"/>
          </a:p>
        </p:txBody>
      </p:sp>
      <p:sp>
        <p:nvSpPr>
          <p:cNvPr id="16" name="Stat card 1"/>
          <p:cNvSpPr/>
          <p:nvPr/>
        </p:nvSpPr>
        <p:spPr>
          <a:xfrm>
            <a:off x="4343400" y="457200"/>
            <a:ext cx="2057400" cy="1920240"/>
          </a:xfrm>
          <a:prstGeom prst="roundRect">
            <a:avLst>
              <a:gd name="adj" fmla="val 4762"/>
            </a:avLst>
          </a:prstGeom>
          <a:solidFill>
            <a:srgbClr val="161B23"/>
          </a:solidFill>
          <a:ln w="12700">
            <a:solidFill>
              <a:srgbClr val="2A323E"/>
            </a:solidFill>
            <a:prstDash val="solid"/>
          </a:ln>
        </p:spPr>
      </p:sp>
      <p:sp>
        <p:nvSpPr>
          <p:cNvPr id="17" name="Stat number 1"/>
          <p:cNvSpPr txBox="1"/>
          <p:nvPr/>
        </p:nvSpPr>
        <p:spPr>
          <a:xfrm>
            <a:off x="4507992" y="585216"/>
            <a:ext cx="1783080" cy="640080"/>
          </a:xfrm>
          <a:prstGeom prst="rect">
            <a:avLst/>
          </a:prstGeom>
          <a:noFill/>
          <a:ln/>
        </p:spPr>
        <p:txBody>
          <a:bodyPr wrap="square" lIns="0" tIns="0" rIns="0" bIns="0" rtlCol="0" anchor="t"/>
          <a:lstStyle/>
          <a:p>
            <a:pPr marL="0" indent="0">
              <a:buNone/>
            </a:pPr>
            <a:r>
              <a:rPr lang="en-US" sz="3800" b="1" dirty="0">
                <a:solidFill>
                  <a:srgbClr val="E0561A"/>
                </a:solidFill>
                <a:latin typeface="Calibri" pitchFamily="34" charset="0"/>
                <a:ea typeface="Calibri" pitchFamily="34" charset="-122"/>
                <a:cs typeface="Calibri" pitchFamily="34" charset="-120"/>
              </a:rPr>
              <a:t>58.5%</a:t>
            </a:r>
            <a:endParaRPr lang="en-US" sz="3800" dirty="0"/>
          </a:p>
        </p:txBody>
      </p:sp>
      <p:sp>
        <p:nvSpPr>
          <p:cNvPr id="18" name="Stat label 1"/>
          <p:cNvSpPr txBox="1"/>
          <p:nvPr/>
        </p:nvSpPr>
        <p:spPr>
          <a:xfrm>
            <a:off x="4507992" y="12618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of First Nations people speak an Indigenous language at home</a:t>
            </a:r>
            <a:endParaRPr lang="en-US" sz="1250" dirty="0"/>
          </a:p>
        </p:txBody>
      </p:sp>
      <p:sp>
        <p:nvSpPr>
          <p:cNvPr id="19" name="Stat source 1"/>
          <p:cNvSpPr txBox="1"/>
          <p:nvPr/>
        </p:nvSpPr>
        <p:spPr>
          <a:xfrm>
            <a:off x="4507992" y="20848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ABS, 2021 Census</a:t>
            </a:r>
            <a:endParaRPr lang="en-US" sz="1000" dirty="0"/>
          </a:p>
        </p:txBody>
      </p:sp>
      <p:sp>
        <p:nvSpPr>
          <p:cNvPr id="20" name="Stat card 2"/>
          <p:cNvSpPr/>
          <p:nvPr/>
        </p:nvSpPr>
        <p:spPr>
          <a:xfrm>
            <a:off x="6537960" y="457200"/>
            <a:ext cx="2057400" cy="1920240"/>
          </a:xfrm>
          <a:prstGeom prst="roundRect">
            <a:avLst>
              <a:gd name="adj" fmla="val 4762"/>
            </a:avLst>
          </a:prstGeom>
          <a:solidFill>
            <a:srgbClr val="161B23"/>
          </a:solidFill>
          <a:ln w="12700">
            <a:solidFill>
              <a:srgbClr val="2A323E"/>
            </a:solidFill>
            <a:prstDash val="solid"/>
          </a:ln>
        </p:spPr>
      </p:sp>
      <p:sp>
        <p:nvSpPr>
          <p:cNvPr id="21" name="Stat number 2"/>
          <p:cNvSpPr txBox="1"/>
          <p:nvPr/>
        </p:nvSpPr>
        <p:spPr>
          <a:xfrm>
            <a:off x="6702552" y="585216"/>
            <a:ext cx="1783080" cy="640080"/>
          </a:xfrm>
          <a:prstGeom prst="rect">
            <a:avLst/>
          </a:prstGeom>
          <a:noFill/>
          <a:ln/>
        </p:spPr>
        <p:txBody>
          <a:bodyPr wrap="square" lIns="0" tIns="0" rIns="0" bIns="0" rtlCol="0" anchor="t"/>
          <a:lstStyle/>
          <a:p>
            <a:pPr marL="0" indent="0">
              <a:buNone/>
            </a:pPr>
            <a:r>
              <a:rPr lang="en-US" sz="3800" b="1" dirty="0">
                <a:solidFill>
                  <a:srgbClr val="17A5A3"/>
                </a:solidFill>
                <a:latin typeface="Calibri" pitchFamily="34" charset="0"/>
                <a:ea typeface="Calibri" pitchFamily="34" charset="-122"/>
                <a:cs typeface="Calibri" pitchFamily="34" charset="-120"/>
              </a:rPr>
              <a:t>43%</a:t>
            </a:r>
            <a:endParaRPr lang="en-US" sz="3800" dirty="0"/>
          </a:p>
        </p:txBody>
      </p:sp>
      <p:sp>
        <p:nvSpPr>
          <p:cNvPr id="22" name="Stat label 2"/>
          <p:cNvSpPr txBox="1"/>
          <p:nvPr/>
        </p:nvSpPr>
        <p:spPr>
          <a:xfrm>
            <a:off x="6702552" y="12618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of First Nations communities and homelands have no mobile service</a:t>
            </a:r>
            <a:endParaRPr lang="en-US" sz="1250" dirty="0"/>
          </a:p>
        </p:txBody>
      </p:sp>
      <p:sp>
        <p:nvSpPr>
          <p:cNvPr id="23" name="Stat source 2"/>
          <p:cNvSpPr txBox="1"/>
          <p:nvPr/>
        </p:nvSpPr>
        <p:spPr>
          <a:xfrm>
            <a:off x="6702552" y="20848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RMIT / ADM+S, 2023</a:t>
            </a:r>
            <a:endParaRPr lang="en-US" sz="1000" dirty="0"/>
          </a:p>
        </p:txBody>
      </p:sp>
      <p:sp>
        <p:nvSpPr>
          <p:cNvPr id="24" name="Stat card 3"/>
          <p:cNvSpPr/>
          <p:nvPr/>
        </p:nvSpPr>
        <p:spPr>
          <a:xfrm>
            <a:off x="4343400" y="2514600"/>
            <a:ext cx="2057400" cy="1920240"/>
          </a:xfrm>
          <a:prstGeom prst="roundRect">
            <a:avLst>
              <a:gd name="adj" fmla="val 4762"/>
            </a:avLst>
          </a:prstGeom>
          <a:solidFill>
            <a:srgbClr val="161B23"/>
          </a:solidFill>
          <a:ln w="12700">
            <a:solidFill>
              <a:srgbClr val="2A323E"/>
            </a:solidFill>
            <a:prstDash val="solid"/>
          </a:ln>
        </p:spPr>
      </p:sp>
      <p:sp>
        <p:nvSpPr>
          <p:cNvPr id="25" name="Stat number 3"/>
          <p:cNvSpPr txBox="1"/>
          <p:nvPr/>
        </p:nvSpPr>
        <p:spPr>
          <a:xfrm>
            <a:off x="4507992" y="2642616"/>
            <a:ext cx="1783080" cy="640080"/>
          </a:xfrm>
          <a:prstGeom prst="rect">
            <a:avLst/>
          </a:prstGeom>
          <a:noFill/>
          <a:ln/>
        </p:spPr>
        <p:txBody>
          <a:bodyPr wrap="square" lIns="0" tIns="0" rIns="0" bIns="0" rtlCol="0" anchor="t"/>
          <a:lstStyle/>
          <a:p>
            <a:pPr marL="0" indent="0">
              <a:buNone/>
            </a:pPr>
            <a:r>
              <a:rPr lang="en-US" sz="3800" b="1" dirty="0">
                <a:solidFill>
                  <a:srgbClr val="F2B84B"/>
                </a:solidFill>
                <a:latin typeface="Calibri" pitchFamily="34" charset="0"/>
                <a:ea typeface="Calibri" pitchFamily="34" charset="-122"/>
                <a:cs typeface="Calibri" pitchFamily="34" charset="-120"/>
              </a:rPr>
              <a:t>3 in 4</a:t>
            </a:r>
            <a:endParaRPr lang="en-US" sz="3800" dirty="0"/>
          </a:p>
        </p:txBody>
      </p:sp>
      <p:sp>
        <p:nvSpPr>
          <p:cNvPr id="26" name="Stat label 3"/>
          <p:cNvSpPr txBox="1"/>
          <p:nvPr/>
        </p:nvSpPr>
        <p:spPr>
          <a:xfrm>
            <a:off x="4507992" y="33192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First Nations people in remote communities are digitally excluded</a:t>
            </a:r>
            <a:endParaRPr lang="en-US" sz="1250" dirty="0"/>
          </a:p>
        </p:txBody>
      </p:sp>
      <p:sp>
        <p:nvSpPr>
          <p:cNvPr id="27" name="Stat source 3"/>
          <p:cNvSpPr txBox="1"/>
          <p:nvPr/>
        </p:nvSpPr>
        <p:spPr>
          <a:xfrm>
            <a:off x="4507992" y="41422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RMIT / ADM+S, 2025</a:t>
            </a:r>
            <a:endParaRPr lang="en-US" sz="1000" dirty="0"/>
          </a:p>
        </p:txBody>
      </p:sp>
      <p:sp>
        <p:nvSpPr>
          <p:cNvPr id="28" name="Stat card 4"/>
          <p:cNvSpPr/>
          <p:nvPr/>
        </p:nvSpPr>
        <p:spPr>
          <a:xfrm>
            <a:off x="6537960" y="2514600"/>
            <a:ext cx="2057400" cy="1920240"/>
          </a:xfrm>
          <a:prstGeom prst="roundRect">
            <a:avLst>
              <a:gd name="adj" fmla="val 4762"/>
            </a:avLst>
          </a:prstGeom>
          <a:solidFill>
            <a:srgbClr val="161B23"/>
          </a:solidFill>
          <a:ln w="12700">
            <a:solidFill>
              <a:srgbClr val="2A323E"/>
            </a:solidFill>
            <a:prstDash val="solid"/>
          </a:ln>
        </p:spPr>
      </p:sp>
      <p:sp>
        <p:nvSpPr>
          <p:cNvPr id="29" name="Stat number 4"/>
          <p:cNvSpPr txBox="1"/>
          <p:nvPr/>
        </p:nvSpPr>
        <p:spPr>
          <a:xfrm>
            <a:off x="6702552" y="2642616"/>
            <a:ext cx="1783080" cy="640080"/>
          </a:xfrm>
          <a:prstGeom prst="rect">
            <a:avLst/>
          </a:prstGeom>
          <a:noFill/>
          <a:ln/>
        </p:spPr>
        <p:txBody>
          <a:bodyPr wrap="square" lIns="0" tIns="0" rIns="0" bIns="0" rtlCol="0" anchor="t"/>
          <a:lstStyle/>
          <a:p>
            <a:pPr marL="0" indent="0">
              <a:buNone/>
            </a:pPr>
            <a:r>
              <a:rPr lang="en-US" sz="3800" b="1" dirty="0">
                <a:solidFill>
                  <a:srgbClr val="E03A52"/>
                </a:solidFill>
                <a:latin typeface="Calibri" pitchFamily="34" charset="0"/>
                <a:ea typeface="Calibri" pitchFamily="34" charset="-122"/>
                <a:cs typeface="Calibri" pitchFamily="34" charset="-120"/>
              </a:rPr>
              <a:t>4.4×</a:t>
            </a:r>
            <a:endParaRPr lang="en-US" sz="3800" dirty="0"/>
          </a:p>
        </p:txBody>
      </p:sp>
      <p:sp>
        <p:nvSpPr>
          <p:cNvPr id="30" name="Stat label 4"/>
          <p:cNvSpPr txBox="1"/>
          <p:nvPr/>
        </p:nvSpPr>
        <p:spPr>
          <a:xfrm>
            <a:off x="6702552" y="33192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the national rate of assault victims (4,057 vs 917 per 100,000)</a:t>
            </a:r>
            <a:endParaRPr lang="en-US" sz="1250" dirty="0"/>
          </a:p>
        </p:txBody>
      </p:sp>
      <p:sp>
        <p:nvSpPr>
          <p:cNvPr id="31" name="Stat source 4"/>
          <p:cNvSpPr txBox="1"/>
          <p:nvPr/>
        </p:nvSpPr>
        <p:spPr>
          <a:xfrm>
            <a:off x="6702552" y="41422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ABS, 2025</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5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childTnLst>
                          </p:cTn>
                        </p:par>
                        <p:par>
                          <p:cTn id="17" fill="hold">
                            <p:stCondLst>
                              <p:cond delay="750"/>
                            </p:stCondLst>
                            <p:childTnLst>
                              <p:par>
                                <p:cTn id="18" presetID="10" presetClass="entr" presetSubtype="0" fill="hold" nodeType="afterEffect">
                                  <p:stCondLst>
                                    <p:cond delay="25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500"/>
                                        <p:tgtEl>
                                          <p:spTgt spid="23"/>
                                        </p:tgtEl>
                                      </p:cBhvr>
                                    </p:animEffect>
                                  </p:childTnLst>
                                </p:cTn>
                              </p:par>
                            </p:childTnLst>
                          </p:cTn>
                        </p:par>
                        <p:par>
                          <p:cTn id="30" fill="hold">
                            <p:stCondLst>
                              <p:cond delay="1500"/>
                            </p:stCondLst>
                            <p:childTnLst>
                              <p:par>
                                <p:cTn id="31" presetID="10" presetClass="entr" presetSubtype="0" fill="hold" nodeType="afterEffect">
                                  <p:stCondLst>
                                    <p:cond delay="25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childTnLst>
                          </p:cTn>
                        </p:par>
                        <p:par>
                          <p:cTn id="43" fill="hold">
                            <p:stCondLst>
                              <p:cond delay="2250"/>
                            </p:stCondLst>
                            <p:childTnLst>
                              <p:par>
                                <p:cTn id="44" presetID="10" presetClass="entr" presetSubtype="0" fill="hold" nodeType="afterEffect">
                                  <p:stCondLst>
                                    <p:cond delay="25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500"/>
                                        <p:tgtEl>
                                          <p:spTgt spid="2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500"/>
                                        <p:tgtEl>
                                          <p:spTgt spid="2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500"/>
                                        <p:tgtEl>
                                          <p:spTgt spid="3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1" grpId="0" animBg="1"/>
      <p:bldP spid="22" grpId="0" animBg="1"/>
      <p:bldP spid="23" grpId="0" animBg="1"/>
      <p:bldP spid="25" grpId="0" animBg="1"/>
      <p:bldP spid="26" grpId="0" animBg="1"/>
      <p:bldP spid="27" grpId="0" animBg="1"/>
      <p:bldP spid="29" grpId="0" animBg="1"/>
      <p:bldP spid="30" grpId="0" animBg="1"/>
      <p:bldP spid="3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E0561A"/>
          </a:solidFill>
          <a:ln w="12700">
            <a:solidFill>
              <a:srgbClr val="E0561A"/>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57200"/>
            <a:ext cx="8046720" cy="731520"/>
          </a:xfrm>
          <a:prstGeom prst="rect">
            <a:avLst/>
          </a:prstGeom>
          <a:noFill/>
          <a:ln/>
        </p:spPr>
        <p:txBody>
          <a:bodyPr wrap="square" lIns="0" tIns="0" rIns="0" bIns="0" rtlCol="0" anchor="t"/>
          <a:lstStyle/>
          <a:p>
            <a:pPr marL="0" indent="0">
              <a:buNone/>
            </a:pPr>
            <a:r>
              <a:rPr lang="en-US" sz="3800" b="1" dirty="0">
                <a:solidFill>
                  <a:srgbClr val="F3EFE6"/>
                </a:solidFill>
                <a:latin typeface="Calibri" pitchFamily="34" charset="0"/>
                <a:ea typeface="Calibri" pitchFamily="34" charset="-122"/>
                <a:cs typeface="Calibri" pitchFamily="34" charset="-120"/>
              </a:rPr>
              <a:t>Triage. Escalate. </a:t>
            </a:r>
            <a:r>
              <a:rPr lang="en-US" sz="3800" b="1" dirty="0">
                <a:solidFill>
                  <a:srgbClr val="E0561A"/>
                </a:solidFill>
                <a:latin typeface="Calibri" pitchFamily="34" charset="0"/>
                <a:ea typeface="Calibri" pitchFamily="34" charset="-122"/>
                <a:cs typeface="Calibri" pitchFamily="34" charset="-120"/>
              </a:rPr>
              <a:t>Never reply.</a:t>
            </a:r>
            <a:endParaRPr lang="en-US" sz="3800" dirty="0"/>
          </a:p>
        </p:txBody>
      </p:sp>
      <p:sp>
        <p:nvSpPr>
          <p:cNvPr id="13" name="Node 1 badge"/>
          <p:cNvSpPr/>
          <p:nvPr/>
        </p:nvSpPr>
        <p:spPr>
          <a:xfrm>
            <a:off x="685800" y="1600200"/>
            <a:ext cx="731520" cy="731520"/>
          </a:xfrm>
          <a:prstGeom prst="ellipse">
            <a:avLst/>
          </a:prstGeom>
          <a:solidFill>
            <a:srgbClr val="9AA1AD"/>
          </a:solidFill>
          <a:ln w="12700">
            <a:solidFill>
              <a:srgbClr val="9AA1AD"/>
            </a:solidFill>
            <a:prstDash val="solid"/>
          </a:ln>
        </p:spPr>
      </p:sp>
      <p:pic>
        <p:nvPicPr>
          <p:cNvPr id="14" name="Node 1 icon" descr="Node 1"/>
          <p:cNvPicPr>
            <a:picLocks noChangeAspect="1"/>
          </p:cNvPicPr>
          <p:nvPr/>
        </p:nvPicPr>
        <p:blipFill>
          <a:blip r:embed="rId12"/>
          <a:stretch>
            <a:fillRect/>
          </a:stretch>
        </p:blipFill>
        <p:spPr>
          <a:xfrm>
            <a:off x="875995" y="1790395"/>
            <a:ext cx="351130" cy="351130"/>
          </a:xfrm>
          <a:prstGeom prst="rect">
            <a:avLst/>
          </a:prstGeom>
        </p:spPr>
      </p:pic>
      <p:sp>
        <p:nvSpPr>
          <p:cNvPr id="15" name="Node 1 title"/>
          <p:cNvSpPr txBox="1"/>
          <p:nvPr/>
        </p:nvSpPr>
        <p:spPr>
          <a:xfrm>
            <a:off x="27432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Message arrives</a:t>
            </a:r>
            <a:endParaRPr lang="en-US" sz="1500" dirty="0"/>
          </a:p>
        </p:txBody>
      </p:sp>
      <p:sp>
        <p:nvSpPr>
          <p:cNvPr id="16" name="Node 1 text"/>
          <p:cNvSpPr txBox="1"/>
          <p:nvPr/>
        </p:nvSpPr>
        <p:spPr>
          <a:xfrm>
            <a:off x="27432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SMS, web form, email or phone notes</a:t>
            </a:r>
            <a:endParaRPr lang="en-US" sz="1200" dirty="0"/>
          </a:p>
        </p:txBody>
      </p:sp>
      <p:sp>
        <p:nvSpPr>
          <p:cNvPr id="17" name="Arrow 1"/>
          <p:cNvSpPr/>
          <p:nvPr/>
        </p:nvSpPr>
        <p:spPr>
          <a:xfrm>
            <a:off x="1508760" y="1965960"/>
            <a:ext cx="822960" cy="0"/>
          </a:xfrm>
          <a:prstGeom prst="line">
            <a:avLst/>
          </a:prstGeom>
          <a:noFill/>
          <a:ln w="25400">
            <a:solidFill>
              <a:srgbClr val="2A323E"/>
            </a:solidFill>
            <a:prstDash val="solid"/>
            <a:tailEnd type="triangle"/>
          </a:ln>
        </p:spPr>
      </p:sp>
      <p:sp>
        <p:nvSpPr>
          <p:cNvPr id="18" name="Node 2 badge"/>
          <p:cNvSpPr/>
          <p:nvPr/>
        </p:nvSpPr>
        <p:spPr>
          <a:xfrm>
            <a:off x="2423160" y="1600200"/>
            <a:ext cx="731520" cy="731520"/>
          </a:xfrm>
          <a:prstGeom prst="ellipse">
            <a:avLst/>
          </a:prstGeom>
          <a:solidFill>
            <a:srgbClr val="E0561A"/>
          </a:solidFill>
          <a:ln w="12700">
            <a:solidFill>
              <a:srgbClr val="E0561A"/>
            </a:solidFill>
            <a:prstDash val="solid"/>
          </a:ln>
        </p:spPr>
      </p:sp>
      <p:pic>
        <p:nvPicPr>
          <p:cNvPr id="19" name="Node 2 icon" descr="Node 2"/>
          <p:cNvPicPr>
            <a:picLocks noChangeAspect="1"/>
          </p:cNvPicPr>
          <p:nvPr/>
        </p:nvPicPr>
        <p:blipFill>
          <a:blip r:embed="rId13"/>
          <a:stretch>
            <a:fillRect/>
          </a:stretch>
        </p:blipFill>
        <p:spPr>
          <a:xfrm>
            <a:off x="2613355" y="1790395"/>
            <a:ext cx="351130" cy="351130"/>
          </a:xfrm>
          <a:prstGeom prst="rect">
            <a:avLst/>
          </a:prstGeom>
        </p:spPr>
      </p:pic>
      <p:sp>
        <p:nvSpPr>
          <p:cNvPr id="20" name="Node 2 title"/>
          <p:cNvSpPr txBox="1"/>
          <p:nvPr/>
        </p:nvSpPr>
        <p:spPr>
          <a:xfrm>
            <a:off x="201168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Three readers</a:t>
            </a:r>
            <a:endParaRPr lang="en-US" sz="1500" dirty="0"/>
          </a:p>
        </p:txBody>
      </p:sp>
      <p:sp>
        <p:nvSpPr>
          <p:cNvPr id="21" name="Node 2 text"/>
          <p:cNvSpPr txBox="1"/>
          <p:nvPr/>
        </p:nvSpPr>
        <p:spPr>
          <a:xfrm>
            <a:off x="201168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AI model, backup ML model, safety rules</a:t>
            </a:r>
            <a:endParaRPr lang="en-US" sz="1200" dirty="0"/>
          </a:p>
        </p:txBody>
      </p:sp>
      <p:sp>
        <p:nvSpPr>
          <p:cNvPr id="22" name="Arrow 2"/>
          <p:cNvSpPr/>
          <p:nvPr/>
        </p:nvSpPr>
        <p:spPr>
          <a:xfrm>
            <a:off x="3246120" y="1965960"/>
            <a:ext cx="822960" cy="0"/>
          </a:xfrm>
          <a:prstGeom prst="line">
            <a:avLst/>
          </a:prstGeom>
          <a:noFill/>
          <a:ln w="25400">
            <a:solidFill>
              <a:srgbClr val="2A323E"/>
            </a:solidFill>
            <a:prstDash val="solid"/>
            <a:tailEnd type="triangle"/>
          </a:ln>
        </p:spPr>
      </p:sp>
      <p:sp>
        <p:nvSpPr>
          <p:cNvPr id="23" name="Node 3 badge"/>
          <p:cNvSpPr/>
          <p:nvPr/>
        </p:nvSpPr>
        <p:spPr>
          <a:xfrm>
            <a:off x="4160520" y="1600200"/>
            <a:ext cx="731520" cy="731520"/>
          </a:xfrm>
          <a:prstGeom prst="ellipse">
            <a:avLst/>
          </a:prstGeom>
          <a:solidFill>
            <a:srgbClr val="17A5A3"/>
          </a:solidFill>
          <a:ln w="12700">
            <a:solidFill>
              <a:srgbClr val="17A5A3"/>
            </a:solidFill>
            <a:prstDash val="solid"/>
          </a:ln>
        </p:spPr>
      </p:sp>
      <p:pic>
        <p:nvPicPr>
          <p:cNvPr id="24" name="Node 3 icon" descr="Node 3"/>
          <p:cNvPicPr>
            <a:picLocks noChangeAspect="1"/>
          </p:cNvPicPr>
          <p:nvPr/>
        </p:nvPicPr>
        <p:blipFill>
          <a:blip r:embed="rId14"/>
          <a:stretch>
            <a:fillRect/>
          </a:stretch>
        </p:blipFill>
        <p:spPr>
          <a:xfrm>
            <a:off x="4350715" y="1790395"/>
            <a:ext cx="351130" cy="351130"/>
          </a:xfrm>
          <a:prstGeom prst="rect">
            <a:avLst/>
          </a:prstGeom>
        </p:spPr>
      </p:pic>
      <p:sp>
        <p:nvSpPr>
          <p:cNvPr id="25" name="Node 3 title"/>
          <p:cNvSpPr txBox="1"/>
          <p:nvPr/>
        </p:nvSpPr>
        <p:spPr>
          <a:xfrm>
            <a:off x="374904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Priority only rises</a:t>
            </a:r>
            <a:endParaRPr lang="en-US" sz="1500" dirty="0"/>
          </a:p>
        </p:txBody>
      </p:sp>
      <p:sp>
        <p:nvSpPr>
          <p:cNvPr id="26" name="Node 3 text"/>
          <p:cNvSpPr txBox="1"/>
          <p:nvPr/>
        </p:nvSpPr>
        <p:spPr>
          <a:xfrm>
            <a:off x="374904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Floors and access can raise it, never lower it</a:t>
            </a:r>
            <a:endParaRPr lang="en-US" sz="1200" dirty="0"/>
          </a:p>
        </p:txBody>
      </p:sp>
      <p:sp>
        <p:nvSpPr>
          <p:cNvPr id="27" name="Arrow 3"/>
          <p:cNvSpPr/>
          <p:nvPr/>
        </p:nvSpPr>
        <p:spPr>
          <a:xfrm>
            <a:off x="4983480" y="1965960"/>
            <a:ext cx="822960" cy="0"/>
          </a:xfrm>
          <a:prstGeom prst="line">
            <a:avLst/>
          </a:prstGeom>
          <a:noFill/>
          <a:ln w="25400">
            <a:solidFill>
              <a:srgbClr val="2A323E"/>
            </a:solidFill>
            <a:prstDash val="solid"/>
            <a:tailEnd type="triangle"/>
          </a:ln>
        </p:spPr>
      </p:sp>
      <p:sp>
        <p:nvSpPr>
          <p:cNvPr id="28" name="Node 4 badge"/>
          <p:cNvSpPr/>
          <p:nvPr/>
        </p:nvSpPr>
        <p:spPr>
          <a:xfrm>
            <a:off x="5897880" y="1600200"/>
            <a:ext cx="731520" cy="731520"/>
          </a:xfrm>
          <a:prstGeom prst="ellipse">
            <a:avLst/>
          </a:prstGeom>
          <a:solidFill>
            <a:srgbClr val="36B26B"/>
          </a:solidFill>
          <a:ln w="12700">
            <a:solidFill>
              <a:srgbClr val="36B26B"/>
            </a:solidFill>
            <a:prstDash val="solid"/>
          </a:ln>
        </p:spPr>
      </p:sp>
      <p:pic>
        <p:nvPicPr>
          <p:cNvPr id="29" name="Node 4 icon" descr="Node 4"/>
          <p:cNvPicPr>
            <a:picLocks noChangeAspect="1"/>
          </p:cNvPicPr>
          <p:nvPr/>
        </p:nvPicPr>
        <p:blipFill>
          <a:blip r:embed="rId15"/>
          <a:stretch>
            <a:fillRect/>
          </a:stretch>
        </p:blipFill>
        <p:spPr>
          <a:xfrm>
            <a:off x="6088075" y="1790395"/>
            <a:ext cx="351130" cy="351130"/>
          </a:xfrm>
          <a:prstGeom prst="rect">
            <a:avLst/>
          </a:prstGeom>
        </p:spPr>
      </p:pic>
      <p:sp>
        <p:nvSpPr>
          <p:cNvPr id="30" name="Node 4 title"/>
          <p:cNvSpPr txBox="1"/>
          <p:nvPr/>
        </p:nvSpPr>
        <p:spPr>
          <a:xfrm>
            <a:off x="548640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A named person</a:t>
            </a:r>
            <a:endParaRPr lang="en-US" sz="1500" dirty="0"/>
          </a:p>
        </p:txBody>
      </p:sp>
      <p:sp>
        <p:nvSpPr>
          <p:cNvPr id="31" name="Node 4 text"/>
          <p:cNvSpPr txBox="1"/>
          <p:nvPr/>
        </p:nvSpPr>
        <p:spPr>
          <a:xfrm>
            <a:off x="548640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Right team, Duty Officer copied on critical</a:t>
            </a:r>
            <a:endParaRPr lang="en-US" sz="1200" dirty="0"/>
          </a:p>
        </p:txBody>
      </p:sp>
      <p:sp>
        <p:nvSpPr>
          <p:cNvPr id="32" name="Arrow 4"/>
          <p:cNvSpPr/>
          <p:nvPr/>
        </p:nvSpPr>
        <p:spPr>
          <a:xfrm>
            <a:off x="6720840" y="1965960"/>
            <a:ext cx="822960" cy="0"/>
          </a:xfrm>
          <a:prstGeom prst="line">
            <a:avLst/>
          </a:prstGeom>
          <a:noFill/>
          <a:ln w="25400">
            <a:solidFill>
              <a:srgbClr val="2A323E"/>
            </a:solidFill>
            <a:prstDash val="solid"/>
            <a:tailEnd type="triangle"/>
          </a:ln>
        </p:spPr>
      </p:sp>
      <p:sp>
        <p:nvSpPr>
          <p:cNvPr id="33" name="Node 5 badge"/>
          <p:cNvSpPr/>
          <p:nvPr/>
        </p:nvSpPr>
        <p:spPr>
          <a:xfrm>
            <a:off x="7635240" y="1600200"/>
            <a:ext cx="731520" cy="731520"/>
          </a:xfrm>
          <a:prstGeom prst="ellipse">
            <a:avLst/>
          </a:prstGeom>
          <a:solidFill>
            <a:srgbClr val="E03A52"/>
          </a:solidFill>
          <a:ln w="12700">
            <a:solidFill>
              <a:srgbClr val="E03A52"/>
            </a:solidFill>
            <a:prstDash val="solid"/>
          </a:ln>
        </p:spPr>
      </p:sp>
      <p:pic>
        <p:nvPicPr>
          <p:cNvPr id="34" name="Node 5 icon" descr="Node 5"/>
          <p:cNvPicPr>
            <a:picLocks noChangeAspect="1"/>
          </p:cNvPicPr>
          <p:nvPr/>
        </p:nvPicPr>
        <p:blipFill>
          <a:blip r:embed="rId16"/>
          <a:stretch>
            <a:fillRect/>
          </a:stretch>
        </p:blipFill>
        <p:spPr>
          <a:xfrm>
            <a:off x="7825435" y="1790395"/>
            <a:ext cx="351130" cy="351130"/>
          </a:xfrm>
          <a:prstGeom prst="rect">
            <a:avLst/>
          </a:prstGeom>
        </p:spPr>
      </p:pic>
      <p:sp>
        <p:nvSpPr>
          <p:cNvPr id="35" name="Node 5 title"/>
          <p:cNvSpPr txBox="1"/>
          <p:nvPr/>
        </p:nvSpPr>
        <p:spPr>
          <a:xfrm>
            <a:off x="722376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A clock runs</a:t>
            </a:r>
            <a:endParaRPr lang="en-US" sz="1500" dirty="0"/>
          </a:p>
        </p:txBody>
      </p:sp>
      <p:sp>
        <p:nvSpPr>
          <p:cNvPr id="36" name="Node 5 text"/>
          <p:cNvSpPr txBox="1"/>
          <p:nvPr/>
        </p:nvSpPr>
        <p:spPr>
          <a:xfrm>
            <a:off x="722376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15, 60 or 240 minutes, then it escalates</a:t>
            </a:r>
            <a:endParaRPr lang="en-US" sz="1200" dirty="0"/>
          </a:p>
        </p:txBody>
      </p:sp>
      <p:sp>
        <p:nvSpPr>
          <p:cNvPr id="37" name="Rule banner"/>
          <p:cNvSpPr/>
          <p:nvPr/>
        </p:nvSpPr>
        <p:spPr>
          <a:xfrm>
            <a:off x="548640" y="3703320"/>
            <a:ext cx="8046720" cy="713232"/>
          </a:xfrm>
          <a:prstGeom prst="roundRect">
            <a:avLst>
              <a:gd name="adj" fmla="val 12821"/>
            </a:avLst>
          </a:prstGeom>
          <a:solidFill>
            <a:srgbClr val="1F1710"/>
          </a:solidFill>
          <a:ln w="12700">
            <a:solidFill>
              <a:srgbClr val="E0561A"/>
            </a:solidFill>
            <a:prstDash val="solid"/>
          </a:ln>
        </p:spPr>
      </p:sp>
      <p:sp>
        <p:nvSpPr>
          <p:cNvPr id="38" name="Rule text"/>
          <p:cNvSpPr txBox="1"/>
          <p:nvPr/>
        </p:nvSpPr>
        <p:spPr>
          <a:xfrm>
            <a:off x="777240" y="3703320"/>
            <a:ext cx="7589520" cy="713232"/>
          </a:xfrm>
          <a:prstGeom prst="rect">
            <a:avLst/>
          </a:prstGeom>
          <a:noFill/>
          <a:ln/>
        </p:spPr>
        <p:txBody>
          <a:bodyPr wrap="square" lIns="0" tIns="0" rIns="0" bIns="0" rtlCol="0" anchor="ctr"/>
          <a:lstStyle/>
          <a:p>
            <a:pPr marL="0" indent="0">
              <a:buNone/>
            </a:pPr>
            <a:r>
              <a:rPr lang="en-US" sz="1700" b="1" dirty="0">
                <a:solidFill>
                  <a:srgbClr val="F3EFE6"/>
                </a:solidFill>
                <a:latin typeface="Calibri" pitchFamily="34" charset="0"/>
                <a:ea typeface="Calibri" pitchFamily="34" charset="-122"/>
                <a:cs typeface="Calibri" pitchFamily="34" charset="-120"/>
              </a:rPr>
              <a:t>The system drafts. A person approves. It </a:t>
            </a:r>
            <a:r>
              <a:rPr lang="en-US" sz="1700" b="1" dirty="0">
                <a:solidFill>
                  <a:srgbClr val="F2B84B"/>
                </a:solidFill>
                <a:latin typeface="Calibri" pitchFamily="34" charset="0"/>
                <a:ea typeface="Calibri" pitchFamily="34" charset="-122"/>
                <a:cs typeface="Calibri" pitchFamily="34" charset="-120"/>
              </a:rPr>
              <a:t>never</a:t>
            </a:r>
            <a:r>
              <a:rPr lang="en-US" sz="1700" b="1" dirty="0">
                <a:solidFill>
                  <a:srgbClr val="F3EFE6"/>
                </a:solidFill>
                <a:latin typeface="Calibri" pitchFamily="34" charset="0"/>
                <a:ea typeface="Calibri" pitchFamily="34" charset="-122"/>
                <a:cs typeface="Calibri" pitchFamily="34" charset="-120"/>
              </a:rPr>
              <a:t> sends anything to the public.</a:t>
            </a:r>
            <a:endParaRPr lang="en-US" sz="17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150"/>
                                  </p:stCondLst>
                                  <p:childTnLst>
                                    <p:set>
                                      <p:cBhvr>
                                        <p:cTn id="6" dur="1" fill="hold">
                                          <p:stCondLst>
                                            <p:cond delay="0"/>
                                          </p:stCondLst>
                                        </p:cTn>
                                        <p:tgtEl>
                                          <p:spTgt spid="13"/>
                                        </p:tgtEl>
                                        <p:attrNameLst>
                                          <p:attrName>style.visibility</p:attrName>
                                        </p:attrNameLst>
                                      </p:cBhvr>
                                      <p:to>
                                        <p:strVal val="visible"/>
                                      </p:to>
                                    </p:set>
                                    <p:anim calcmode="lin" valueType="num">
                                      <p:cBhvr>
                                        <p:cTn id="7" dur="450" fill="hold"/>
                                        <p:tgtEl>
                                          <p:spTgt spid="13"/>
                                        </p:tgtEl>
                                        <p:attrNameLst>
                                          <p:attrName>ppt_w</p:attrName>
                                        </p:attrNameLst>
                                      </p:cBhvr>
                                      <p:tavLst>
                                        <p:tav tm="0">
                                          <p:val>
                                            <p:fltVal val="0"/>
                                          </p:val>
                                        </p:tav>
                                        <p:tav tm="100000">
                                          <p:val>
                                            <p:strVal val="#ppt_w"/>
                                          </p:val>
                                        </p:tav>
                                      </p:tavLst>
                                    </p:anim>
                                    <p:anim calcmode="lin" valueType="num">
                                      <p:cBhvr>
                                        <p:cTn id="8" dur="450" fill="hold"/>
                                        <p:tgtEl>
                                          <p:spTgt spid="13"/>
                                        </p:tgtEl>
                                        <p:attrNameLst>
                                          <p:attrName>ppt_h</p:attrName>
                                        </p:attrNameLst>
                                      </p:cBhvr>
                                      <p:tavLst>
                                        <p:tav tm="0">
                                          <p:val>
                                            <p:fltVal val="0"/>
                                          </p:val>
                                        </p:tav>
                                        <p:tav tm="100000">
                                          <p:val>
                                            <p:strVal val="#ppt_h"/>
                                          </p:val>
                                        </p:tav>
                                      </p:tavLst>
                                    </p:anim>
                                  </p:childTnLst>
                                </p:cTn>
                              </p:par>
                              <p:par>
                                <p:cTn id="9" presetID="10"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50"/>
                                        <p:tgtEl>
                                          <p:spTgt spid="14"/>
                                        </p:tgtEl>
                                      </p:cBhvr>
                                    </p:animEffect>
                                  </p:childTnLst>
                                </p:cTn>
                              </p:par>
                              <p:par>
                                <p:cTn id="12" presetID="10" presetClass="entr" presetSubtype="0" fill="hold" grpId="0" nodeType="withEffect">
                                  <p:stCondLst>
                                    <p:cond delay="1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400"/>
                                        <p:tgtEl>
                                          <p:spTgt spid="15"/>
                                        </p:tgtEl>
                                      </p:cBhvr>
                                    </p:animEffect>
                                  </p:childTnLst>
                                </p:cTn>
                              </p:par>
                              <p:par>
                                <p:cTn id="15" presetID="10" presetClass="entr" presetSubtype="0" fill="hold" grpId="0" nodeType="withEffect">
                                  <p:stCondLst>
                                    <p:cond delay="15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00"/>
                                        <p:tgtEl>
                                          <p:spTgt spid="16"/>
                                        </p:tgtEl>
                                      </p:cBhvr>
                                    </p:animEffect>
                                  </p:childTnLst>
                                </p:cTn>
                              </p:par>
                              <p:par>
                                <p:cTn id="18" presetID="22" presetClass="entr" presetSubtype="8" fill="hold" nodeType="withEffect">
                                  <p:stCondLst>
                                    <p:cond delay="250"/>
                                  </p:stCondLst>
                                  <p:childTnLst>
                                    <p:set>
                                      <p:cBhvr>
                                        <p:cTn id="19" dur="1" fill="hold">
                                          <p:stCondLst>
                                            <p:cond delay="0"/>
                                          </p:stCondLst>
                                        </p:cTn>
                                        <p:tgtEl>
                                          <p:spTgt spid="17"/>
                                        </p:tgtEl>
                                        <p:attrNameLst>
                                          <p:attrName>style.visibility</p:attrName>
                                        </p:attrNameLst>
                                      </p:cBhvr>
                                      <p:to>
                                        <p:strVal val="visible"/>
                                      </p:to>
                                    </p:set>
                                    <p:animEffect transition="in" filter="wipe(left)">
                                      <p:cBhvr>
                                        <p:cTn id="20" dur="500"/>
                                        <p:tgtEl>
                                          <p:spTgt spid="17"/>
                                        </p:tgtEl>
                                      </p:cBhvr>
                                    </p:animEffect>
                                  </p:childTnLst>
                                </p:cTn>
                              </p:par>
                            </p:childTnLst>
                          </p:cTn>
                        </p:par>
                        <p:par>
                          <p:cTn id="21" fill="hold">
                            <p:stCondLst>
                              <p:cond delay="750"/>
                            </p:stCondLst>
                            <p:childTnLst>
                              <p:par>
                                <p:cTn id="22" presetID="23" presetClass="entr" presetSubtype="16" fill="hold" nodeType="afterEffect">
                                  <p:stCondLst>
                                    <p:cond delay="150"/>
                                  </p:stCondLst>
                                  <p:childTnLst>
                                    <p:set>
                                      <p:cBhvr>
                                        <p:cTn id="23" dur="1" fill="hold">
                                          <p:stCondLst>
                                            <p:cond delay="0"/>
                                          </p:stCondLst>
                                        </p:cTn>
                                        <p:tgtEl>
                                          <p:spTgt spid="18"/>
                                        </p:tgtEl>
                                        <p:attrNameLst>
                                          <p:attrName>style.visibility</p:attrName>
                                        </p:attrNameLst>
                                      </p:cBhvr>
                                      <p:to>
                                        <p:strVal val="visible"/>
                                      </p:to>
                                    </p:set>
                                    <p:anim calcmode="lin" valueType="num">
                                      <p:cBhvr>
                                        <p:cTn id="24" dur="450" fill="hold"/>
                                        <p:tgtEl>
                                          <p:spTgt spid="18"/>
                                        </p:tgtEl>
                                        <p:attrNameLst>
                                          <p:attrName>ppt_w</p:attrName>
                                        </p:attrNameLst>
                                      </p:cBhvr>
                                      <p:tavLst>
                                        <p:tav tm="0">
                                          <p:val>
                                            <p:fltVal val="0"/>
                                          </p:val>
                                        </p:tav>
                                        <p:tav tm="100000">
                                          <p:val>
                                            <p:strVal val="#ppt_w"/>
                                          </p:val>
                                        </p:tav>
                                      </p:tavLst>
                                    </p:anim>
                                    <p:anim calcmode="lin" valueType="num">
                                      <p:cBhvr>
                                        <p:cTn id="25" dur="450" fill="hold"/>
                                        <p:tgtEl>
                                          <p:spTgt spid="18"/>
                                        </p:tgtEl>
                                        <p:attrNameLst>
                                          <p:attrName>ppt_h</p:attrName>
                                        </p:attrNameLst>
                                      </p:cBhvr>
                                      <p:tavLst>
                                        <p:tav tm="0">
                                          <p:val>
                                            <p:fltVal val="0"/>
                                          </p:val>
                                        </p:tav>
                                        <p:tav tm="100000">
                                          <p:val>
                                            <p:strVal val="#ppt_h"/>
                                          </p:val>
                                        </p:tav>
                                      </p:tavLst>
                                    </p:anim>
                                  </p:childTnLst>
                                </p:cTn>
                              </p:par>
                              <p:par>
                                <p:cTn id="26" presetID="10" presetClass="entr" presetSubtype="0" fill="hold"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50"/>
                                        <p:tgtEl>
                                          <p:spTgt spid="19"/>
                                        </p:tgtEl>
                                      </p:cBhvr>
                                    </p:animEffect>
                                  </p:childTnLst>
                                </p:cTn>
                              </p:par>
                              <p:par>
                                <p:cTn id="29" presetID="10" presetClass="entr" presetSubtype="0" fill="hold" grpId="0" nodeType="withEffect">
                                  <p:stCondLst>
                                    <p:cond delay="1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withEffect">
                                  <p:stCondLst>
                                    <p:cond delay="15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22" presetClass="entr" presetSubtype="8" fill="hold" nodeType="withEffect">
                                  <p:stCondLst>
                                    <p:cond delay="250"/>
                                  </p:stCondLst>
                                  <p:childTnLst>
                                    <p:set>
                                      <p:cBhvr>
                                        <p:cTn id="36" dur="1" fill="hold">
                                          <p:stCondLst>
                                            <p:cond delay="0"/>
                                          </p:stCondLst>
                                        </p:cTn>
                                        <p:tgtEl>
                                          <p:spTgt spid="22"/>
                                        </p:tgtEl>
                                        <p:attrNameLst>
                                          <p:attrName>style.visibility</p:attrName>
                                        </p:attrNameLst>
                                      </p:cBhvr>
                                      <p:to>
                                        <p:strVal val="visible"/>
                                      </p:to>
                                    </p:set>
                                    <p:animEffect transition="in" filter="wipe(left)">
                                      <p:cBhvr>
                                        <p:cTn id="37" dur="500"/>
                                        <p:tgtEl>
                                          <p:spTgt spid="22"/>
                                        </p:tgtEl>
                                      </p:cBhvr>
                                    </p:animEffect>
                                  </p:childTnLst>
                                </p:cTn>
                              </p:par>
                            </p:childTnLst>
                          </p:cTn>
                        </p:par>
                        <p:par>
                          <p:cTn id="38" fill="hold">
                            <p:stCondLst>
                              <p:cond delay="1500"/>
                            </p:stCondLst>
                            <p:childTnLst>
                              <p:par>
                                <p:cTn id="39" presetID="23" presetClass="entr" presetSubtype="16" fill="hold" nodeType="afterEffect">
                                  <p:stCondLst>
                                    <p:cond delay="150"/>
                                  </p:stCondLst>
                                  <p:childTnLst>
                                    <p:set>
                                      <p:cBhvr>
                                        <p:cTn id="40" dur="1" fill="hold">
                                          <p:stCondLst>
                                            <p:cond delay="0"/>
                                          </p:stCondLst>
                                        </p:cTn>
                                        <p:tgtEl>
                                          <p:spTgt spid="23"/>
                                        </p:tgtEl>
                                        <p:attrNameLst>
                                          <p:attrName>style.visibility</p:attrName>
                                        </p:attrNameLst>
                                      </p:cBhvr>
                                      <p:to>
                                        <p:strVal val="visible"/>
                                      </p:to>
                                    </p:set>
                                    <p:anim calcmode="lin" valueType="num">
                                      <p:cBhvr>
                                        <p:cTn id="41" dur="450" fill="hold"/>
                                        <p:tgtEl>
                                          <p:spTgt spid="23"/>
                                        </p:tgtEl>
                                        <p:attrNameLst>
                                          <p:attrName>ppt_w</p:attrName>
                                        </p:attrNameLst>
                                      </p:cBhvr>
                                      <p:tavLst>
                                        <p:tav tm="0">
                                          <p:val>
                                            <p:fltVal val="0"/>
                                          </p:val>
                                        </p:tav>
                                        <p:tav tm="100000">
                                          <p:val>
                                            <p:strVal val="#ppt_w"/>
                                          </p:val>
                                        </p:tav>
                                      </p:tavLst>
                                    </p:anim>
                                    <p:anim calcmode="lin" valueType="num">
                                      <p:cBhvr>
                                        <p:cTn id="42" dur="450" fill="hold"/>
                                        <p:tgtEl>
                                          <p:spTgt spid="23"/>
                                        </p:tgtEl>
                                        <p:attrNameLst>
                                          <p:attrName>ppt_h</p:attrName>
                                        </p:attrNameLst>
                                      </p:cBhvr>
                                      <p:tavLst>
                                        <p:tav tm="0">
                                          <p:val>
                                            <p:fltVal val="0"/>
                                          </p:val>
                                        </p:tav>
                                        <p:tav tm="100000">
                                          <p:val>
                                            <p:strVal val="#ppt_h"/>
                                          </p:val>
                                        </p:tav>
                                      </p:tavLst>
                                    </p:anim>
                                  </p:childTnLst>
                                </p:cTn>
                              </p:par>
                              <p:par>
                                <p:cTn id="43" presetID="10" presetClass="entr" presetSubtype="0" fill="hold"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50"/>
                                        <p:tgtEl>
                                          <p:spTgt spid="24"/>
                                        </p:tgtEl>
                                      </p:cBhvr>
                                    </p:animEffect>
                                  </p:childTnLst>
                                </p:cTn>
                              </p:par>
                              <p:par>
                                <p:cTn id="46" presetID="10" presetClass="entr" presetSubtype="0" fill="hold" grpId="0" nodeType="withEffect">
                                  <p:stCondLst>
                                    <p:cond delay="10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00"/>
                                        <p:tgtEl>
                                          <p:spTgt spid="25"/>
                                        </p:tgtEl>
                                      </p:cBhvr>
                                    </p:animEffect>
                                  </p:childTnLst>
                                </p:cTn>
                              </p:par>
                              <p:par>
                                <p:cTn id="49" presetID="10" presetClass="entr" presetSubtype="0" fill="hold" grpId="0" nodeType="withEffect">
                                  <p:stCondLst>
                                    <p:cond delay="15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00"/>
                                        <p:tgtEl>
                                          <p:spTgt spid="26"/>
                                        </p:tgtEl>
                                      </p:cBhvr>
                                    </p:animEffect>
                                  </p:childTnLst>
                                </p:cTn>
                              </p:par>
                              <p:par>
                                <p:cTn id="52" presetID="22" presetClass="entr" presetSubtype="8" fill="hold" nodeType="withEffect">
                                  <p:stCondLst>
                                    <p:cond delay="25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500"/>
                                        <p:tgtEl>
                                          <p:spTgt spid="27"/>
                                        </p:tgtEl>
                                      </p:cBhvr>
                                    </p:animEffect>
                                  </p:childTnLst>
                                </p:cTn>
                              </p:par>
                            </p:childTnLst>
                          </p:cTn>
                        </p:par>
                        <p:par>
                          <p:cTn id="55" fill="hold">
                            <p:stCondLst>
                              <p:cond delay="2250"/>
                            </p:stCondLst>
                            <p:childTnLst>
                              <p:par>
                                <p:cTn id="56" presetID="23" presetClass="entr" presetSubtype="16" fill="hold" nodeType="afterEffect">
                                  <p:stCondLst>
                                    <p:cond delay="150"/>
                                  </p:stCondLst>
                                  <p:childTnLst>
                                    <p:set>
                                      <p:cBhvr>
                                        <p:cTn id="57" dur="1" fill="hold">
                                          <p:stCondLst>
                                            <p:cond delay="0"/>
                                          </p:stCondLst>
                                        </p:cTn>
                                        <p:tgtEl>
                                          <p:spTgt spid="28"/>
                                        </p:tgtEl>
                                        <p:attrNameLst>
                                          <p:attrName>style.visibility</p:attrName>
                                        </p:attrNameLst>
                                      </p:cBhvr>
                                      <p:to>
                                        <p:strVal val="visible"/>
                                      </p:to>
                                    </p:set>
                                    <p:anim calcmode="lin" valueType="num">
                                      <p:cBhvr>
                                        <p:cTn id="58" dur="450" fill="hold"/>
                                        <p:tgtEl>
                                          <p:spTgt spid="28"/>
                                        </p:tgtEl>
                                        <p:attrNameLst>
                                          <p:attrName>ppt_w</p:attrName>
                                        </p:attrNameLst>
                                      </p:cBhvr>
                                      <p:tavLst>
                                        <p:tav tm="0">
                                          <p:val>
                                            <p:fltVal val="0"/>
                                          </p:val>
                                        </p:tav>
                                        <p:tav tm="100000">
                                          <p:val>
                                            <p:strVal val="#ppt_w"/>
                                          </p:val>
                                        </p:tav>
                                      </p:tavLst>
                                    </p:anim>
                                    <p:anim calcmode="lin" valueType="num">
                                      <p:cBhvr>
                                        <p:cTn id="59" dur="450" fill="hold"/>
                                        <p:tgtEl>
                                          <p:spTgt spid="28"/>
                                        </p:tgtEl>
                                        <p:attrNameLst>
                                          <p:attrName>ppt_h</p:attrName>
                                        </p:attrNameLst>
                                      </p:cBhvr>
                                      <p:tavLst>
                                        <p:tav tm="0">
                                          <p:val>
                                            <p:fltVal val="0"/>
                                          </p:val>
                                        </p:tav>
                                        <p:tav tm="100000">
                                          <p:val>
                                            <p:strVal val="#ppt_h"/>
                                          </p:val>
                                        </p:tav>
                                      </p:tavLst>
                                    </p:anim>
                                  </p:childTnLst>
                                </p:cTn>
                              </p:par>
                              <p:par>
                                <p:cTn id="60" presetID="10" presetClass="entr" presetSubtype="0" fill="hold" nodeType="with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450"/>
                                        <p:tgtEl>
                                          <p:spTgt spid="29"/>
                                        </p:tgtEl>
                                      </p:cBhvr>
                                    </p:animEffect>
                                  </p:childTnLst>
                                </p:cTn>
                              </p:par>
                              <p:par>
                                <p:cTn id="63" presetID="10" presetClass="entr" presetSubtype="0" fill="hold" grpId="0" nodeType="withEffect">
                                  <p:stCondLst>
                                    <p:cond delay="10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400"/>
                                        <p:tgtEl>
                                          <p:spTgt spid="30"/>
                                        </p:tgtEl>
                                      </p:cBhvr>
                                    </p:animEffect>
                                  </p:childTnLst>
                                </p:cTn>
                              </p:par>
                              <p:par>
                                <p:cTn id="66" presetID="10" presetClass="entr" presetSubtype="0" fill="hold" grpId="0" nodeType="withEffect">
                                  <p:stCondLst>
                                    <p:cond delay="150"/>
                                  </p:stCondLst>
                                  <p:childTnLst>
                                    <p:set>
                                      <p:cBhvr>
                                        <p:cTn id="67" dur="1" fill="hold">
                                          <p:stCondLst>
                                            <p:cond delay="0"/>
                                          </p:stCondLst>
                                        </p:cTn>
                                        <p:tgtEl>
                                          <p:spTgt spid="31"/>
                                        </p:tgtEl>
                                        <p:attrNameLst>
                                          <p:attrName>style.visibility</p:attrName>
                                        </p:attrNameLst>
                                      </p:cBhvr>
                                      <p:to>
                                        <p:strVal val="visible"/>
                                      </p:to>
                                    </p:set>
                                    <p:animEffect transition="in" filter="fade">
                                      <p:cBhvr>
                                        <p:cTn id="68" dur="400"/>
                                        <p:tgtEl>
                                          <p:spTgt spid="31"/>
                                        </p:tgtEl>
                                      </p:cBhvr>
                                    </p:animEffect>
                                  </p:childTnLst>
                                </p:cTn>
                              </p:par>
                              <p:par>
                                <p:cTn id="69" presetID="22" presetClass="entr" presetSubtype="8" fill="hold" nodeType="withEffect">
                                  <p:stCondLst>
                                    <p:cond delay="250"/>
                                  </p:stCondLst>
                                  <p:childTnLst>
                                    <p:set>
                                      <p:cBhvr>
                                        <p:cTn id="70" dur="1" fill="hold">
                                          <p:stCondLst>
                                            <p:cond delay="0"/>
                                          </p:stCondLst>
                                        </p:cTn>
                                        <p:tgtEl>
                                          <p:spTgt spid="32"/>
                                        </p:tgtEl>
                                        <p:attrNameLst>
                                          <p:attrName>style.visibility</p:attrName>
                                        </p:attrNameLst>
                                      </p:cBhvr>
                                      <p:to>
                                        <p:strVal val="visible"/>
                                      </p:to>
                                    </p:set>
                                    <p:animEffect transition="in" filter="wipe(left)">
                                      <p:cBhvr>
                                        <p:cTn id="71" dur="500"/>
                                        <p:tgtEl>
                                          <p:spTgt spid="32"/>
                                        </p:tgtEl>
                                      </p:cBhvr>
                                    </p:animEffect>
                                  </p:childTnLst>
                                </p:cTn>
                              </p:par>
                            </p:childTnLst>
                          </p:cTn>
                        </p:par>
                        <p:par>
                          <p:cTn id="72" fill="hold">
                            <p:stCondLst>
                              <p:cond delay="3000"/>
                            </p:stCondLst>
                            <p:childTnLst>
                              <p:par>
                                <p:cTn id="73" presetID="23" presetClass="entr" presetSubtype="16" fill="hold" nodeType="afterEffect">
                                  <p:stCondLst>
                                    <p:cond delay="150"/>
                                  </p:stCondLst>
                                  <p:childTnLst>
                                    <p:set>
                                      <p:cBhvr>
                                        <p:cTn id="74" dur="1" fill="hold">
                                          <p:stCondLst>
                                            <p:cond delay="0"/>
                                          </p:stCondLst>
                                        </p:cTn>
                                        <p:tgtEl>
                                          <p:spTgt spid="33"/>
                                        </p:tgtEl>
                                        <p:attrNameLst>
                                          <p:attrName>style.visibility</p:attrName>
                                        </p:attrNameLst>
                                      </p:cBhvr>
                                      <p:to>
                                        <p:strVal val="visible"/>
                                      </p:to>
                                    </p:set>
                                    <p:anim calcmode="lin" valueType="num">
                                      <p:cBhvr>
                                        <p:cTn id="75" dur="450" fill="hold"/>
                                        <p:tgtEl>
                                          <p:spTgt spid="33"/>
                                        </p:tgtEl>
                                        <p:attrNameLst>
                                          <p:attrName>ppt_w</p:attrName>
                                        </p:attrNameLst>
                                      </p:cBhvr>
                                      <p:tavLst>
                                        <p:tav tm="0">
                                          <p:val>
                                            <p:fltVal val="0"/>
                                          </p:val>
                                        </p:tav>
                                        <p:tav tm="100000">
                                          <p:val>
                                            <p:strVal val="#ppt_w"/>
                                          </p:val>
                                        </p:tav>
                                      </p:tavLst>
                                    </p:anim>
                                    <p:anim calcmode="lin" valueType="num">
                                      <p:cBhvr>
                                        <p:cTn id="76" dur="450" fill="hold"/>
                                        <p:tgtEl>
                                          <p:spTgt spid="33"/>
                                        </p:tgtEl>
                                        <p:attrNameLst>
                                          <p:attrName>ppt_h</p:attrName>
                                        </p:attrNameLst>
                                      </p:cBhvr>
                                      <p:tavLst>
                                        <p:tav tm="0">
                                          <p:val>
                                            <p:fltVal val="0"/>
                                          </p:val>
                                        </p:tav>
                                        <p:tav tm="100000">
                                          <p:val>
                                            <p:strVal val="#ppt_h"/>
                                          </p:val>
                                        </p:tav>
                                      </p:tavLst>
                                    </p:anim>
                                  </p:childTnLst>
                                </p:cTn>
                              </p:par>
                              <p:par>
                                <p:cTn id="77" presetID="10" presetClass="entr" presetSubtype="0" fill="hold"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50"/>
                                        <p:tgtEl>
                                          <p:spTgt spid="34"/>
                                        </p:tgtEl>
                                      </p:cBhvr>
                                    </p:animEffect>
                                  </p:childTnLst>
                                </p:cTn>
                              </p:par>
                              <p:par>
                                <p:cTn id="80" presetID="10" presetClass="entr" presetSubtype="0" fill="hold" grpId="0" nodeType="withEffect">
                                  <p:stCondLst>
                                    <p:cond delay="10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grpId="0" nodeType="withEffect">
                                  <p:stCondLst>
                                    <p:cond delay="15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childTnLst>
                          </p:cTn>
                        </p:par>
                        <p:par>
                          <p:cTn id="86" fill="hold">
                            <p:stCondLst>
                              <p:cond delay="3600"/>
                            </p:stCondLst>
                            <p:childTnLst>
                              <p:par>
                                <p:cTn id="87" presetID="10" presetClass="entr" presetSubtype="0" fill="hold" nodeType="afterEffect">
                                  <p:stCondLst>
                                    <p:cond delay="20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00"/>
                                        <p:tgtEl>
                                          <p:spTgt spid="37"/>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8"/>
                                        </p:tgtEl>
                                        <p:attrNameLst>
                                          <p:attrName>style.visibility</p:attrName>
                                        </p:attrNameLst>
                                      </p:cBhvr>
                                      <p:to>
                                        <p:strVal val="visible"/>
                                      </p:to>
                                    </p:set>
                                    <p:animEffect transition="in" filter="fade">
                                      <p:cBhvr>
                                        <p:cTn id="9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20" grpId="0" animBg="1"/>
      <p:bldP spid="21" grpId="0" animBg="1"/>
      <p:bldP spid="25" grpId="0" animBg="1"/>
      <p:bldP spid="26" grpId="0" animBg="1"/>
      <p:bldP spid="30" grpId="0" animBg="1"/>
      <p:bldP spid="31" grpId="0" animBg="1"/>
      <p:bldP spid="35" grpId="0" animBg="1"/>
      <p:bldP spid="36" grpId="0" animBg="1"/>
      <p:bldP spid="3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E0561A"/>
          </a:solidFill>
          <a:ln w="12700">
            <a:solidFill>
              <a:srgbClr val="E0561A"/>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57200"/>
            <a:ext cx="8046720" cy="640080"/>
          </a:xfrm>
          <a:prstGeom prst="rect">
            <a:avLst/>
          </a:prstGeom>
          <a:noFill/>
          <a:ln/>
        </p:spPr>
        <p:txBody>
          <a:bodyPr wrap="square" lIns="0" tIns="0" rIns="0" bIns="0" rtlCol="0" anchor="t"/>
          <a:lstStyle/>
          <a:p>
            <a:pPr marL="0" indent="0">
              <a:buNone/>
            </a:pPr>
            <a:r>
              <a:rPr lang="en-US" sz="3200" b="1" dirty="0">
                <a:solidFill>
                  <a:srgbClr val="F3EFE6"/>
                </a:solidFill>
                <a:latin typeface="Calibri" pitchFamily="34" charset="0"/>
                <a:ea typeface="Calibri" pitchFamily="34" charset="-122"/>
                <a:cs typeface="Calibri" pitchFamily="34" charset="-120"/>
              </a:rPr>
              <a:t>Three readers. None can lower a priority.</a:t>
            </a:r>
            <a:endParaRPr lang="en-US" sz="3200" dirty="0"/>
          </a:p>
        </p:txBody>
      </p:sp>
      <p:sp>
        <p:nvSpPr>
          <p:cNvPr id="13" name="Layer 1"/>
          <p:cNvSpPr/>
          <p:nvPr/>
        </p:nvSpPr>
        <p:spPr>
          <a:xfrm>
            <a:off x="548640" y="1325880"/>
            <a:ext cx="4800600" cy="896112"/>
          </a:xfrm>
          <a:prstGeom prst="roundRect">
            <a:avLst>
              <a:gd name="adj" fmla="val 10204"/>
            </a:avLst>
          </a:prstGeom>
          <a:solidFill>
            <a:srgbClr val="161B23"/>
          </a:solidFill>
          <a:ln w="12700">
            <a:solidFill>
              <a:srgbClr val="2A323E"/>
            </a:solidFill>
            <a:prstDash val="solid"/>
          </a:ln>
        </p:spPr>
      </p:sp>
      <p:sp>
        <p:nvSpPr>
          <p:cNvPr id="14" name="Layer 1 badge"/>
          <p:cNvSpPr/>
          <p:nvPr/>
        </p:nvSpPr>
        <p:spPr>
          <a:xfrm>
            <a:off x="713232" y="1499616"/>
            <a:ext cx="548640" cy="548640"/>
          </a:xfrm>
          <a:prstGeom prst="ellipse">
            <a:avLst/>
          </a:prstGeom>
          <a:solidFill>
            <a:srgbClr val="E0561A"/>
          </a:solidFill>
          <a:ln w="12700">
            <a:solidFill>
              <a:srgbClr val="E0561A"/>
            </a:solidFill>
            <a:prstDash val="solid"/>
          </a:ln>
        </p:spPr>
      </p:sp>
      <p:pic>
        <p:nvPicPr>
          <p:cNvPr id="15" name="Layer 1 icon" descr="Layer 1"/>
          <p:cNvPicPr>
            <a:picLocks noChangeAspect="1"/>
          </p:cNvPicPr>
          <p:nvPr/>
        </p:nvPicPr>
        <p:blipFill>
          <a:blip r:embed="rId12"/>
          <a:stretch>
            <a:fillRect/>
          </a:stretch>
        </p:blipFill>
        <p:spPr>
          <a:xfrm>
            <a:off x="855878" y="1642262"/>
            <a:ext cx="263347" cy="263347"/>
          </a:xfrm>
          <a:prstGeom prst="rect">
            <a:avLst/>
          </a:prstGeom>
        </p:spPr>
      </p:pic>
      <p:sp>
        <p:nvSpPr>
          <p:cNvPr id="16" name="Layer 1 title"/>
          <p:cNvSpPr txBox="1"/>
          <p:nvPr/>
        </p:nvSpPr>
        <p:spPr>
          <a:xfrm>
            <a:off x="1444752" y="1435608"/>
            <a:ext cx="3749040" cy="274320"/>
          </a:xfrm>
          <a:prstGeom prst="rect">
            <a:avLst/>
          </a:prstGeom>
          <a:noFill/>
          <a:ln/>
        </p:spPr>
        <p:txBody>
          <a:bodyPr wrap="square" lIns="0" tIns="0" rIns="0" bIns="0" rtlCol="0" anchor="t"/>
          <a:lstStyle/>
          <a:p>
            <a:pPr marL="0" indent="0">
              <a:buNone/>
            </a:pPr>
            <a:r>
              <a:rPr lang="en-US" sz="1600" b="1" dirty="0">
                <a:solidFill>
                  <a:srgbClr val="F3EFE6"/>
                </a:solidFill>
                <a:latin typeface="Calibri" pitchFamily="34" charset="0"/>
                <a:ea typeface="Calibri" pitchFamily="34" charset="-122"/>
                <a:cs typeface="Calibri" pitchFamily="34" charset="-120"/>
              </a:rPr>
              <a:t>The AI model</a:t>
            </a:r>
            <a:endParaRPr lang="en-US" sz="1600" dirty="0"/>
          </a:p>
        </p:txBody>
      </p:sp>
      <p:sp>
        <p:nvSpPr>
          <p:cNvPr id="17" name="Layer 1 text"/>
          <p:cNvSpPr txBox="1"/>
          <p:nvPr/>
        </p:nvSpPr>
        <p:spPr>
          <a:xfrm>
            <a:off x="1444752" y="1737360"/>
            <a:ext cx="3749040" cy="4572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Reads the meaning. Typos and slang don't lower urgency. Treats every message as data, not orders.</a:t>
            </a:r>
            <a:endParaRPr lang="en-US" sz="1200" dirty="0"/>
          </a:p>
        </p:txBody>
      </p:sp>
      <p:sp>
        <p:nvSpPr>
          <p:cNvPr id="18" name="Layer 2"/>
          <p:cNvSpPr/>
          <p:nvPr/>
        </p:nvSpPr>
        <p:spPr>
          <a:xfrm>
            <a:off x="548640" y="2350008"/>
            <a:ext cx="4800600" cy="896112"/>
          </a:xfrm>
          <a:prstGeom prst="roundRect">
            <a:avLst>
              <a:gd name="adj" fmla="val 10204"/>
            </a:avLst>
          </a:prstGeom>
          <a:solidFill>
            <a:srgbClr val="161B23"/>
          </a:solidFill>
          <a:ln w="12700">
            <a:solidFill>
              <a:srgbClr val="2A323E"/>
            </a:solidFill>
            <a:prstDash val="solid"/>
          </a:ln>
        </p:spPr>
      </p:sp>
      <p:sp>
        <p:nvSpPr>
          <p:cNvPr id="19" name="Layer 2 badge"/>
          <p:cNvSpPr/>
          <p:nvPr/>
        </p:nvSpPr>
        <p:spPr>
          <a:xfrm>
            <a:off x="713232" y="2523744"/>
            <a:ext cx="548640" cy="548640"/>
          </a:xfrm>
          <a:prstGeom prst="ellipse">
            <a:avLst/>
          </a:prstGeom>
          <a:solidFill>
            <a:srgbClr val="17A5A3"/>
          </a:solidFill>
          <a:ln w="12700">
            <a:solidFill>
              <a:srgbClr val="17A5A3"/>
            </a:solidFill>
            <a:prstDash val="solid"/>
          </a:ln>
        </p:spPr>
      </p:sp>
      <p:pic>
        <p:nvPicPr>
          <p:cNvPr id="20" name="Layer 2 icon" descr="Layer 2"/>
          <p:cNvPicPr>
            <a:picLocks noChangeAspect="1"/>
          </p:cNvPicPr>
          <p:nvPr/>
        </p:nvPicPr>
        <p:blipFill>
          <a:blip r:embed="rId13"/>
          <a:stretch>
            <a:fillRect/>
          </a:stretch>
        </p:blipFill>
        <p:spPr>
          <a:xfrm>
            <a:off x="855878" y="2666390"/>
            <a:ext cx="263347" cy="263347"/>
          </a:xfrm>
          <a:prstGeom prst="rect">
            <a:avLst/>
          </a:prstGeom>
        </p:spPr>
      </p:pic>
      <p:sp>
        <p:nvSpPr>
          <p:cNvPr id="21" name="Layer 2 title"/>
          <p:cNvSpPr txBox="1"/>
          <p:nvPr/>
        </p:nvSpPr>
        <p:spPr>
          <a:xfrm>
            <a:off x="1444752" y="2459736"/>
            <a:ext cx="3749040" cy="274320"/>
          </a:xfrm>
          <a:prstGeom prst="rect">
            <a:avLst/>
          </a:prstGeom>
          <a:noFill/>
          <a:ln/>
        </p:spPr>
        <p:txBody>
          <a:bodyPr wrap="square" lIns="0" tIns="0" rIns="0" bIns="0" rtlCol="0" anchor="t"/>
          <a:lstStyle/>
          <a:p>
            <a:pPr marL="0" indent="0">
              <a:buNone/>
            </a:pPr>
            <a:r>
              <a:rPr lang="en-US" sz="1600" b="1" dirty="0">
                <a:solidFill>
                  <a:srgbClr val="F3EFE6"/>
                </a:solidFill>
                <a:latin typeface="Calibri" pitchFamily="34" charset="0"/>
                <a:ea typeface="Calibri" pitchFamily="34" charset="-122"/>
                <a:cs typeface="Calibri" pitchFamily="34" charset="-120"/>
              </a:rPr>
              <a:t>The backup ML model</a:t>
            </a:r>
            <a:endParaRPr lang="en-US" sz="1600" dirty="0"/>
          </a:p>
        </p:txBody>
      </p:sp>
      <p:sp>
        <p:nvSpPr>
          <p:cNvPr id="22" name="Layer 2 text"/>
          <p:cNvSpPr txBox="1"/>
          <p:nvPr/>
        </p:nvSpPr>
        <p:spPr>
          <a:xfrm>
            <a:off x="1444752" y="2761488"/>
            <a:ext cx="3749040" cy="4572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Trained on our data. Runs with no network, and its disagreement is a warning.</a:t>
            </a:r>
            <a:endParaRPr lang="en-US" sz="1200" dirty="0"/>
          </a:p>
        </p:txBody>
      </p:sp>
      <p:sp>
        <p:nvSpPr>
          <p:cNvPr id="23" name="Layer 3"/>
          <p:cNvSpPr/>
          <p:nvPr/>
        </p:nvSpPr>
        <p:spPr>
          <a:xfrm>
            <a:off x="548640" y="3374136"/>
            <a:ext cx="4800600" cy="896112"/>
          </a:xfrm>
          <a:prstGeom prst="roundRect">
            <a:avLst>
              <a:gd name="adj" fmla="val 10204"/>
            </a:avLst>
          </a:prstGeom>
          <a:solidFill>
            <a:srgbClr val="161B23"/>
          </a:solidFill>
          <a:ln w="12700">
            <a:solidFill>
              <a:srgbClr val="2A323E"/>
            </a:solidFill>
            <a:prstDash val="solid"/>
          </a:ln>
        </p:spPr>
      </p:sp>
      <p:sp>
        <p:nvSpPr>
          <p:cNvPr id="24" name="Layer 3 badge"/>
          <p:cNvSpPr/>
          <p:nvPr/>
        </p:nvSpPr>
        <p:spPr>
          <a:xfrm>
            <a:off x="713232" y="3547872"/>
            <a:ext cx="548640" cy="548640"/>
          </a:xfrm>
          <a:prstGeom prst="ellipse">
            <a:avLst/>
          </a:prstGeom>
          <a:solidFill>
            <a:srgbClr val="5B6472"/>
          </a:solidFill>
          <a:ln w="12700">
            <a:solidFill>
              <a:srgbClr val="5B6472"/>
            </a:solidFill>
            <a:prstDash val="solid"/>
          </a:ln>
        </p:spPr>
      </p:sp>
      <p:pic>
        <p:nvPicPr>
          <p:cNvPr id="25" name="Layer 3 icon" descr="Layer 3"/>
          <p:cNvPicPr>
            <a:picLocks noChangeAspect="1"/>
          </p:cNvPicPr>
          <p:nvPr/>
        </p:nvPicPr>
        <p:blipFill>
          <a:blip r:embed="rId14"/>
          <a:stretch>
            <a:fillRect/>
          </a:stretch>
        </p:blipFill>
        <p:spPr>
          <a:xfrm>
            <a:off x="855878" y="3690518"/>
            <a:ext cx="263347" cy="263347"/>
          </a:xfrm>
          <a:prstGeom prst="rect">
            <a:avLst/>
          </a:prstGeom>
        </p:spPr>
      </p:pic>
      <p:sp>
        <p:nvSpPr>
          <p:cNvPr id="26" name="Layer 3 title"/>
          <p:cNvSpPr txBox="1"/>
          <p:nvPr/>
        </p:nvSpPr>
        <p:spPr>
          <a:xfrm>
            <a:off x="1444752" y="3483864"/>
            <a:ext cx="3749040" cy="274320"/>
          </a:xfrm>
          <a:prstGeom prst="rect">
            <a:avLst/>
          </a:prstGeom>
          <a:noFill/>
          <a:ln/>
        </p:spPr>
        <p:txBody>
          <a:bodyPr wrap="square" lIns="0" tIns="0" rIns="0" bIns="0" rtlCol="0" anchor="t"/>
          <a:lstStyle/>
          <a:p>
            <a:pPr marL="0" indent="0">
              <a:buNone/>
            </a:pPr>
            <a:r>
              <a:rPr lang="en-US" sz="1600" b="1" dirty="0">
                <a:solidFill>
                  <a:srgbClr val="F3EFE6"/>
                </a:solidFill>
                <a:latin typeface="Calibri" pitchFamily="34" charset="0"/>
                <a:ea typeface="Calibri" pitchFamily="34" charset="-122"/>
                <a:cs typeface="Calibri" pitchFamily="34" charset="-120"/>
              </a:rPr>
              <a:t>The safety rules</a:t>
            </a:r>
            <a:endParaRPr lang="en-US" sz="1600" dirty="0"/>
          </a:p>
        </p:txBody>
      </p:sp>
      <p:sp>
        <p:nvSpPr>
          <p:cNvPr id="27" name="Layer 3 text"/>
          <p:cNvSpPr txBox="1"/>
          <p:nvPr/>
        </p:nvSpPr>
        <p:spPr>
          <a:xfrm>
            <a:off x="1444752" y="3785616"/>
            <a:ext cx="3749040" cy="4572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61 fixed patterns, from "hurt me" to "not breathing". They ignore instructions in the text.</a:t>
            </a:r>
            <a:endParaRPr lang="en-US" sz="1200" dirty="0"/>
          </a:p>
        </p:txBody>
      </p:sp>
      <p:sp>
        <p:nvSpPr>
          <p:cNvPr id="28" name="Ladder label"/>
          <p:cNvSpPr txBox="1"/>
          <p:nvPr/>
        </p:nvSpPr>
        <p:spPr>
          <a:xfrm>
            <a:off x="5806440" y="1097280"/>
            <a:ext cx="1554480" cy="201168"/>
          </a:xfrm>
          <a:prstGeom prst="rect">
            <a:avLst/>
          </a:prstGeom>
          <a:noFill/>
          <a:ln/>
        </p:spPr>
        <p:txBody>
          <a:bodyPr wrap="square" lIns="0" tIns="0" rIns="0" bIns="0" rtlCol="0" anchor="t"/>
          <a:lstStyle/>
          <a:p>
            <a:pPr marL="0" indent="0">
              <a:buNone/>
            </a:pPr>
            <a:r>
              <a:rPr lang="en-US" sz="1000" kern="0" spc="200" dirty="0">
                <a:solidFill>
                  <a:srgbClr val="9AA1AD"/>
                </a:solidFill>
                <a:latin typeface="Consolas" pitchFamily="34" charset="0"/>
                <a:ea typeface="Consolas" pitchFamily="34" charset="-122"/>
                <a:cs typeface="Consolas" pitchFamily="34" charset="-120"/>
              </a:rPr>
              <a:t>PRIORITY</a:t>
            </a:r>
            <a:endParaRPr lang="en-US" sz="1000" dirty="0"/>
          </a:p>
        </p:txBody>
      </p:sp>
      <p:sp>
        <p:nvSpPr>
          <p:cNvPr id="29" name="Ladder CRITICAL"/>
          <p:cNvSpPr/>
          <p:nvPr/>
        </p:nvSpPr>
        <p:spPr>
          <a:xfrm>
            <a:off x="5806440" y="1371600"/>
            <a:ext cx="1554480" cy="530352"/>
          </a:xfrm>
          <a:prstGeom prst="roundRect">
            <a:avLst>
              <a:gd name="adj" fmla="val 13793"/>
            </a:avLst>
          </a:prstGeom>
          <a:solidFill>
            <a:srgbClr val="E03A52"/>
          </a:solidFill>
          <a:ln w="12700">
            <a:solidFill>
              <a:srgbClr val="E03A52"/>
            </a:solidFill>
            <a:prstDash val="solid"/>
          </a:ln>
        </p:spPr>
      </p:sp>
      <p:sp>
        <p:nvSpPr>
          <p:cNvPr id="30" name="Ladder CRITICAL text"/>
          <p:cNvSpPr txBox="1"/>
          <p:nvPr/>
        </p:nvSpPr>
        <p:spPr>
          <a:xfrm>
            <a:off x="5806440" y="137160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CRITICAL</a:t>
            </a:r>
            <a:endParaRPr lang="en-US" sz="1300" dirty="0"/>
          </a:p>
        </p:txBody>
      </p:sp>
      <p:sp>
        <p:nvSpPr>
          <p:cNvPr id="31" name="Ladder HIGH"/>
          <p:cNvSpPr/>
          <p:nvPr/>
        </p:nvSpPr>
        <p:spPr>
          <a:xfrm>
            <a:off x="5806440" y="2011680"/>
            <a:ext cx="1554480" cy="530352"/>
          </a:xfrm>
          <a:prstGeom prst="roundRect">
            <a:avLst>
              <a:gd name="adj" fmla="val 13793"/>
            </a:avLst>
          </a:prstGeom>
          <a:solidFill>
            <a:srgbClr val="F0702C"/>
          </a:solidFill>
          <a:ln w="12700">
            <a:solidFill>
              <a:srgbClr val="F0702C"/>
            </a:solidFill>
            <a:prstDash val="solid"/>
          </a:ln>
        </p:spPr>
      </p:sp>
      <p:sp>
        <p:nvSpPr>
          <p:cNvPr id="32" name="Ladder HIGH text"/>
          <p:cNvSpPr txBox="1"/>
          <p:nvPr/>
        </p:nvSpPr>
        <p:spPr>
          <a:xfrm>
            <a:off x="5806440" y="201168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HIGH</a:t>
            </a:r>
            <a:endParaRPr lang="en-US" sz="1300" dirty="0"/>
          </a:p>
        </p:txBody>
      </p:sp>
      <p:sp>
        <p:nvSpPr>
          <p:cNvPr id="33" name="Ladder MEDIUM"/>
          <p:cNvSpPr/>
          <p:nvPr/>
        </p:nvSpPr>
        <p:spPr>
          <a:xfrm>
            <a:off x="5806440" y="2651760"/>
            <a:ext cx="1554480" cy="530352"/>
          </a:xfrm>
          <a:prstGeom prst="roundRect">
            <a:avLst>
              <a:gd name="adj" fmla="val 13793"/>
            </a:avLst>
          </a:prstGeom>
          <a:solidFill>
            <a:srgbClr val="D1A21E"/>
          </a:solidFill>
          <a:ln w="12700">
            <a:solidFill>
              <a:srgbClr val="D1A21E"/>
            </a:solidFill>
            <a:prstDash val="solid"/>
          </a:ln>
        </p:spPr>
      </p:sp>
      <p:sp>
        <p:nvSpPr>
          <p:cNvPr id="34" name="Ladder MEDIUM text"/>
          <p:cNvSpPr txBox="1"/>
          <p:nvPr/>
        </p:nvSpPr>
        <p:spPr>
          <a:xfrm>
            <a:off x="5806440" y="265176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MEDIUM</a:t>
            </a:r>
            <a:endParaRPr lang="en-US" sz="1300" dirty="0"/>
          </a:p>
        </p:txBody>
      </p:sp>
      <p:sp>
        <p:nvSpPr>
          <p:cNvPr id="35" name="Ladder LOW"/>
          <p:cNvSpPr/>
          <p:nvPr/>
        </p:nvSpPr>
        <p:spPr>
          <a:xfrm>
            <a:off x="5806440" y="3291840"/>
            <a:ext cx="1554480" cy="530352"/>
          </a:xfrm>
          <a:prstGeom prst="roundRect">
            <a:avLst>
              <a:gd name="adj" fmla="val 13793"/>
            </a:avLst>
          </a:prstGeom>
          <a:solidFill>
            <a:srgbClr val="36B26B"/>
          </a:solidFill>
          <a:ln w="12700">
            <a:solidFill>
              <a:srgbClr val="36B26B"/>
            </a:solidFill>
            <a:prstDash val="solid"/>
          </a:ln>
        </p:spPr>
      </p:sp>
      <p:sp>
        <p:nvSpPr>
          <p:cNvPr id="36" name="Ladder LOW text"/>
          <p:cNvSpPr txBox="1"/>
          <p:nvPr/>
        </p:nvSpPr>
        <p:spPr>
          <a:xfrm>
            <a:off x="5806440" y="329184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LOW</a:t>
            </a:r>
            <a:endParaRPr lang="en-US" sz="1300" dirty="0"/>
          </a:p>
        </p:txBody>
      </p:sp>
      <p:sp>
        <p:nvSpPr>
          <p:cNvPr id="37" name="Raise arrow"/>
          <p:cNvSpPr/>
          <p:nvPr/>
        </p:nvSpPr>
        <p:spPr>
          <a:xfrm flipV="1">
            <a:off x="5650992" y="1463040"/>
            <a:ext cx="0" cy="2331720"/>
          </a:xfrm>
          <a:prstGeom prst="line">
            <a:avLst/>
          </a:prstGeom>
          <a:noFill/>
          <a:ln w="28575">
            <a:solidFill>
              <a:srgbClr val="F2B84B"/>
            </a:solidFill>
            <a:prstDash val="solid"/>
            <a:tailEnd type="triangle"/>
          </a:ln>
        </p:spPr>
      </p:sp>
      <p:sp>
        <p:nvSpPr>
          <p:cNvPr id="38" name="Chip cut-off"/>
          <p:cNvSpPr txBox="1"/>
          <p:nvPr/>
        </p:nvSpPr>
        <p:spPr>
          <a:xfrm>
            <a:off x="7498080" y="1417320"/>
            <a:ext cx="1188720" cy="914400"/>
          </a:xfrm>
          <a:prstGeom prst="rect">
            <a:avLst/>
          </a:prstGeom>
          <a:noFill/>
          <a:ln/>
        </p:spPr>
        <p:txBody>
          <a:bodyPr wrap="square" lIns="0" tIns="0" rIns="0" bIns="0" rtlCol="0" anchor="t"/>
          <a:lstStyle/>
          <a:p>
            <a:pPr marL="0" indent="0">
              <a:buNone/>
            </a:pPr>
            <a:r>
              <a:rPr lang="en-US" sz="1200" b="1" dirty="0">
                <a:solidFill>
                  <a:srgbClr val="F2B84B"/>
                </a:solidFill>
                <a:latin typeface="Calibri" pitchFamily="34" charset="0"/>
                <a:ea typeface="Calibri" pitchFamily="34" charset="-122"/>
                <a:cs typeface="Calibri" pitchFamily="34" charset="-120"/>
              </a:rPr>
              <a:t>+2 levels for senders cut off by floods</a:t>
            </a:r>
            <a:endParaRPr lang="en-US" sz="1200" dirty="0"/>
          </a:p>
        </p:txBody>
      </p:sp>
      <p:sp>
        <p:nvSpPr>
          <p:cNvPr id="39" name="Chip language"/>
          <p:cNvSpPr txBox="1"/>
          <p:nvPr/>
        </p:nvSpPr>
        <p:spPr>
          <a:xfrm>
            <a:off x="7498080" y="2697480"/>
            <a:ext cx="1188720" cy="1188720"/>
          </a:xfrm>
          <a:prstGeom prst="rect">
            <a:avLst/>
          </a:prstGeom>
          <a:noFill/>
          <a:ln/>
        </p:spPr>
        <p:txBody>
          <a:bodyPr wrap="square" lIns="0" tIns="0" rIns="0" bIns="0" rtlCol="0" anchor="t"/>
          <a:lstStyle/>
          <a:p>
            <a:pPr marL="0" indent="0">
              <a:buNone/>
            </a:pPr>
            <a:r>
              <a:rPr lang="en-US" sz="1200" b="1" dirty="0">
                <a:solidFill>
                  <a:srgbClr val="F2B84B"/>
                </a:solidFill>
                <a:latin typeface="Calibri" pitchFamily="34" charset="0"/>
                <a:ea typeface="Calibri" pitchFamily="34" charset="-122"/>
                <a:cs typeface="Calibri" pitchFamily="34" charset="-120"/>
              </a:rPr>
              <a:t>Text we can't read: at least HIGH, to an interpreter</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50"/>
                                        <p:tgtEl>
                                          <p:spTgt spid="13"/>
                                        </p:tgtEl>
                                      </p:cBhvr>
                                    </p:animEffect>
                                  </p:childTnLst>
                                </p:cTn>
                              </p:par>
                              <p:par>
                                <p:cTn id="8" presetID="10" presetClass="entr" presetSubtype="0" fill="hold" nodeType="withEffect">
                                  <p:stCondLst>
                                    <p:cond delay="5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50"/>
                                        <p:tgtEl>
                                          <p:spTgt spid="14"/>
                                        </p:tgtEl>
                                      </p:cBhvr>
                                    </p:animEffect>
                                  </p:childTnLst>
                                </p:cTn>
                              </p:par>
                              <p:par>
                                <p:cTn id="11" presetID="10" presetClass="entr" presetSubtype="0" fill="hold" nodeType="withEffect">
                                  <p:stCondLst>
                                    <p:cond delay="5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50"/>
                                        <p:tgtEl>
                                          <p:spTgt spid="15"/>
                                        </p:tgtEl>
                                      </p:cBhvr>
                                    </p:animEffect>
                                  </p:childTnLst>
                                </p:cTn>
                              </p:par>
                              <p:par>
                                <p:cTn id="14" presetID="10" presetClass="entr" presetSubtype="0" fill="hold" grpId="0" nodeType="withEffect">
                                  <p:stCondLst>
                                    <p:cond delay="5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50"/>
                                        <p:tgtEl>
                                          <p:spTgt spid="16"/>
                                        </p:tgtEl>
                                      </p:cBhvr>
                                    </p:animEffect>
                                  </p:childTnLst>
                                </p:cTn>
                              </p:par>
                              <p:par>
                                <p:cTn id="17" presetID="10" presetClass="entr" presetSubtype="0" fill="hold" grpId="0" nodeType="withEffect">
                                  <p:stCondLst>
                                    <p:cond delay="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childTnLst>
                          </p:cTn>
                        </p:par>
                        <p:par>
                          <p:cTn id="20" fill="hold">
                            <p:stCondLst>
                              <p:cond delay="650"/>
                            </p:stCondLst>
                            <p:childTnLst>
                              <p:par>
                                <p:cTn id="21" presetID="10" presetClass="entr" presetSubtype="0" fill="hold" nodeType="afterEffect">
                                  <p:stCondLst>
                                    <p:cond delay="2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50"/>
                                        <p:tgtEl>
                                          <p:spTgt spid="18"/>
                                        </p:tgtEl>
                                      </p:cBhvr>
                                    </p:animEffect>
                                  </p:childTnLst>
                                </p:cTn>
                              </p:par>
                              <p:par>
                                <p:cTn id="24" presetID="10" presetClass="entr" presetSubtype="0" fill="hold" nodeType="withEffect">
                                  <p:stCondLst>
                                    <p:cond delay="5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50"/>
                                        <p:tgtEl>
                                          <p:spTgt spid="19"/>
                                        </p:tgtEl>
                                      </p:cBhvr>
                                    </p:animEffect>
                                  </p:childTnLst>
                                </p:cTn>
                              </p:par>
                              <p:par>
                                <p:cTn id="27" presetID="10" presetClass="entr" presetSubtype="0" fill="hold" nodeType="withEffect">
                                  <p:stCondLst>
                                    <p:cond delay="5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450"/>
                                        <p:tgtEl>
                                          <p:spTgt spid="20"/>
                                        </p:tgtEl>
                                      </p:cBhvr>
                                    </p:animEffect>
                                  </p:childTnLst>
                                </p:cTn>
                              </p:par>
                              <p:par>
                                <p:cTn id="30" presetID="10" presetClass="entr" presetSubtype="0" fill="hold" grpId="0" nodeType="withEffect">
                                  <p:stCondLst>
                                    <p:cond delay="5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450"/>
                                        <p:tgtEl>
                                          <p:spTgt spid="21"/>
                                        </p:tgtEl>
                                      </p:cBhvr>
                                    </p:animEffect>
                                  </p:childTnLst>
                                </p:cTn>
                              </p:par>
                              <p:par>
                                <p:cTn id="33" presetID="10" presetClass="entr" presetSubtype="0" fill="hold" grpId="0" nodeType="withEffect">
                                  <p:stCondLst>
                                    <p:cond delay="5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450"/>
                                        <p:tgtEl>
                                          <p:spTgt spid="22"/>
                                        </p:tgtEl>
                                      </p:cBhvr>
                                    </p:animEffect>
                                  </p:childTnLst>
                                </p:cTn>
                              </p:par>
                            </p:childTnLst>
                          </p:cTn>
                        </p:par>
                        <p:par>
                          <p:cTn id="36" fill="hold">
                            <p:stCondLst>
                              <p:cond delay="1300"/>
                            </p:stCondLst>
                            <p:childTnLst>
                              <p:par>
                                <p:cTn id="37" presetID="10" presetClass="entr" presetSubtype="0" fill="hold" nodeType="afterEffect">
                                  <p:stCondLst>
                                    <p:cond delay="20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50"/>
                                        <p:tgtEl>
                                          <p:spTgt spid="23"/>
                                        </p:tgtEl>
                                      </p:cBhvr>
                                    </p:animEffect>
                                  </p:childTnLst>
                                </p:cTn>
                              </p:par>
                              <p:par>
                                <p:cTn id="40" presetID="10" presetClass="entr" presetSubtype="0" fill="hold" nodeType="withEffect">
                                  <p:stCondLst>
                                    <p:cond delay="5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50"/>
                                        <p:tgtEl>
                                          <p:spTgt spid="24"/>
                                        </p:tgtEl>
                                      </p:cBhvr>
                                    </p:animEffect>
                                  </p:childTnLst>
                                </p:cTn>
                              </p:par>
                              <p:par>
                                <p:cTn id="43" presetID="10" presetClass="entr" presetSubtype="0" fill="hold" nodeType="withEffect">
                                  <p:stCondLst>
                                    <p:cond delay="5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50"/>
                                        <p:tgtEl>
                                          <p:spTgt spid="25"/>
                                        </p:tgtEl>
                                      </p:cBhvr>
                                    </p:animEffect>
                                  </p:childTnLst>
                                </p:cTn>
                              </p:par>
                              <p:par>
                                <p:cTn id="46" presetID="10" presetClass="entr" presetSubtype="0" fill="hold" grpId="0" nodeType="withEffect">
                                  <p:stCondLst>
                                    <p:cond delay="5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50"/>
                                        <p:tgtEl>
                                          <p:spTgt spid="26"/>
                                        </p:tgtEl>
                                      </p:cBhvr>
                                    </p:animEffect>
                                  </p:childTnLst>
                                </p:cTn>
                              </p:par>
                              <p:par>
                                <p:cTn id="49" presetID="10" presetClass="entr" presetSubtype="0" fill="hold" grpId="0" nodeType="withEffect">
                                  <p:stCondLst>
                                    <p:cond delay="5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50"/>
                                        <p:tgtEl>
                                          <p:spTgt spid="27"/>
                                        </p:tgtEl>
                                      </p:cBhvr>
                                    </p:animEffect>
                                  </p:childTnLst>
                                </p:cTn>
                              </p:par>
                            </p:childTnLst>
                          </p:cTn>
                        </p:par>
                        <p:par>
                          <p:cTn id="52" fill="hold">
                            <p:stCondLst>
                              <p:cond delay="1950"/>
                            </p:stCondLst>
                            <p:childTnLst>
                              <p:par>
                                <p:cTn id="53" presetID="22" presetClass="entr" presetSubtype="4" fill="hold" nodeType="afterEffect">
                                  <p:stCondLst>
                                    <p:cond delay="300"/>
                                  </p:stCondLst>
                                  <p:childTnLst>
                                    <p:set>
                                      <p:cBhvr>
                                        <p:cTn id="54" dur="1" fill="hold">
                                          <p:stCondLst>
                                            <p:cond delay="0"/>
                                          </p:stCondLst>
                                        </p:cTn>
                                        <p:tgtEl>
                                          <p:spTgt spid="35"/>
                                        </p:tgtEl>
                                        <p:attrNameLst>
                                          <p:attrName>style.visibility</p:attrName>
                                        </p:attrNameLst>
                                      </p:cBhvr>
                                      <p:to>
                                        <p:strVal val="visible"/>
                                      </p:to>
                                    </p:set>
                                    <p:animEffect transition="in" filter="wipe(down)">
                                      <p:cBhvr>
                                        <p:cTn id="55" dur="400"/>
                                        <p:tgtEl>
                                          <p:spTgt spid="35"/>
                                        </p:tgtEl>
                                      </p:cBhvr>
                                    </p:animEffect>
                                  </p:childTnLst>
                                </p:cTn>
                              </p:par>
                              <p:par>
                                <p:cTn id="56" presetID="10" presetClass="entr" presetSubtype="0" fill="hold" grpId="0" nodeType="withEffect">
                                  <p:stCondLst>
                                    <p:cond delay="30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par>
                                <p:cTn id="59" presetID="22" presetClass="entr" presetSubtype="4" fill="hold" nodeType="withEffect">
                                  <p:stCondLst>
                                    <p:cond delay="250"/>
                                  </p:stCondLst>
                                  <p:childTnLst>
                                    <p:set>
                                      <p:cBhvr>
                                        <p:cTn id="60" dur="1" fill="hold">
                                          <p:stCondLst>
                                            <p:cond delay="0"/>
                                          </p:stCondLst>
                                        </p:cTn>
                                        <p:tgtEl>
                                          <p:spTgt spid="33"/>
                                        </p:tgtEl>
                                        <p:attrNameLst>
                                          <p:attrName>style.visibility</p:attrName>
                                        </p:attrNameLst>
                                      </p:cBhvr>
                                      <p:to>
                                        <p:strVal val="visible"/>
                                      </p:to>
                                    </p:set>
                                    <p:animEffect transition="in" filter="wipe(down)">
                                      <p:cBhvr>
                                        <p:cTn id="61" dur="400"/>
                                        <p:tgtEl>
                                          <p:spTgt spid="33"/>
                                        </p:tgtEl>
                                      </p:cBhvr>
                                    </p:animEffect>
                                  </p:childTnLst>
                                </p:cTn>
                              </p:par>
                              <p:par>
                                <p:cTn id="62" presetID="10" presetClass="entr" presetSubtype="0" fill="hold" grpId="0" nodeType="withEffect">
                                  <p:stCondLst>
                                    <p:cond delay="250"/>
                                  </p:stCondLst>
                                  <p:childTnLst>
                                    <p:set>
                                      <p:cBhvr>
                                        <p:cTn id="63" dur="1" fill="hold">
                                          <p:stCondLst>
                                            <p:cond delay="0"/>
                                          </p:stCondLst>
                                        </p:cTn>
                                        <p:tgtEl>
                                          <p:spTgt spid="34"/>
                                        </p:tgtEl>
                                        <p:attrNameLst>
                                          <p:attrName>style.visibility</p:attrName>
                                        </p:attrNameLst>
                                      </p:cBhvr>
                                      <p:to>
                                        <p:strVal val="visible"/>
                                      </p:to>
                                    </p:set>
                                    <p:animEffect transition="in" filter="fade">
                                      <p:cBhvr>
                                        <p:cTn id="64" dur="400"/>
                                        <p:tgtEl>
                                          <p:spTgt spid="34"/>
                                        </p:tgtEl>
                                      </p:cBhvr>
                                    </p:animEffect>
                                  </p:childTnLst>
                                </p:cTn>
                              </p:par>
                              <p:par>
                                <p:cTn id="65" presetID="22" presetClass="entr" presetSubtype="4" fill="hold" nodeType="withEffect">
                                  <p:stCondLst>
                                    <p:cond delay="500"/>
                                  </p:stCondLst>
                                  <p:childTnLst>
                                    <p:set>
                                      <p:cBhvr>
                                        <p:cTn id="66" dur="1" fill="hold">
                                          <p:stCondLst>
                                            <p:cond delay="0"/>
                                          </p:stCondLst>
                                        </p:cTn>
                                        <p:tgtEl>
                                          <p:spTgt spid="31"/>
                                        </p:tgtEl>
                                        <p:attrNameLst>
                                          <p:attrName>style.visibility</p:attrName>
                                        </p:attrNameLst>
                                      </p:cBhvr>
                                      <p:to>
                                        <p:strVal val="visible"/>
                                      </p:to>
                                    </p:set>
                                    <p:animEffect transition="in" filter="wipe(down)">
                                      <p:cBhvr>
                                        <p:cTn id="67" dur="400"/>
                                        <p:tgtEl>
                                          <p:spTgt spid="31"/>
                                        </p:tgtEl>
                                      </p:cBhvr>
                                    </p:animEffect>
                                  </p:childTnLst>
                                </p:cTn>
                              </p:par>
                              <p:par>
                                <p:cTn id="68" presetID="10" presetClass="entr" presetSubtype="0" fill="hold" grpId="0" nodeType="withEffect">
                                  <p:stCondLst>
                                    <p:cond delay="50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22" presetClass="entr" presetSubtype="4" fill="hold" nodeType="withEffect">
                                  <p:stCondLst>
                                    <p:cond delay="750"/>
                                  </p:stCondLst>
                                  <p:childTnLst>
                                    <p:set>
                                      <p:cBhvr>
                                        <p:cTn id="72" dur="1" fill="hold">
                                          <p:stCondLst>
                                            <p:cond delay="0"/>
                                          </p:stCondLst>
                                        </p:cTn>
                                        <p:tgtEl>
                                          <p:spTgt spid="29"/>
                                        </p:tgtEl>
                                        <p:attrNameLst>
                                          <p:attrName>style.visibility</p:attrName>
                                        </p:attrNameLst>
                                      </p:cBhvr>
                                      <p:to>
                                        <p:strVal val="visible"/>
                                      </p:to>
                                    </p:set>
                                    <p:animEffect transition="in" filter="wipe(down)">
                                      <p:cBhvr>
                                        <p:cTn id="73" dur="400"/>
                                        <p:tgtEl>
                                          <p:spTgt spid="29"/>
                                        </p:tgtEl>
                                      </p:cBhvr>
                                    </p:animEffect>
                                  </p:childTnLst>
                                </p:cTn>
                              </p:par>
                              <p:par>
                                <p:cTn id="74" presetID="10" presetClass="entr" presetSubtype="0" fill="hold" grpId="0" nodeType="withEffect">
                                  <p:stCondLst>
                                    <p:cond delay="75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400"/>
                                        <p:tgtEl>
                                          <p:spTgt spid="30"/>
                                        </p:tgtEl>
                                      </p:cBhvr>
                                    </p:animEffect>
                                  </p:childTnLst>
                                </p:cTn>
                              </p:par>
                            </p:childTnLst>
                          </p:cTn>
                        </p:par>
                        <p:par>
                          <p:cTn id="77" fill="hold">
                            <p:stCondLst>
                              <p:cond delay="3100"/>
                            </p:stCondLst>
                            <p:childTnLst>
                              <p:par>
                                <p:cTn id="78" presetID="22" presetClass="entr" presetSubtype="1" fill="hold" nodeType="afterEffect">
                                  <p:stCondLst>
                                    <p:cond delay="100"/>
                                  </p:stCondLst>
                                  <p:childTnLst>
                                    <p:set>
                                      <p:cBhvr>
                                        <p:cTn id="79" dur="1" fill="hold">
                                          <p:stCondLst>
                                            <p:cond delay="0"/>
                                          </p:stCondLst>
                                        </p:cTn>
                                        <p:tgtEl>
                                          <p:spTgt spid="37"/>
                                        </p:tgtEl>
                                        <p:attrNameLst>
                                          <p:attrName>style.visibility</p:attrName>
                                        </p:attrNameLst>
                                      </p:cBhvr>
                                      <p:to>
                                        <p:strVal val="visible"/>
                                      </p:to>
                                    </p:set>
                                    <p:animEffect transition="in" filter="wipe(up)">
                                      <p:cBhvr>
                                        <p:cTn id="80" dur="500"/>
                                        <p:tgtEl>
                                          <p:spTgt spid="37"/>
                                        </p:tgtEl>
                                      </p:cBhvr>
                                    </p:animEffect>
                                  </p:childTnLst>
                                </p:cTn>
                              </p:par>
                            </p:childTnLst>
                          </p:cTn>
                        </p:par>
                        <p:par>
                          <p:cTn id="81" fill="hold">
                            <p:stCondLst>
                              <p:cond delay="3700"/>
                            </p:stCondLst>
                            <p:childTnLst>
                              <p:par>
                                <p:cTn id="82" presetID="10" presetClass="entr" presetSubtype="0" fill="hold" grpId="0" nodeType="afterEffect">
                                  <p:stCondLst>
                                    <p:cond delay="10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500"/>
                                        <p:tgtEl>
                                          <p:spTgt spid="38"/>
                                        </p:tgtEl>
                                      </p:cBhvr>
                                    </p:animEffect>
                                  </p:childTnLst>
                                </p:cTn>
                              </p:par>
                            </p:childTnLst>
                          </p:cTn>
                        </p:par>
                        <p:par>
                          <p:cTn id="85" fill="hold">
                            <p:stCondLst>
                              <p:cond delay="4300"/>
                            </p:stCondLst>
                            <p:childTnLst>
                              <p:par>
                                <p:cTn id="86" presetID="10" presetClass="entr" presetSubtype="0" fill="hold" grpId="0" nodeType="afterEffect">
                                  <p:stCondLst>
                                    <p:cond delay="1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1" grpId="0" animBg="1"/>
      <p:bldP spid="22" grpId="0" animBg="1"/>
      <p:bldP spid="26" grpId="0" animBg="1"/>
      <p:bldP spid="27" grpId="0" animBg="1"/>
      <p:bldP spid="30" grpId="0" animBg="1"/>
      <p:bldP spid="32" grpId="0" animBg="1"/>
      <p:bldP spid="34" grpId="0" animBg="1"/>
      <p:bldP spid="36" grpId="0" animBg="1"/>
      <p:bldP spid="38" grpId="0" animBg="1"/>
      <p:bldP spid="3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E0561A"/>
          </a:solidFill>
          <a:ln w="12700">
            <a:solidFill>
              <a:srgbClr val="E0561A"/>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Kicker"/>
          <p:cNvSpPr txBox="1"/>
          <p:nvPr/>
        </p:nvSpPr>
        <p:spPr>
          <a:xfrm>
            <a:off x="548640" y="457200"/>
            <a:ext cx="5486400" cy="228600"/>
          </a:xfrm>
          <a:prstGeom prst="rect">
            <a:avLst/>
          </a:prstGeom>
          <a:noFill/>
          <a:ln/>
        </p:spPr>
        <p:txBody>
          <a:bodyPr wrap="square" lIns="0" tIns="0" rIns="0" bIns="0" rtlCol="0" anchor="t"/>
          <a:lstStyle/>
          <a:p>
            <a:pPr marL="0" indent="0">
              <a:buNone/>
            </a:pPr>
            <a:r>
              <a:rPr lang="en-US" sz="1000" b="1" kern="0" spc="200" dirty="0">
                <a:solidFill>
                  <a:srgbClr val="E0561A"/>
                </a:solidFill>
                <a:latin typeface="Consolas" pitchFamily="34" charset="0"/>
                <a:ea typeface="Consolas" pitchFamily="34" charset="-122"/>
                <a:cs typeface="Consolas" pitchFamily="34" charset="-120"/>
              </a:rPr>
              <a:t>WE TESTED IT, FOUND A GAP, FIXED IT</a:t>
            </a:r>
            <a:endParaRPr lang="en-US" sz="1000" dirty="0"/>
          </a:p>
        </p:txBody>
      </p:sp>
      <p:sp>
        <p:nvSpPr>
          <p:cNvPr id="13" name="Title"/>
          <p:cNvSpPr txBox="1"/>
          <p:nvPr/>
        </p:nvSpPr>
        <p:spPr>
          <a:xfrm>
            <a:off x="548640" y="749808"/>
            <a:ext cx="8046720" cy="640080"/>
          </a:xfrm>
          <a:prstGeom prst="rect">
            <a:avLst/>
          </a:prstGeom>
          <a:noFill/>
          <a:ln/>
        </p:spPr>
        <p:txBody>
          <a:bodyPr wrap="square" lIns="0" tIns="0" rIns="0" bIns="0" rtlCol="0" anchor="t"/>
          <a:lstStyle/>
          <a:p>
            <a:pPr marL="0" indent="0">
              <a:buNone/>
            </a:pPr>
            <a:r>
              <a:rPr lang="en-US" sz="3400" b="1" dirty="0">
                <a:solidFill>
                  <a:srgbClr val="F3EFE6"/>
                </a:solidFill>
                <a:latin typeface="Calibri" pitchFamily="34" charset="0"/>
                <a:ea typeface="Calibri" pitchFamily="34" charset="-122"/>
                <a:cs typeface="Calibri" pitchFamily="34" charset="-120"/>
              </a:rPr>
              <a:t>The second-opinion floor</a:t>
            </a:r>
            <a:endParaRPr lang="en-US" sz="3400" dirty="0"/>
          </a:p>
        </p:txBody>
      </p:sp>
      <p:sp>
        <p:nvSpPr>
          <p:cNvPr id="14" name="Gap card"/>
          <p:cNvSpPr/>
          <p:nvPr/>
        </p:nvSpPr>
        <p:spPr>
          <a:xfrm>
            <a:off x="548640" y="1554480"/>
            <a:ext cx="4572000" cy="2926080"/>
          </a:xfrm>
          <a:prstGeom prst="roundRect">
            <a:avLst>
              <a:gd name="adj" fmla="val 3125"/>
            </a:avLst>
          </a:prstGeom>
          <a:solidFill>
            <a:srgbClr val="161B23"/>
          </a:solidFill>
          <a:ln w="12700">
            <a:solidFill>
              <a:srgbClr val="2A323E"/>
            </a:solidFill>
            <a:prstDash val="solid"/>
          </a:ln>
        </p:spPr>
      </p:sp>
      <p:sp>
        <p:nvSpPr>
          <p:cNvPr id="15" name="Gap label"/>
          <p:cNvSpPr txBox="1"/>
          <p:nvPr/>
        </p:nvSpPr>
        <p:spPr>
          <a:xfrm>
            <a:off x="731520" y="1691640"/>
            <a:ext cx="420624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BENCHMARK MESSAGE M027  ·  TRULY HIGH</a:t>
            </a:r>
            <a:endParaRPr lang="en-US" sz="1000" dirty="0"/>
          </a:p>
        </p:txBody>
      </p:sp>
      <p:sp>
        <p:nvSpPr>
          <p:cNvPr id="16" name="Gap message"/>
          <p:cNvSpPr txBox="1"/>
          <p:nvPr/>
        </p:nvSpPr>
        <p:spPr>
          <a:xfrm>
            <a:off x="731520" y="1938528"/>
            <a:ext cx="4206240" cy="685800"/>
          </a:xfrm>
          <a:prstGeom prst="rect">
            <a:avLst/>
          </a:prstGeom>
          <a:noFill/>
          <a:ln/>
        </p:spPr>
        <p:txBody>
          <a:bodyPr wrap="square" lIns="0" tIns="0" rIns="0" bIns="0" rtlCol="0" anchor="t"/>
          <a:lstStyle/>
          <a:p>
            <a:pPr marL="0" indent="0">
              <a:buNone/>
            </a:pPr>
            <a:r>
              <a:rPr lang="en-US" sz="1400" i="1" dirty="0">
                <a:solidFill>
                  <a:srgbClr val="F3EFE6"/>
                </a:solidFill>
                <a:latin typeface="Calibri" pitchFamily="34" charset="0"/>
                <a:ea typeface="Calibri" pitchFamily="34" charset="-122"/>
                <a:cs typeface="Calibri" pitchFamily="34" charset="-120"/>
              </a:rPr>
              <a:t>“fence and half the carport gone in the wind last night, water starting to pool near the house”</a:t>
            </a:r>
            <a:endParaRPr lang="en-US" sz="1400" dirty="0"/>
          </a:p>
        </p:txBody>
      </p:sp>
      <p:sp>
        <p:nvSpPr>
          <p:cNvPr id="17" name="Chip AI"/>
          <p:cNvSpPr/>
          <p:nvPr/>
        </p:nvSpPr>
        <p:spPr>
          <a:xfrm>
            <a:off x="731520" y="2788920"/>
            <a:ext cx="1828800" cy="502920"/>
          </a:xfrm>
          <a:prstGeom prst="roundRect">
            <a:avLst>
              <a:gd name="adj" fmla="val 14545"/>
            </a:avLst>
          </a:prstGeom>
          <a:solidFill>
            <a:srgbClr val="1C222C"/>
          </a:solidFill>
          <a:ln w="19050">
            <a:solidFill>
              <a:srgbClr val="D1A21E"/>
            </a:solidFill>
            <a:prstDash val="solid"/>
          </a:ln>
        </p:spPr>
      </p:sp>
      <p:sp>
        <p:nvSpPr>
          <p:cNvPr id="18" name="Chip AI label"/>
          <p:cNvSpPr txBox="1"/>
          <p:nvPr/>
        </p:nvSpPr>
        <p:spPr>
          <a:xfrm>
            <a:off x="841248" y="2834640"/>
            <a:ext cx="1609344"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AI MODEL SAID</a:t>
            </a:r>
            <a:endParaRPr lang="en-US" sz="1000" dirty="0"/>
          </a:p>
        </p:txBody>
      </p:sp>
      <p:sp>
        <p:nvSpPr>
          <p:cNvPr id="19" name="Chip AI value"/>
          <p:cNvSpPr txBox="1"/>
          <p:nvPr/>
        </p:nvSpPr>
        <p:spPr>
          <a:xfrm>
            <a:off x="841248" y="3008376"/>
            <a:ext cx="1609344" cy="256032"/>
          </a:xfrm>
          <a:prstGeom prst="rect">
            <a:avLst/>
          </a:prstGeom>
          <a:noFill/>
          <a:ln/>
        </p:spPr>
        <p:txBody>
          <a:bodyPr wrap="square" lIns="0" tIns="0" rIns="0" bIns="0" rtlCol="0" anchor="t"/>
          <a:lstStyle/>
          <a:p>
            <a:pPr marL="0" indent="0">
              <a:buNone/>
            </a:pPr>
            <a:r>
              <a:rPr lang="en-US" sz="1500" b="1" dirty="0">
                <a:solidFill>
                  <a:srgbClr val="D1A21E"/>
                </a:solidFill>
                <a:latin typeface="Calibri" pitchFamily="34" charset="0"/>
                <a:ea typeface="Calibri" pitchFamily="34" charset="-122"/>
                <a:cs typeface="Calibri" pitchFamily="34" charset="-120"/>
              </a:rPr>
              <a:t>MEDIUM</a:t>
            </a:r>
            <a:endParaRPr lang="en-US" sz="1500" dirty="0"/>
          </a:p>
        </p:txBody>
      </p:sp>
      <p:sp>
        <p:nvSpPr>
          <p:cNvPr id="20" name="Chip backup"/>
          <p:cNvSpPr/>
          <p:nvPr/>
        </p:nvSpPr>
        <p:spPr>
          <a:xfrm>
            <a:off x="2926080" y="2788920"/>
            <a:ext cx="2011680" cy="502920"/>
          </a:xfrm>
          <a:prstGeom prst="roundRect">
            <a:avLst>
              <a:gd name="adj" fmla="val 14545"/>
            </a:avLst>
          </a:prstGeom>
          <a:solidFill>
            <a:srgbClr val="1C222C"/>
          </a:solidFill>
          <a:ln w="19050">
            <a:solidFill>
              <a:srgbClr val="F0702C"/>
            </a:solidFill>
            <a:prstDash val="solid"/>
          </a:ln>
        </p:spPr>
      </p:sp>
      <p:sp>
        <p:nvSpPr>
          <p:cNvPr id="21" name="Chip backup label"/>
          <p:cNvSpPr txBox="1"/>
          <p:nvPr/>
        </p:nvSpPr>
        <p:spPr>
          <a:xfrm>
            <a:off x="3035808" y="2834640"/>
            <a:ext cx="1792224"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BACKUP MODEL SAID</a:t>
            </a:r>
            <a:endParaRPr lang="en-US" sz="1000" dirty="0"/>
          </a:p>
        </p:txBody>
      </p:sp>
      <p:sp>
        <p:nvSpPr>
          <p:cNvPr id="22" name="Chip backup value"/>
          <p:cNvSpPr txBox="1"/>
          <p:nvPr/>
        </p:nvSpPr>
        <p:spPr>
          <a:xfrm>
            <a:off x="3035808" y="3008376"/>
            <a:ext cx="1792224" cy="256032"/>
          </a:xfrm>
          <a:prstGeom prst="rect">
            <a:avLst/>
          </a:prstGeom>
          <a:noFill/>
          <a:ln/>
        </p:spPr>
        <p:txBody>
          <a:bodyPr wrap="square" lIns="0" tIns="0" rIns="0" bIns="0" rtlCol="0" anchor="t"/>
          <a:lstStyle/>
          <a:p>
            <a:pPr marL="0" indent="0">
              <a:buNone/>
            </a:pPr>
            <a:r>
              <a:rPr lang="en-US" sz="1500" b="1" dirty="0">
                <a:solidFill>
                  <a:srgbClr val="F0702C"/>
                </a:solidFill>
                <a:latin typeface="Calibri" pitchFamily="34" charset="0"/>
                <a:ea typeface="Calibri" pitchFamily="34" charset="-122"/>
                <a:cs typeface="Calibri" pitchFamily="34" charset="-120"/>
              </a:rPr>
              <a:t>HIGH</a:t>
            </a:r>
            <a:endParaRPr lang="en-US" sz="1500" dirty="0"/>
          </a:p>
        </p:txBody>
      </p:sp>
      <p:sp>
        <p:nvSpPr>
          <p:cNvPr id="23" name="Disagree sign"/>
          <p:cNvSpPr txBox="1"/>
          <p:nvPr/>
        </p:nvSpPr>
        <p:spPr>
          <a:xfrm>
            <a:off x="2560320" y="2788920"/>
            <a:ext cx="365760" cy="502920"/>
          </a:xfrm>
          <a:prstGeom prst="rect">
            <a:avLst/>
          </a:prstGeom>
          <a:noFill/>
          <a:ln/>
        </p:spPr>
        <p:txBody>
          <a:bodyPr wrap="square" lIns="0" tIns="0" rIns="0" bIns="0" rtlCol="0" anchor="ctr"/>
          <a:lstStyle/>
          <a:p>
            <a:pPr marL="0" indent="0" algn="ctr">
              <a:buNone/>
            </a:pPr>
            <a:r>
              <a:rPr lang="en-US" sz="2400" b="1" dirty="0">
                <a:solidFill>
                  <a:srgbClr val="F2B84B"/>
                </a:solidFill>
                <a:latin typeface="Calibri" pitchFamily="34" charset="0"/>
                <a:ea typeface="Calibri" pitchFamily="34" charset="-122"/>
                <a:cs typeface="Calibri" pitchFamily="34" charset="-120"/>
              </a:rPr>
              <a:t>≠</a:t>
            </a:r>
            <a:endParaRPr lang="en-US" sz="2400" dirty="0"/>
          </a:p>
        </p:txBody>
      </p:sp>
      <p:sp>
        <p:nvSpPr>
          <p:cNvPr id="24" name="Gap note"/>
          <p:cNvSpPr txBox="1"/>
          <p:nvPr/>
        </p:nvSpPr>
        <p:spPr>
          <a:xfrm>
            <a:off x="731520" y="3474720"/>
            <a:ext cx="4206240" cy="45720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The system had been throwing that disagreement away, so a high message was missed.</a:t>
            </a:r>
            <a:endParaRPr lang="en-US" sz="1250" dirty="0"/>
          </a:p>
        </p:txBody>
      </p:sp>
      <p:sp>
        <p:nvSpPr>
          <p:cNvPr id="25" name="Rule box"/>
          <p:cNvSpPr/>
          <p:nvPr/>
        </p:nvSpPr>
        <p:spPr>
          <a:xfrm>
            <a:off x="731520" y="3931920"/>
            <a:ext cx="4206240" cy="457200"/>
          </a:xfrm>
          <a:prstGeom prst="roundRect">
            <a:avLst>
              <a:gd name="adj" fmla="val 16000"/>
            </a:avLst>
          </a:prstGeom>
          <a:solidFill>
            <a:srgbClr val="1F1710"/>
          </a:solidFill>
          <a:ln w="12700">
            <a:solidFill>
              <a:srgbClr val="E0561A"/>
            </a:solidFill>
            <a:prstDash val="solid"/>
          </a:ln>
        </p:spPr>
      </p:sp>
      <p:sp>
        <p:nvSpPr>
          <p:cNvPr id="26" name="Rule text"/>
          <p:cNvSpPr txBox="1"/>
          <p:nvPr/>
        </p:nvSpPr>
        <p:spPr>
          <a:xfrm>
            <a:off x="841248" y="3931920"/>
            <a:ext cx="4023360" cy="457200"/>
          </a:xfrm>
          <a:prstGeom prst="rect">
            <a:avLst/>
          </a:prstGeom>
          <a:noFill/>
          <a:ln/>
        </p:spPr>
        <p:txBody>
          <a:bodyPr wrap="square" lIns="0" tIns="0" rIns="0" bIns="0" rtlCol="0" anchor="ctr"/>
          <a:lstStyle/>
          <a:p>
            <a:pPr marL="0" indent="0">
              <a:buNone/>
            </a:pPr>
            <a:r>
              <a:rPr lang="en-US" sz="1000" b="1" dirty="0">
                <a:solidFill>
                  <a:srgbClr val="E0561A"/>
                </a:solidFill>
                <a:latin typeface="Consolas" pitchFamily="34" charset="0"/>
                <a:ea typeface="Consolas" pitchFamily="34" charset="-122"/>
                <a:cs typeface="Consolas" pitchFamily="34" charset="-120"/>
              </a:rPr>
              <a:t>RULE  </a:t>
            </a:r>
            <a:r>
              <a:rPr lang="en-US" sz="1200" dirty="0">
                <a:solidFill>
                  <a:srgbClr val="F3EFE6"/>
                </a:solidFill>
                <a:latin typeface="Calibri" pitchFamily="34" charset="0"/>
                <a:ea typeface="Calibri" pitchFamily="34" charset="-122"/>
                <a:cs typeface="Calibri" pitchFamily="34" charset="-120"/>
              </a:rPr>
              <a:t>backup says high or critical, AI lower: at least HIGH until a person reads it</a:t>
            </a:r>
            <a:endParaRPr lang="en-US" sz="1000" dirty="0"/>
          </a:p>
        </p:txBody>
      </p:sp>
      <p:sp>
        <p:nvSpPr>
          <p:cNvPr id="27" name="Result card"/>
          <p:cNvSpPr/>
          <p:nvPr/>
        </p:nvSpPr>
        <p:spPr>
          <a:xfrm>
            <a:off x="5349240" y="1554480"/>
            <a:ext cx="3246120" cy="2926080"/>
          </a:xfrm>
          <a:prstGeom prst="roundRect">
            <a:avLst>
              <a:gd name="adj" fmla="val 3125"/>
            </a:avLst>
          </a:prstGeom>
          <a:solidFill>
            <a:srgbClr val="161B23"/>
          </a:solidFill>
          <a:ln w="12700">
            <a:solidFill>
              <a:srgbClr val="2A323E"/>
            </a:solidFill>
            <a:prstDash val="solid"/>
          </a:ln>
        </p:spPr>
      </p:sp>
      <p:sp>
        <p:nvSpPr>
          <p:cNvPr id="28" name="Result label"/>
          <p:cNvSpPr txBox="1"/>
          <p:nvPr/>
        </p:nvSpPr>
        <p:spPr>
          <a:xfrm>
            <a:off x="5532120" y="1691640"/>
            <a:ext cx="292608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WHAT IT CHANGED  ·  152 MESSAGES</a:t>
            </a:r>
            <a:endParaRPr lang="en-US" sz="1000" dirty="0"/>
          </a:p>
        </p:txBody>
      </p:sp>
      <p:sp>
        <p:nvSpPr>
          <p:cNvPr id="29" name="Bar caught title"/>
          <p:cNvSpPr txBox="1"/>
          <p:nvPr/>
        </p:nvSpPr>
        <p:spPr>
          <a:xfrm>
            <a:off x="5532120" y="2011680"/>
            <a:ext cx="2926080" cy="228600"/>
          </a:xfrm>
          <a:prstGeom prst="rect">
            <a:avLst/>
          </a:prstGeom>
          <a:noFill/>
          <a:ln/>
        </p:spPr>
        <p:txBody>
          <a:bodyPr wrap="square" lIns="0" tIns="0" rIns="0" bIns="0" rtlCol="0" anchor="t"/>
          <a:lstStyle/>
          <a:p>
            <a:pPr marL="0" indent="0">
              <a:buNone/>
            </a:pPr>
            <a:r>
              <a:rPr lang="en-US" sz="1250" b="1" dirty="0">
                <a:solidFill>
                  <a:srgbClr val="F3EFE6"/>
                </a:solidFill>
                <a:latin typeface="Calibri" pitchFamily="34" charset="0"/>
                <a:ea typeface="Calibri" pitchFamily="34" charset="-122"/>
                <a:cs typeface="Calibri" pitchFamily="34" charset="-120"/>
              </a:rPr>
              <a:t>Urgent messages caught</a:t>
            </a:r>
            <a:endParaRPr lang="en-US" sz="1250" dirty="0"/>
          </a:p>
        </p:txBody>
      </p:sp>
      <p:sp>
        <p:nvSpPr>
          <p:cNvPr id="30" name="Bar caught before tag"/>
          <p:cNvSpPr txBox="1"/>
          <p:nvPr/>
        </p:nvSpPr>
        <p:spPr>
          <a:xfrm>
            <a:off x="5532120" y="2304288"/>
            <a:ext cx="502920"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before</a:t>
            </a:r>
            <a:endParaRPr lang="en-US" sz="1000" dirty="0"/>
          </a:p>
        </p:txBody>
      </p:sp>
      <p:sp>
        <p:nvSpPr>
          <p:cNvPr id="31" name="Bar caught before track"/>
          <p:cNvSpPr/>
          <p:nvPr/>
        </p:nvSpPr>
        <p:spPr>
          <a:xfrm>
            <a:off x="6080760" y="2286000"/>
            <a:ext cx="1737360" cy="201168"/>
          </a:xfrm>
          <a:prstGeom prst="roundRect">
            <a:avLst>
              <a:gd name="adj" fmla="val 22727"/>
            </a:avLst>
          </a:prstGeom>
          <a:solidFill>
            <a:srgbClr val="1C222C"/>
          </a:solidFill>
          <a:ln w="12700">
            <a:solidFill>
              <a:srgbClr val="1C222C"/>
            </a:solidFill>
            <a:prstDash val="solid"/>
          </a:ln>
        </p:spPr>
      </p:sp>
      <p:sp>
        <p:nvSpPr>
          <p:cNvPr id="32" name="Bar caught before fill"/>
          <p:cNvSpPr/>
          <p:nvPr/>
        </p:nvSpPr>
        <p:spPr>
          <a:xfrm>
            <a:off x="6080760" y="2286000"/>
            <a:ext cx="1642595" cy="201168"/>
          </a:xfrm>
          <a:prstGeom prst="roundRect">
            <a:avLst>
              <a:gd name="adj" fmla="val 22727"/>
            </a:avLst>
          </a:prstGeom>
          <a:solidFill>
            <a:srgbClr val="6C7480"/>
          </a:solidFill>
          <a:ln w="12700">
            <a:solidFill>
              <a:srgbClr val="6C7480"/>
            </a:solidFill>
            <a:prstDash val="solid"/>
          </a:ln>
        </p:spPr>
      </p:sp>
      <p:sp>
        <p:nvSpPr>
          <p:cNvPr id="33" name="Bar caught before value"/>
          <p:cNvSpPr txBox="1"/>
          <p:nvPr/>
        </p:nvSpPr>
        <p:spPr>
          <a:xfrm>
            <a:off x="7882128" y="2267712"/>
            <a:ext cx="640080" cy="237744"/>
          </a:xfrm>
          <a:prstGeom prst="rect">
            <a:avLst/>
          </a:prstGeom>
          <a:noFill/>
          <a:ln/>
        </p:spPr>
        <p:txBody>
          <a:bodyPr wrap="square" lIns="0" tIns="0" rIns="0" bIns="0" rtlCol="0" anchor="t"/>
          <a:lstStyle/>
          <a:p>
            <a:pPr marL="0" indent="0">
              <a:buNone/>
            </a:pPr>
            <a:r>
              <a:rPr lang="en-US" sz="1200" b="1" dirty="0">
                <a:solidFill>
                  <a:srgbClr val="9AA1AD"/>
                </a:solidFill>
                <a:latin typeface="Calibri" pitchFamily="34" charset="0"/>
                <a:ea typeface="Calibri" pitchFamily="34" charset="-122"/>
                <a:cs typeface="Calibri" pitchFamily="34" charset="-120"/>
              </a:rPr>
              <a:t>94.5%</a:t>
            </a:r>
            <a:endParaRPr lang="en-US" sz="1200" dirty="0"/>
          </a:p>
        </p:txBody>
      </p:sp>
      <p:sp>
        <p:nvSpPr>
          <p:cNvPr id="34" name="Bar caught after tag"/>
          <p:cNvSpPr txBox="1"/>
          <p:nvPr/>
        </p:nvSpPr>
        <p:spPr>
          <a:xfrm>
            <a:off x="5532120" y="2615184"/>
            <a:ext cx="502920"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after</a:t>
            </a:r>
            <a:endParaRPr lang="en-US" sz="1000" dirty="0"/>
          </a:p>
        </p:txBody>
      </p:sp>
      <p:sp>
        <p:nvSpPr>
          <p:cNvPr id="35" name="Bar caught after track"/>
          <p:cNvSpPr/>
          <p:nvPr/>
        </p:nvSpPr>
        <p:spPr>
          <a:xfrm>
            <a:off x="6080760" y="2596896"/>
            <a:ext cx="1737360" cy="201168"/>
          </a:xfrm>
          <a:prstGeom prst="roundRect">
            <a:avLst>
              <a:gd name="adj" fmla="val 22727"/>
            </a:avLst>
          </a:prstGeom>
          <a:solidFill>
            <a:srgbClr val="1C222C"/>
          </a:solidFill>
          <a:ln w="12700">
            <a:solidFill>
              <a:srgbClr val="1C222C"/>
            </a:solidFill>
            <a:prstDash val="solid"/>
          </a:ln>
        </p:spPr>
      </p:sp>
      <p:sp>
        <p:nvSpPr>
          <p:cNvPr id="36" name="Bar caught after fill"/>
          <p:cNvSpPr/>
          <p:nvPr/>
        </p:nvSpPr>
        <p:spPr>
          <a:xfrm>
            <a:off x="6080760" y="2596896"/>
            <a:ext cx="1705772" cy="201168"/>
          </a:xfrm>
          <a:prstGeom prst="roundRect">
            <a:avLst>
              <a:gd name="adj" fmla="val 22727"/>
            </a:avLst>
          </a:prstGeom>
          <a:solidFill>
            <a:srgbClr val="36B26B"/>
          </a:solidFill>
          <a:ln w="12700">
            <a:solidFill>
              <a:srgbClr val="36B26B"/>
            </a:solidFill>
            <a:prstDash val="solid"/>
          </a:ln>
        </p:spPr>
      </p:sp>
      <p:sp>
        <p:nvSpPr>
          <p:cNvPr id="37" name="Bar caught after value"/>
          <p:cNvSpPr txBox="1"/>
          <p:nvPr/>
        </p:nvSpPr>
        <p:spPr>
          <a:xfrm>
            <a:off x="7882128" y="2578608"/>
            <a:ext cx="640080" cy="237744"/>
          </a:xfrm>
          <a:prstGeom prst="rect">
            <a:avLst/>
          </a:prstGeom>
          <a:noFill/>
          <a:ln/>
        </p:spPr>
        <p:txBody>
          <a:bodyPr wrap="square" lIns="0" tIns="0" rIns="0" bIns="0" rtlCol="0" anchor="t"/>
          <a:lstStyle/>
          <a:p>
            <a:pPr marL="0" indent="0">
              <a:buNone/>
            </a:pPr>
            <a:r>
              <a:rPr lang="en-US" sz="1200" b="1" dirty="0">
                <a:solidFill>
                  <a:srgbClr val="36B26B"/>
                </a:solidFill>
                <a:latin typeface="Calibri" pitchFamily="34" charset="0"/>
                <a:ea typeface="Calibri" pitchFamily="34" charset="-122"/>
                <a:cs typeface="Calibri" pitchFamily="34" charset="-120"/>
              </a:rPr>
              <a:t>98.2%</a:t>
            </a:r>
            <a:endParaRPr lang="en-US" sz="1200" dirty="0"/>
          </a:p>
        </p:txBody>
      </p:sp>
      <p:sp>
        <p:nvSpPr>
          <p:cNvPr id="38" name="Bar routine title"/>
          <p:cNvSpPr txBox="1"/>
          <p:nvPr/>
        </p:nvSpPr>
        <p:spPr>
          <a:xfrm>
            <a:off x="5532120" y="3017520"/>
            <a:ext cx="2926080" cy="228600"/>
          </a:xfrm>
          <a:prstGeom prst="rect">
            <a:avLst/>
          </a:prstGeom>
          <a:noFill/>
          <a:ln/>
        </p:spPr>
        <p:txBody>
          <a:bodyPr wrap="square" lIns="0" tIns="0" rIns="0" bIns="0" rtlCol="0" anchor="t"/>
          <a:lstStyle/>
          <a:p>
            <a:pPr marL="0" indent="0">
              <a:buNone/>
            </a:pPr>
            <a:r>
              <a:rPr lang="en-US" sz="1250" b="1" dirty="0">
                <a:solidFill>
                  <a:srgbClr val="F3EFE6"/>
                </a:solidFill>
                <a:latin typeface="Calibri" pitchFamily="34" charset="0"/>
                <a:ea typeface="Calibri" pitchFamily="34" charset="-122"/>
                <a:cs typeface="Calibri" pitchFamily="34" charset="-120"/>
              </a:rPr>
              <a:t>Routine messages escalated</a:t>
            </a:r>
            <a:endParaRPr lang="en-US" sz="1250" dirty="0"/>
          </a:p>
        </p:txBody>
      </p:sp>
      <p:sp>
        <p:nvSpPr>
          <p:cNvPr id="39" name="Bar routine before tag"/>
          <p:cNvSpPr txBox="1"/>
          <p:nvPr/>
        </p:nvSpPr>
        <p:spPr>
          <a:xfrm>
            <a:off x="5532120" y="3310128"/>
            <a:ext cx="502920"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before</a:t>
            </a:r>
            <a:endParaRPr lang="en-US" sz="1000" dirty="0"/>
          </a:p>
        </p:txBody>
      </p:sp>
      <p:sp>
        <p:nvSpPr>
          <p:cNvPr id="40" name="Bar routine before track"/>
          <p:cNvSpPr/>
          <p:nvPr/>
        </p:nvSpPr>
        <p:spPr>
          <a:xfrm>
            <a:off x="6080760" y="3291840"/>
            <a:ext cx="1737360" cy="201168"/>
          </a:xfrm>
          <a:prstGeom prst="roundRect">
            <a:avLst>
              <a:gd name="adj" fmla="val 22727"/>
            </a:avLst>
          </a:prstGeom>
          <a:solidFill>
            <a:srgbClr val="1C222C"/>
          </a:solidFill>
          <a:ln w="12700">
            <a:solidFill>
              <a:srgbClr val="1C222C"/>
            </a:solidFill>
            <a:prstDash val="solid"/>
          </a:ln>
        </p:spPr>
      </p:sp>
      <p:sp>
        <p:nvSpPr>
          <p:cNvPr id="41" name="Bar routine before fill"/>
          <p:cNvSpPr/>
          <p:nvPr/>
        </p:nvSpPr>
        <p:spPr>
          <a:xfrm>
            <a:off x="6080760" y="3291840"/>
            <a:ext cx="109728" cy="201168"/>
          </a:xfrm>
          <a:prstGeom prst="roundRect">
            <a:avLst>
              <a:gd name="adj" fmla="val 41667"/>
            </a:avLst>
          </a:prstGeom>
          <a:solidFill>
            <a:srgbClr val="6C7480"/>
          </a:solidFill>
          <a:ln w="12700">
            <a:solidFill>
              <a:srgbClr val="6C7480"/>
            </a:solidFill>
            <a:prstDash val="solid"/>
          </a:ln>
        </p:spPr>
      </p:sp>
      <p:sp>
        <p:nvSpPr>
          <p:cNvPr id="42" name="Bar routine before value"/>
          <p:cNvSpPr txBox="1"/>
          <p:nvPr/>
        </p:nvSpPr>
        <p:spPr>
          <a:xfrm>
            <a:off x="7882128" y="3273552"/>
            <a:ext cx="640080" cy="237744"/>
          </a:xfrm>
          <a:prstGeom prst="rect">
            <a:avLst/>
          </a:prstGeom>
          <a:noFill/>
          <a:ln/>
        </p:spPr>
        <p:txBody>
          <a:bodyPr wrap="square" lIns="0" tIns="0" rIns="0" bIns="0" rtlCol="0" anchor="t"/>
          <a:lstStyle/>
          <a:p>
            <a:pPr marL="0" indent="0">
              <a:buNone/>
            </a:pPr>
            <a:r>
              <a:rPr lang="en-US" sz="1200" b="1" dirty="0">
                <a:solidFill>
                  <a:srgbClr val="9AA1AD"/>
                </a:solidFill>
                <a:latin typeface="Calibri" pitchFamily="34" charset="0"/>
                <a:ea typeface="Calibri" pitchFamily="34" charset="-122"/>
                <a:cs typeface="Calibri" pitchFamily="34" charset="-120"/>
              </a:rPr>
              <a:t>1 / 97</a:t>
            </a:r>
            <a:endParaRPr lang="en-US" sz="1200" dirty="0"/>
          </a:p>
        </p:txBody>
      </p:sp>
      <p:sp>
        <p:nvSpPr>
          <p:cNvPr id="43" name="Bar routine after tag"/>
          <p:cNvSpPr txBox="1"/>
          <p:nvPr/>
        </p:nvSpPr>
        <p:spPr>
          <a:xfrm>
            <a:off x="5532120" y="3621024"/>
            <a:ext cx="502920"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after</a:t>
            </a:r>
            <a:endParaRPr lang="en-US" sz="1000" dirty="0"/>
          </a:p>
        </p:txBody>
      </p:sp>
      <p:sp>
        <p:nvSpPr>
          <p:cNvPr id="44" name="Bar routine after track"/>
          <p:cNvSpPr/>
          <p:nvPr/>
        </p:nvSpPr>
        <p:spPr>
          <a:xfrm>
            <a:off x="6080760" y="3602736"/>
            <a:ext cx="1737360" cy="201168"/>
          </a:xfrm>
          <a:prstGeom prst="roundRect">
            <a:avLst>
              <a:gd name="adj" fmla="val 22727"/>
            </a:avLst>
          </a:prstGeom>
          <a:solidFill>
            <a:srgbClr val="1C222C"/>
          </a:solidFill>
          <a:ln w="12700">
            <a:solidFill>
              <a:srgbClr val="1C222C"/>
            </a:solidFill>
            <a:prstDash val="solid"/>
          </a:ln>
        </p:spPr>
      </p:sp>
      <p:sp>
        <p:nvSpPr>
          <p:cNvPr id="45" name="Bar routine after fill"/>
          <p:cNvSpPr/>
          <p:nvPr/>
        </p:nvSpPr>
        <p:spPr>
          <a:xfrm>
            <a:off x="6080760" y="3602736"/>
            <a:ext cx="868680" cy="201168"/>
          </a:xfrm>
          <a:prstGeom prst="roundRect">
            <a:avLst>
              <a:gd name="adj" fmla="val 22727"/>
            </a:avLst>
          </a:prstGeom>
          <a:solidFill>
            <a:srgbClr val="F2B84B"/>
          </a:solidFill>
          <a:ln w="12700">
            <a:solidFill>
              <a:srgbClr val="F2B84B"/>
            </a:solidFill>
            <a:prstDash val="solid"/>
          </a:ln>
        </p:spPr>
      </p:sp>
      <p:sp>
        <p:nvSpPr>
          <p:cNvPr id="46" name="Bar routine after value"/>
          <p:cNvSpPr txBox="1"/>
          <p:nvPr/>
        </p:nvSpPr>
        <p:spPr>
          <a:xfrm>
            <a:off x="7882128" y="3584448"/>
            <a:ext cx="640080" cy="237744"/>
          </a:xfrm>
          <a:prstGeom prst="rect">
            <a:avLst/>
          </a:prstGeom>
          <a:noFill/>
          <a:ln/>
        </p:spPr>
        <p:txBody>
          <a:bodyPr wrap="square" lIns="0" tIns="0" rIns="0" bIns="0" rtlCol="0" anchor="t"/>
          <a:lstStyle/>
          <a:p>
            <a:pPr marL="0" indent="0">
              <a:buNone/>
            </a:pPr>
            <a:r>
              <a:rPr lang="en-US" sz="1200" b="1" dirty="0">
                <a:solidFill>
                  <a:srgbClr val="F2B84B"/>
                </a:solidFill>
                <a:latin typeface="Calibri" pitchFamily="34" charset="0"/>
                <a:ea typeface="Calibri" pitchFamily="34" charset="-122"/>
                <a:cs typeface="Calibri" pitchFamily="34" charset="-120"/>
              </a:rPr>
              <a:t>10 / 97</a:t>
            </a:r>
            <a:endParaRPr lang="en-US" sz="1200" dirty="0"/>
          </a:p>
        </p:txBody>
      </p:sp>
      <p:sp>
        <p:nvSpPr>
          <p:cNvPr id="47" name="Result note"/>
          <p:cNvSpPr txBox="1"/>
          <p:nvPr/>
        </p:nvSpPr>
        <p:spPr>
          <a:xfrm>
            <a:off x="5532120" y="3913632"/>
            <a:ext cx="2926080" cy="50292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The price: 9 more routine messages to read. We think that trade is right.</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childTnLst>
                          </p:cTn>
                        </p:par>
                        <p:par>
                          <p:cTn id="14" fill="hold">
                            <p:stCondLst>
                              <p:cond delay="700"/>
                            </p:stCondLst>
                            <p:childTnLst>
                              <p:par>
                                <p:cTn id="15" presetID="10" presetClass="entr" presetSubtype="0" fill="hold" nodeType="afterEffect">
                                  <p:stCondLst>
                                    <p:cond delay="30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50"/>
                                        <p:tgtEl>
                                          <p:spTgt spid="1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50"/>
                                        <p:tgtEl>
                                          <p:spTgt spid="19"/>
                                        </p:tgtEl>
                                      </p:cBhvr>
                                    </p:animEffect>
                                  </p:childTnLst>
                                </p:cTn>
                              </p:par>
                            </p:childTnLst>
                          </p:cTn>
                        </p:par>
                        <p:par>
                          <p:cTn id="24" fill="hold">
                            <p:stCondLst>
                              <p:cond delay="1450"/>
                            </p:stCondLst>
                            <p:childTnLst>
                              <p:par>
                                <p:cTn id="25" presetID="10" presetClass="entr" presetSubtype="0" fill="hold" nodeType="afterEffect">
                                  <p:stCondLst>
                                    <p:cond delay="15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5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45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50"/>
                                        <p:tgtEl>
                                          <p:spTgt spid="22"/>
                                        </p:tgtEl>
                                      </p:cBhvr>
                                    </p:animEffect>
                                  </p:childTnLst>
                                </p:cTn>
                              </p:par>
                            </p:childTnLst>
                          </p:cTn>
                        </p:par>
                        <p:par>
                          <p:cTn id="34" fill="hold">
                            <p:stCondLst>
                              <p:cond delay="2050"/>
                            </p:stCondLst>
                            <p:childTnLst>
                              <p:par>
                                <p:cTn id="35" presetID="23" presetClass="entr" presetSubtype="16" fill="hold" grpId="0" nodeType="afterEffect">
                                  <p:stCondLst>
                                    <p:cond delay="100"/>
                                  </p:stCondLst>
                                  <p:childTnLst>
                                    <p:set>
                                      <p:cBhvr>
                                        <p:cTn id="36" dur="1" fill="hold">
                                          <p:stCondLst>
                                            <p:cond delay="0"/>
                                          </p:stCondLst>
                                        </p:cTn>
                                        <p:tgtEl>
                                          <p:spTgt spid="23"/>
                                        </p:tgtEl>
                                        <p:attrNameLst>
                                          <p:attrName>style.visibility</p:attrName>
                                        </p:attrNameLst>
                                      </p:cBhvr>
                                      <p:to>
                                        <p:strVal val="visible"/>
                                      </p:to>
                                    </p:set>
                                    <p:anim calcmode="lin" valueType="num">
                                      <p:cBhvr>
                                        <p:cTn id="37" dur="400" fill="hold"/>
                                        <p:tgtEl>
                                          <p:spTgt spid="23"/>
                                        </p:tgtEl>
                                        <p:attrNameLst>
                                          <p:attrName>ppt_w</p:attrName>
                                        </p:attrNameLst>
                                      </p:cBhvr>
                                      <p:tavLst>
                                        <p:tav tm="0">
                                          <p:val>
                                            <p:fltVal val="0"/>
                                          </p:val>
                                        </p:tav>
                                        <p:tav tm="100000">
                                          <p:val>
                                            <p:strVal val="#ppt_w"/>
                                          </p:val>
                                        </p:tav>
                                      </p:tavLst>
                                    </p:anim>
                                    <p:anim calcmode="lin" valueType="num">
                                      <p:cBhvr>
                                        <p:cTn id="38" dur="400" fill="hold"/>
                                        <p:tgtEl>
                                          <p:spTgt spid="23"/>
                                        </p:tgtEl>
                                        <p:attrNameLst>
                                          <p:attrName>ppt_h</p:attrName>
                                        </p:attrNameLst>
                                      </p:cBhvr>
                                      <p:tavLst>
                                        <p:tav tm="0">
                                          <p:val>
                                            <p:fltVal val="0"/>
                                          </p:val>
                                        </p:tav>
                                        <p:tav tm="100000">
                                          <p:val>
                                            <p:strVal val="#ppt_h"/>
                                          </p:val>
                                        </p:tav>
                                      </p:tavLst>
                                    </p:anim>
                                  </p:childTnLst>
                                </p:cTn>
                              </p:par>
                            </p:childTnLst>
                          </p:cTn>
                        </p:par>
                        <p:par>
                          <p:cTn id="39" fill="hold">
                            <p:stCondLst>
                              <p:cond delay="2550"/>
                            </p:stCondLst>
                            <p:childTnLst>
                              <p:par>
                                <p:cTn id="40" presetID="10" presetClass="entr" presetSubtype="0" fill="hold" grpId="0" nodeType="afterEffect">
                                  <p:stCondLst>
                                    <p:cond delay="20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500"/>
                                        <p:tgtEl>
                                          <p:spTgt spid="24"/>
                                        </p:tgtEl>
                                      </p:cBhvr>
                                    </p:animEffect>
                                  </p:childTnLst>
                                </p:cTn>
                              </p:par>
                            </p:childTnLst>
                          </p:cTn>
                        </p:par>
                        <p:par>
                          <p:cTn id="43" fill="hold">
                            <p:stCondLst>
                              <p:cond delay="3250"/>
                            </p:stCondLst>
                            <p:childTnLst>
                              <p:par>
                                <p:cTn id="44" presetID="22" presetClass="entr" presetSubtype="4" fill="hold" nodeType="afterEffect">
                                  <p:stCondLst>
                                    <p:cond delay="300"/>
                                  </p:stCondLst>
                                  <p:childTnLst>
                                    <p:set>
                                      <p:cBhvr>
                                        <p:cTn id="45" dur="1" fill="hold">
                                          <p:stCondLst>
                                            <p:cond delay="0"/>
                                          </p:stCondLst>
                                        </p:cTn>
                                        <p:tgtEl>
                                          <p:spTgt spid="25"/>
                                        </p:tgtEl>
                                        <p:attrNameLst>
                                          <p:attrName>style.visibility</p:attrName>
                                        </p:attrNameLst>
                                      </p:cBhvr>
                                      <p:to>
                                        <p:strVal val="visible"/>
                                      </p:to>
                                    </p:set>
                                    <p:animEffect transition="in" filter="wipe(down)">
                                      <p:cBhvr>
                                        <p:cTn id="46" dur="600"/>
                                        <p:tgtEl>
                                          <p:spTgt spid="25"/>
                                        </p:tgtEl>
                                      </p:cBhvr>
                                    </p:animEffect>
                                  </p:childTnLst>
                                </p:cTn>
                              </p:par>
                              <p:par>
                                <p:cTn id="47" presetID="10" presetClass="entr" presetSubtype="0" fill="hold" grpId="0" nodeType="withEffect">
                                  <p:stCondLst>
                                    <p:cond delay="20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500"/>
                                        <p:tgtEl>
                                          <p:spTgt spid="26"/>
                                        </p:tgtEl>
                                      </p:cBhvr>
                                    </p:animEffect>
                                  </p:childTnLst>
                                </p:cTn>
                              </p:par>
                            </p:childTnLst>
                          </p:cTn>
                        </p:par>
                        <p:par>
                          <p:cTn id="50" fill="hold">
                            <p:stCondLst>
                              <p:cond delay="4150"/>
                            </p:stCondLst>
                            <p:childTnLst>
                              <p:par>
                                <p:cTn id="51" presetID="10" presetClass="entr" presetSubtype="0" fill="hold" nodeType="afterEffect">
                                  <p:stCondLst>
                                    <p:cond delay="40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00"/>
                                        <p:tgtEl>
                                          <p:spTgt spid="2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00"/>
                                        <p:tgtEl>
                                          <p:spTgt spid="2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500"/>
                                        <p:tgtEl>
                                          <p:spTgt spid="30"/>
                                        </p:tgtEl>
                                      </p:cBhvr>
                                    </p:animEffect>
                                  </p:childTnLst>
                                </p:cTn>
                              </p:par>
                              <p:par>
                                <p:cTn id="63" presetID="10" presetClass="entr" presetSubtype="0" fill="hold"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00"/>
                                        <p:tgtEl>
                                          <p:spTgt spid="31"/>
                                        </p:tgtEl>
                                      </p:cBhvr>
                                    </p:animEffect>
                                  </p:childTnLst>
                                </p:cTn>
                              </p:par>
                              <p:par>
                                <p:cTn id="66" presetID="10" presetClass="entr" presetSubtype="0" fill="hold"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5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00"/>
                                        <p:tgtEl>
                                          <p:spTgt spid="33"/>
                                        </p:tgtEl>
                                      </p:cBhvr>
                                    </p:animEffect>
                                  </p:childTnLst>
                                </p:cTn>
                              </p:par>
                            </p:childTnLst>
                          </p:cTn>
                        </p:par>
                        <p:par>
                          <p:cTn id="72" fill="hold">
                            <p:stCondLst>
                              <p:cond delay="5050"/>
                            </p:stCondLst>
                            <p:childTnLst>
                              <p:par>
                                <p:cTn id="73" presetID="10" presetClass="entr" presetSubtype="0" fill="hold" grpId="0" nodeType="afterEffect">
                                  <p:stCondLst>
                                    <p:cond delay="30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600"/>
                                        <p:tgtEl>
                                          <p:spTgt spid="34"/>
                                        </p:tgtEl>
                                      </p:cBhvr>
                                    </p:animEffect>
                                  </p:childTnLst>
                                </p:cTn>
                              </p:par>
                              <p:par>
                                <p:cTn id="76" presetID="10" presetClass="entr" presetSubtype="0" fill="hold" nodeType="with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600"/>
                                        <p:tgtEl>
                                          <p:spTgt spid="35"/>
                                        </p:tgtEl>
                                      </p:cBhvr>
                                    </p:animEffect>
                                  </p:childTnLst>
                                </p:cTn>
                              </p:par>
                              <p:par>
                                <p:cTn id="79" presetID="22" presetClass="entr" presetSubtype="4"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wipe(down)">
                                      <p:cBhvr>
                                        <p:cTn id="81" dur="600"/>
                                        <p:tgtEl>
                                          <p:spTgt spid="3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600"/>
                                        <p:tgtEl>
                                          <p:spTgt spid="37"/>
                                        </p:tgtEl>
                                      </p:cBhvr>
                                    </p:animEffect>
                                  </p:childTnLst>
                                </p:cTn>
                              </p:par>
                            </p:childTnLst>
                          </p:cTn>
                        </p:par>
                        <p:par>
                          <p:cTn id="85" fill="hold">
                            <p:stCondLst>
                              <p:cond delay="5950"/>
                            </p:stCondLst>
                            <p:childTnLst>
                              <p:par>
                                <p:cTn id="86" presetID="10" presetClass="entr" presetSubtype="0" fill="hold" grpId="0" nodeType="afterEffect">
                                  <p:stCondLst>
                                    <p:cond delay="20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500"/>
                                        <p:tgtEl>
                                          <p:spTgt spid="3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500"/>
                                        <p:tgtEl>
                                          <p:spTgt spid="39"/>
                                        </p:tgtEl>
                                      </p:cBhvr>
                                    </p:animEffect>
                                  </p:childTnLst>
                                </p:cTn>
                              </p:par>
                              <p:par>
                                <p:cTn id="92" presetID="10" presetClass="entr" presetSubtype="0" fill="hold" nodeType="with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500"/>
                                        <p:tgtEl>
                                          <p:spTgt spid="40"/>
                                        </p:tgtEl>
                                      </p:cBhvr>
                                    </p:animEffect>
                                  </p:childTnLst>
                                </p:cTn>
                              </p:par>
                              <p:par>
                                <p:cTn id="95" presetID="10" presetClass="entr" presetSubtype="0" fill="hold" nodeType="withEffect">
                                  <p:stCondLst>
                                    <p:cond delay="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500"/>
                                        <p:tgtEl>
                                          <p:spTgt spid="4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500"/>
                                        <p:tgtEl>
                                          <p:spTgt spid="42"/>
                                        </p:tgtEl>
                                      </p:cBhvr>
                                    </p:animEffect>
                                  </p:childTnLst>
                                </p:cTn>
                              </p:par>
                            </p:childTnLst>
                          </p:cTn>
                        </p:par>
                        <p:par>
                          <p:cTn id="101" fill="hold">
                            <p:stCondLst>
                              <p:cond delay="6650"/>
                            </p:stCondLst>
                            <p:childTnLst>
                              <p:par>
                                <p:cTn id="102" presetID="10" presetClass="entr" presetSubtype="0" fill="hold" grpId="0" nodeType="afterEffect">
                                  <p:stCondLst>
                                    <p:cond delay="300"/>
                                  </p:stCondLst>
                                  <p:childTnLst>
                                    <p:set>
                                      <p:cBhvr>
                                        <p:cTn id="103" dur="1" fill="hold">
                                          <p:stCondLst>
                                            <p:cond delay="0"/>
                                          </p:stCondLst>
                                        </p:cTn>
                                        <p:tgtEl>
                                          <p:spTgt spid="43"/>
                                        </p:tgtEl>
                                        <p:attrNameLst>
                                          <p:attrName>style.visibility</p:attrName>
                                        </p:attrNameLst>
                                      </p:cBhvr>
                                      <p:to>
                                        <p:strVal val="visible"/>
                                      </p:to>
                                    </p:set>
                                    <p:animEffect transition="in" filter="fade">
                                      <p:cBhvr>
                                        <p:cTn id="104" dur="600"/>
                                        <p:tgtEl>
                                          <p:spTgt spid="43"/>
                                        </p:tgtEl>
                                      </p:cBhvr>
                                    </p:animEffect>
                                  </p:childTnLst>
                                </p:cTn>
                              </p:par>
                              <p:par>
                                <p:cTn id="105" presetID="10" presetClass="entr" presetSubtype="0" fill="hold" nodeType="withEffect">
                                  <p:stCondLst>
                                    <p:cond delay="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600"/>
                                        <p:tgtEl>
                                          <p:spTgt spid="44"/>
                                        </p:tgtEl>
                                      </p:cBhvr>
                                    </p:animEffect>
                                  </p:childTnLst>
                                </p:cTn>
                              </p:par>
                              <p:par>
                                <p:cTn id="108" presetID="22" presetClass="entr" presetSubtype="4" fill="hold" nodeType="withEffect">
                                  <p:stCondLst>
                                    <p:cond delay="0"/>
                                  </p:stCondLst>
                                  <p:childTnLst>
                                    <p:set>
                                      <p:cBhvr>
                                        <p:cTn id="109" dur="1" fill="hold">
                                          <p:stCondLst>
                                            <p:cond delay="0"/>
                                          </p:stCondLst>
                                        </p:cTn>
                                        <p:tgtEl>
                                          <p:spTgt spid="45"/>
                                        </p:tgtEl>
                                        <p:attrNameLst>
                                          <p:attrName>style.visibility</p:attrName>
                                        </p:attrNameLst>
                                      </p:cBhvr>
                                      <p:to>
                                        <p:strVal val="visible"/>
                                      </p:to>
                                    </p:set>
                                    <p:animEffect transition="in" filter="wipe(down)">
                                      <p:cBhvr>
                                        <p:cTn id="110" dur="600"/>
                                        <p:tgtEl>
                                          <p:spTgt spid="45"/>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6"/>
                                        </p:tgtEl>
                                        <p:attrNameLst>
                                          <p:attrName>style.visibility</p:attrName>
                                        </p:attrNameLst>
                                      </p:cBhvr>
                                      <p:to>
                                        <p:strVal val="visible"/>
                                      </p:to>
                                    </p:set>
                                    <p:animEffect transition="in" filter="fade">
                                      <p:cBhvr>
                                        <p:cTn id="113" dur="600"/>
                                        <p:tgtEl>
                                          <p:spTgt spid="46"/>
                                        </p:tgtEl>
                                      </p:cBhvr>
                                    </p:animEffect>
                                  </p:childTnLst>
                                </p:cTn>
                              </p:par>
                            </p:childTnLst>
                          </p:cTn>
                        </p:par>
                        <p:par>
                          <p:cTn id="114" fill="hold">
                            <p:stCondLst>
                              <p:cond delay="7550"/>
                            </p:stCondLst>
                            <p:childTnLst>
                              <p:par>
                                <p:cTn id="115" presetID="10" presetClass="entr" presetSubtype="0" fill="hold" grpId="0" nodeType="afterEffect">
                                  <p:stCondLst>
                                    <p:cond delay="200"/>
                                  </p:stCondLst>
                                  <p:childTnLst>
                                    <p:set>
                                      <p:cBhvr>
                                        <p:cTn id="116" dur="1" fill="hold">
                                          <p:stCondLst>
                                            <p:cond delay="0"/>
                                          </p:stCondLst>
                                        </p:cTn>
                                        <p:tgtEl>
                                          <p:spTgt spid="47"/>
                                        </p:tgtEl>
                                        <p:attrNameLst>
                                          <p:attrName>style.visibility</p:attrName>
                                        </p:attrNameLst>
                                      </p:cBhvr>
                                      <p:to>
                                        <p:strVal val="visible"/>
                                      </p:to>
                                    </p:set>
                                    <p:animEffect transition="in" filter="fade">
                                      <p:cBhvr>
                                        <p:cTn id="117"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19" grpId="0" animBg="1"/>
      <p:bldP spid="21" grpId="0" animBg="1"/>
      <p:bldP spid="22" grpId="0" animBg="1"/>
      <p:bldP spid="23" grpId="0" animBg="1"/>
      <p:bldP spid="24" grpId="0" animBg="1"/>
      <p:bldP spid="26" grpId="0" animBg="1"/>
      <p:bldP spid="28" grpId="0" animBg="1"/>
      <p:bldP spid="29" grpId="0" animBg="1"/>
      <p:bldP spid="30" grpId="0" animBg="1"/>
      <p:bldP spid="33" grpId="0" animBg="1"/>
      <p:bldP spid="34" grpId="0" animBg="1"/>
      <p:bldP spid="37" grpId="0" animBg="1"/>
      <p:bldP spid="38" grpId="0" animBg="1"/>
      <p:bldP spid="39" grpId="0" animBg="1"/>
      <p:bldP spid="42" grpId="0" animBg="1"/>
      <p:bldP spid="43" grpId="0" animBg="1"/>
      <p:bldP spid="46" grpId="0"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E0561A"/>
          </a:solidFill>
          <a:ln w="12700">
            <a:solidFill>
              <a:srgbClr val="E0561A"/>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57200"/>
            <a:ext cx="4572000" cy="640080"/>
          </a:xfrm>
          <a:prstGeom prst="rect">
            <a:avLst/>
          </a:prstGeom>
          <a:noFill/>
          <a:ln/>
        </p:spPr>
        <p:txBody>
          <a:bodyPr wrap="square" lIns="0" tIns="0" rIns="0" bIns="0" rtlCol="0" anchor="t"/>
          <a:lstStyle/>
          <a:p>
            <a:pPr marL="0" indent="0">
              <a:buNone/>
            </a:pPr>
            <a:r>
              <a:rPr lang="en-US" sz="3400" b="1" dirty="0">
                <a:solidFill>
                  <a:srgbClr val="F3EFE6"/>
                </a:solidFill>
                <a:latin typeface="Calibri" pitchFamily="34" charset="0"/>
                <a:ea typeface="Calibri" pitchFamily="34" charset="-122"/>
                <a:cs typeface="Calibri" pitchFamily="34" charset="-120"/>
              </a:rPr>
              <a:t>Does it work?</a:t>
            </a:r>
            <a:endParaRPr lang="en-US" sz="3400" dirty="0"/>
          </a:p>
        </p:txBody>
      </p:sp>
      <p:sp>
        <p:nvSpPr>
          <p:cNvPr id="13" name="Subtitle"/>
          <p:cNvSpPr txBox="1"/>
          <p:nvPr/>
        </p:nvSpPr>
        <p:spPr>
          <a:xfrm>
            <a:off x="548640" y="1051560"/>
            <a:ext cx="548640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152 HAND-WRITTEN MESSAGES  ·  REAL AI VERDICTS  ·  55 TRULY URGENT</a:t>
            </a:r>
            <a:endParaRPr lang="en-US" sz="1000" dirty="0"/>
          </a:p>
        </p:txBody>
      </p:sp>
      <p:graphicFrame>
        <p:nvGraphicFramePr>
          <p:cNvPr id="14" name="Results chart"/>
          <p:cNvGraphicFramePr/>
          <p:nvPr/>
        </p:nvGraphicFramePr>
        <p:xfrm>
          <a:off x="457200" y="1371600"/>
          <a:ext cx="5029200" cy="2926080"/>
        </p:xfrm>
        <a:graphic>
          <a:graphicData uri="http://schemas.openxmlformats.org/drawingml/2006/chart">
            <c:chart xmlns:c="http://schemas.openxmlformats.org/drawingml/2006/chart" xmlns:r="http://schemas.openxmlformats.org/officeDocument/2006/relationships" r:id="rId12"/>
          </a:graphicData>
        </a:graphic>
      </p:graphicFrame>
      <p:sp>
        <p:nvSpPr>
          <p:cNvPr id="15" name="Big card 1"/>
          <p:cNvSpPr/>
          <p:nvPr/>
        </p:nvSpPr>
        <p:spPr>
          <a:xfrm>
            <a:off x="5760720" y="1325880"/>
            <a:ext cx="2926080" cy="896112"/>
          </a:xfrm>
          <a:prstGeom prst="roundRect">
            <a:avLst>
              <a:gd name="adj" fmla="val 10204"/>
            </a:avLst>
          </a:prstGeom>
          <a:solidFill>
            <a:srgbClr val="161B23"/>
          </a:solidFill>
          <a:ln w="12700">
            <a:solidFill>
              <a:srgbClr val="2A323E"/>
            </a:solidFill>
            <a:prstDash val="solid"/>
          </a:ln>
        </p:spPr>
      </p:sp>
      <p:sp>
        <p:nvSpPr>
          <p:cNvPr id="16" name="Big number 1"/>
          <p:cNvSpPr txBox="1"/>
          <p:nvPr/>
        </p:nvSpPr>
        <p:spPr>
          <a:xfrm>
            <a:off x="5943600" y="1417320"/>
            <a:ext cx="1417320" cy="685800"/>
          </a:xfrm>
          <a:prstGeom prst="rect">
            <a:avLst/>
          </a:prstGeom>
          <a:noFill/>
          <a:ln/>
        </p:spPr>
        <p:txBody>
          <a:bodyPr wrap="square" lIns="0" tIns="0" rIns="0" bIns="0" rtlCol="0" anchor="ctr"/>
          <a:lstStyle/>
          <a:p>
            <a:pPr marL="0" indent="0">
              <a:buNone/>
            </a:pPr>
            <a:r>
              <a:rPr lang="en-US" sz="2800" b="1" dirty="0">
                <a:solidFill>
                  <a:srgbClr val="36B26B"/>
                </a:solidFill>
                <a:latin typeface="Calibri" pitchFamily="34" charset="0"/>
                <a:ea typeface="Calibri" pitchFamily="34" charset="-122"/>
                <a:cs typeface="Calibri" pitchFamily="34" charset="-120"/>
              </a:rPr>
              <a:t>54 / 55</a:t>
            </a:r>
            <a:endParaRPr lang="en-US" sz="2800" dirty="0"/>
          </a:p>
        </p:txBody>
      </p:sp>
      <p:sp>
        <p:nvSpPr>
          <p:cNvPr id="17" name="Big label 1"/>
          <p:cNvSpPr txBox="1"/>
          <p:nvPr/>
        </p:nvSpPr>
        <p:spPr>
          <a:xfrm>
            <a:off x="7360920" y="1417320"/>
            <a:ext cx="1234440" cy="713232"/>
          </a:xfrm>
          <a:prstGeom prst="rect">
            <a:avLst/>
          </a:prstGeom>
          <a:noFill/>
          <a:ln/>
        </p:spPr>
        <p:txBody>
          <a:bodyPr wrap="square" lIns="0" tIns="0" rIns="0" bIns="0" rtlCol="0" anchor="ctr"/>
          <a:lstStyle/>
          <a:p>
            <a:pPr marL="0" indent="0">
              <a:buNone/>
            </a:pPr>
            <a:r>
              <a:rPr lang="en-US" sz="1150" dirty="0">
                <a:solidFill>
                  <a:srgbClr val="9AA1AD"/>
                </a:solidFill>
                <a:latin typeface="Calibri" pitchFamily="34" charset="0"/>
                <a:ea typeface="Calibri" pitchFamily="34" charset="-122"/>
                <a:cs typeface="Calibri" pitchFamily="34" charset="-120"/>
              </a:rPr>
              <a:t>urgent messages caught</a:t>
            </a:r>
            <a:endParaRPr lang="en-US" sz="1150" dirty="0"/>
          </a:p>
        </p:txBody>
      </p:sp>
      <p:sp>
        <p:nvSpPr>
          <p:cNvPr id="18" name="Big card 2"/>
          <p:cNvSpPr/>
          <p:nvPr/>
        </p:nvSpPr>
        <p:spPr>
          <a:xfrm>
            <a:off x="5760720" y="2359152"/>
            <a:ext cx="2926080" cy="896112"/>
          </a:xfrm>
          <a:prstGeom prst="roundRect">
            <a:avLst>
              <a:gd name="adj" fmla="val 10204"/>
            </a:avLst>
          </a:prstGeom>
          <a:solidFill>
            <a:srgbClr val="161B23"/>
          </a:solidFill>
          <a:ln w="12700">
            <a:solidFill>
              <a:srgbClr val="2A323E"/>
            </a:solidFill>
            <a:prstDash val="solid"/>
          </a:ln>
        </p:spPr>
      </p:sp>
      <p:sp>
        <p:nvSpPr>
          <p:cNvPr id="19" name="Big number 2"/>
          <p:cNvSpPr txBox="1"/>
          <p:nvPr/>
        </p:nvSpPr>
        <p:spPr>
          <a:xfrm>
            <a:off x="5943600" y="2450592"/>
            <a:ext cx="1417320" cy="685800"/>
          </a:xfrm>
          <a:prstGeom prst="rect">
            <a:avLst/>
          </a:prstGeom>
          <a:noFill/>
          <a:ln/>
        </p:spPr>
        <p:txBody>
          <a:bodyPr wrap="square" lIns="0" tIns="0" rIns="0" bIns="0" rtlCol="0" anchor="ctr"/>
          <a:lstStyle/>
          <a:p>
            <a:pPr marL="0" indent="0">
              <a:buNone/>
            </a:pPr>
            <a:r>
              <a:rPr lang="en-US" sz="2800" b="1" dirty="0">
                <a:solidFill>
                  <a:srgbClr val="36B26B"/>
                </a:solidFill>
                <a:latin typeface="Calibri" pitchFamily="34" charset="0"/>
                <a:ea typeface="Calibri" pitchFamily="34" charset="-122"/>
                <a:cs typeface="Calibri" pitchFamily="34" charset="-120"/>
              </a:rPr>
              <a:t>23 / 23</a:t>
            </a:r>
            <a:endParaRPr lang="en-US" sz="2800" dirty="0"/>
          </a:p>
        </p:txBody>
      </p:sp>
      <p:sp>
        <p:nvSpPr>
          <p:cNvPr id="20" name="Big label 2"/>
          <p:cNvSpPr txBox="1"/>
          <p:nvPr/>
        </p:nvSpPr>
        <p:spPr>
          <a:xfrm>
            <a:off x="7360920" y="2450592"/>
            <a:ext cx="1234440" cy="713232"/>
          </a:xfrm>
          <a:prstGeom prst="rect">
            <a:avLst/>
          </a:prstGeom>
          <a:noFill/>
          <a:ln/>
        </p:spPr>
        <p:txBody>
          <a:bodyPr wrap="square" lIns="0" tIns="0" rIns="0" bIns="0" rtlCol="0" anchor="ctr"/>
          <a:lstStyle/>
          <a:p>
            <a:pPr marL="0" indent="0">
              <a:buNone/>
            </a:pPr>
            <a:r>
              <a:rPr lang="en-US" sz="1150" dirty="0">
                <a:solidFill>
                  <a:srgbClr val="9AA1AD"/>
                </a:solidFill>
                <a:latin typeface="Calibri" pitchFamily="34" charset="0"/>
                <a:ea typeface="Calibri" pitchFamily="34" charset="-122"/>
                <a:cs typeface="Calibri" pitchFamily="34" charset="-120"/>
              </a:rPr>
              <a:t>critical messages on the 15-minute clock</a:t>
            </a:r>
            <a:endParaRPr lang="en-US" sz="1150" dirty="0"/>
          </a:p>
        </p:txBody>
      </p:sp>
      <p:sp>
        <p:nvSpPr>
          <p:cNvPr id="21" name="Big card 3"/>
          <p:cNvSpPr/>
          <p:nvPr/>
        </p:nvSpPr>
        <p:spPr>
          <a:xfrm>
            <a:off x="5760720" y="3392424"/>
            <a:ext cx="2926080" cy="896112"/>
          </a:xfrm>
          <a:prstGeom prst="roundRect">
            <a:avLst>
              <a:gd name="adj" fmla="val 10204"/>
            </a:avLst>
          </a:prstGeom>
          <a:solidFill>
            <a:srgbClr val="161B23"/>
          </a:solidFill>
          <a:ln w="12700">
            <a:solidFill>
              <a:srgbClr val="2A323E"/>
            </a:solidFill>
            <a:prstDash val="solid"/>
          </a:ln>
        </p:spPr>
      </p:sp>
      <p:sp>
        <p:nvSpPr>
          <p:cNvPr id="22" name="Big number 3"/>
          <p:cNvSpPr txBox="1"/>
          <p:nvPr/>
        </p:nvSpPr>
        <p:spPr>
          <a:xfrm>
            <a:off x="5943600" y="3483864"/>
            <a:ext cx="1417320" cy="685800"/>
          </a:xfrm>
          <a:prstGeom prst="rect">
            <a:avLst/>
          </a:prstGeom>
          <a:noFill/>
          <a:ln/>
        </p:spPr>
        <p:txBody>
          <a:bodyPr wrap="square" lIns="0" tIns="0" rIns="0" bIns="0" rtlCol="0" anchor="ctr"/>
          <a:lstStyle/>
          <a:p>
            <a:pPr marL="0" indent="0">
              <a:buNone/>
            </a:pPr>
            <a:r>
              <a:rPr lang="en-US" sz="2800" b="1" dirty="0">
                <a:solidFill>
                  <a:srgbClr val="F2B84B"/>
                </a:solidFill>
                <a:latin typeface="Calibri" pitchFamily="34" charset="0"/>
                <a:ea typeface="Calibri" pitchFamily="34" charset="-122"/>
                <a:cs typeface="Calibri" pitchFamily="34" charset="-120"/>
              </a:rPr>
              <a:t>10 / 97</a:t>
            </a:r>
            <a:endParaRPr lang="en-US" sz="2800" dirty="0"/>
          </a:p>
        </p:txBody>
      </p:sp>
      <p:sp>
        <p:nvSpPr>
          <p:cNvPr id="23" name="Big label 3"/>
          <p:cNvSpPr txBox="1"/>
          <p:nvPr/>
        </p:nvSpPr>
        <p:spPr>
          <a:xfrm>
            <a:off x="7360920" y="3483864"/>
            <a:ext cx="1234440" cy="713232"/>
          </a:xfrm>
          <a:prstGeom prst="rect">
            <a:avLst/>
          </a:prstGeom>
          <a:noFill/>
          <a:ln/>
        </p:spPr>
        <p:txBody>
          <a:bodyPr wrap="square" lIns="0" tIns="0" rIns="0" bIns="0" rtlCol="0" anchor="ctr"/>
          <a:lstStyle/>
          <a:p>
            <a:pPr marL="0" indent="0">
              <a:buNone/>
            </a:pPr>
            <a:r>
              <a:rPr lang="en-US" sz="1150" dirty="0">
                <a:solidFill>
                  <a:srgbClr val="9AA1AD"/>
                </a:solidFill>
                <a:latin typeface="Calibri" pitchFamily="34" charset="0"/>
                <a:ea typeface="Calibri" pitchFamily="34" charset="-122"/>
                <a:cs typeface="Calibri" pitchFamily="34" charset="-120"/>
              </a:rPr>
              <a:t>routine messages escalated: the price of safety</a:t>
            </a:r>
            <a:endParaRPr lang="en-US" sz="1150" dirty="0"/>
          </a:p>
        </p:txBody>
      </p:sp>
      <p:sp>
        <p:nvSpPr>
          <p:cNvPr id="24" name="Honest note"/>
          <p:cNvSpPr txBox="1"/>
          <p:nvPr/>
        </p:nvSpPr>
        <p:spPr>
          <a:xfrm>
            <a:off x="548640" y="4370832"/>
            <a:ext cx="5943600" cy="228600"/>
          </a:xfrm>
          <a:prstGeom prst="rect">
            <a:avLst/>
          </a:prstGeom>
          <a:noFill/>
          <a:ln/>
        </p:spPr>
        <p:txBody>
          <a:bodyPr wrap="square" lIns="0" tIns="0" rIns="0" bIns="0" rtlCol="0" anchor="t"/>
          <a:lstStyle/>
          <a:p>
            <a:pPr marL="0" indent="0">
              <a:buNone/>
            </a:pPr>
            <a:r>
              <a:rPr lang="en-US" sz="1200" i="1" dirty="0">
                <a:solidFill>
                  <a:srgbClr val="6C7480"/>
                </a:solidFill>
                <a:latin typeface="Calibri" pitchFamily="34" charset="0"/>
                <a:ea typeface="Calibri" pitchFamily="34" charset="-122"/>
                <a:cs typeface="Calibri" pitchFamily="34" charset="-120"/>
              </a:rPr>
              <a:t>Synthetic data that we wrote. Real-world scores will be lower.</a:t>
            </a:r>
            <a:endParaRPr lang="en-US" sz="1200" dirty="0"/>
          </a:p>
        </p:txBody>
      </p:sp>
      <p:sp>
        <p:nvSpPr>
          <p:cNvPr id="25" name="Jump to 10">
            <a:hlinkClick r:id="rId13" action="ppaction://hlinksldjump"/>
            <a:extLst>
              <a:ext uri="{FF2B5EF4-FFF2-40B4-BE49-F238E27FC236}">
                <a16:creationId xmlns:a16="http://schemas.microsoft.com/office/drawing/2014/main" id="{B9086761-F4F7-44C1-A04A-805D3AA297DB}"/>
              </a:ext>
            </a:extLst>
          </p:cNvPr>
          <p:cNvSpPr txBox="1"/>
          <p:nvPr/>
        </p:nvSpPr>
        <p:spPr>
          <a:xfrm>
            <a:off x="5080000" y="4343400"/>
            <a:ext cx="3810000" cy="261610"/>
          </a:xfrm>
          <a:prstGeom prst="rect">
            <a:avLst/>
          </a:prstGeom>
          <a:noFill/>
        </p:spPr>
        <p:txBody>
          <a:bodyPr vert="horz" wrap="square" rtlCol="0">
            <a:spAutoFit/>
          </a:bodyPr>
          <a:lstStyle/>
          <a:p>
            <a:pPr algn="r"/>
            <a:r>
              <a:rPr lang="en-GB" sz="1100" b="1">
                <a:solidFill>
                  <a:srgbClr val="F2B84B"/>
                </a:solidFill>
                <a:latin typeface="Calibri" panose="020F0502020204030204" pitchFamily="34" charset="0"/>
              </a:rPr>
              <a:t>Fairness, language and a late bug  &gt;</a:t>
            </a:r>
            <a:endParaRPr lang="en-IN" sz="1100" b="1">
              <a:solidFill>
                <a:srgbClr val="F2B84B"/>
              </a:solidFill>
              <a:latin typeface="Calibri" panose="020F0502020204030204" pitchFamily="34" charset="0"/>
            </a:endParaRP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30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500"/>
                                        <p:tgtEl>
                                          <p:spTgt spid="14"/>
                                        </p:tgtEl>
                                      </p:cBhvr>
                                    </p:animEffect>
                                  </p:childTnLst>
                                </p:cTn>
                              </p:par>
                            </p:childTnLst>
                          </p:cTn>
                        </p:par>
                        <p:par>
                          <p:cTn id="8" fill="hold">
                            <p:stCondLst>
                              <p:cond delay="800"/>
                            </p:stCondLst>
                            <p:childTnLst>
                              <p:par>
                                <p:cTn id="9" presetID="10" presetClass="entr" presetSubtype="0" fill="hold" nodeType="afterEffect">
                                  <p:stCondLst>
                                    <p:cond delay="3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par>
                          <p:cTn id="18" fill="hold">
                            <p:stCondLst>
                              <p:cond delay="1600"/>
                            </p:stCondLst>
                            <p:childTnLst>
                              <p:par>
                                <p:cTn id="19" presetID="10" presetClass="entr" presetSubtype="0" fill="hold" nodeType="afterEffect">
                                  <p:stCondLst>
                                    <p:cond delay="30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500"/>
                                        <p:tgtEl>
                                          <p:spTgt spid="1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childTnLst>
                          </p:cTn>
                        </p:par>
                        <p:par>
                          <p:cTn id="28" fill="hold">
                            <p:stCondLst>
                              <p:cond delay="2400"/>
                            </p:stCondLst>
                            <p:childTnLst>
                              <p:par>
                                <p:cTn id="29" presetID="10" presetClass="entr" presetSubtype="0" fill="hold" nodeType="afterEffect">
                                  <p:stCondLst>
                                    <p:cond delay="30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childTnLst>
                          </p:cTn>
                        </p:par>
                        <p:par>
                          <p:cTn id="38" fill="hold">
                            <p:stCondLst>
                              <p:cond delay="3200"/>
                            </p:stCondLst>
                            <p:childTnLst>
                              <p:par>
                                <p:cTn id="39" presetID="10" presetClass="entr" presetSubtype="0" fill="hold" grpId="0" nodeType="afterEffect">
                                  <p:stCondLst>
                                    <p:cond delay="3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4" grpId="0">
        <p:bldAsOne/>
      </p:bldGraphic>
      <p:bldP spid="16" grpId="0" animBg="1"/>
      <p:bldP spid="17" grpId="0" animBg="1"/>
      <p:bldP spid="19" grpId="0" animBg="1"/>
      <p:bldP spid="20" grpId="0" animBg="1"/>
      <p:bldP spid="22" grpId="0" animBg="1"/>
      <p:bldP spid="23" grpId="0" animBg="1"/>
      <p:bldP spid="2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E0561A"/>
          </a:solidFill>
          <a:ln w="12700">
            <a:solidFill>
              <a:srgbClr val="E0561A"/>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11480"/>
            <a:ext cx="8046720" cy="594360"/>
          </a:xfrm>
          <a:prstGeom prst="rect">
            <a:avLst/>
          </a:prstGeom>
          <a:noFill/>
          <a:ln/>
        </p:spPr>
        <p:txBody>
          <a:bodyPr wrap="square" lIns="0" tIns="0" rIns="0" bIns="0" rtlCol="0" anchor="t"/>
          <a:lstStyle/>
          <a:p>
            <a:pPr marL="0" indent="0">
              <a:buNone/>
            </a:pPr>
            <a:r>
              <a:rPr lang="en-US" sz="3200" b="1" dirty="0">
                <a:solidFill>
                  <a:srgbClr val="F3EFE6"/>
                </a:solidFill>
                <a:latin typeface="Calibri" pitchFamily="34" charset="0"/>
                <a:ea typeface="Calibri" pitchFamily="34" charset="-122"/>
                <a:cs typeface="Calibri" pitchFamily="34" charset="-120"/>
              </a:rPr>
              <a:t>What is inside the console</a:t>
            </a:r>
            <a:endParaRPr lang="en-US" sz="3200" dirty="0"/>
          </a:p>
        </p:txBody>
      </p:sp>
      <p:sp>
        <p:nvSpPr>
          <p:cNvPr id="13" name="Subtitle"/>
          <p:cNvSpPr txBox="1"/>
          <p:nvPr/>
        </p:nvSpPr>
        <p:spPr>
          <a:xfrm>
            <a:off x="548640" y="978408"/>
            <a:ext cx="548640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REAL SCREENSHOTS FROM THE RUNNING SYSTEM</a:t>
            </a:r>
            <a:endParaRPr lang="en-US" sz="1000" dirty="0"/>
          </a:p>
        </p:txBody>
      </p:sp>
      <p:sp>
        <p:nvSpPr>
          <p:cNvPr id="14" name="Tile 1"/>
          <p:cNvSpPr/>
          <p:nvPr/>
        </p:nvSpPr>
        <p:spPr>
          <a:xfrm>
            <a:off x="548640" y="1325880"/>
            <a:ext cx="3931920" cy="1417320"/>
          </a:xfrm>
          <a:prstGeom prst="roundRect">
            <a:avLst>
              <a:gd name="adj" fmla="val 6452"/>
            </a:avLst>
          </a:prstGeom>
          <a:solidFill>
            <a:srgbClr val="161B23"/>
          </a:solidFill>
          <a:ln w="12700">
            <a:solidFill>
              <a:srgbClr val="2A323E"/>
            </a:solidFill>
            <a:prstDash val="solid"/>
          </a:ln>
        </p:spPr>
      </p:sp>
      <p:pic>
        <p:nvPicPr>
          <p:cNvPr id="15" name="Tile 1 image" descr="Shift timeline"/>
          <p:cNvPicPr>
            <a:picLocks noChangeAspect="1"/>
          </p:cNvPicPr>
          <p:nvPr/>
        </p:nvPicPr>
        <p:blipFill>
          <a:blip r:embed="rId12"/>
          <a:stretch>
            <a:fillRect/>
          </a:stretch>
        </p:blipFill>
        <p:spPr>
          <a:xfrm>
            <a:off x="640080" y="1435608"/>
            <a:ext cx="2011680" cy="1207008"/>
          </a:xfrm>
          <a:prstGeom prst="rect">
            <a:avLst/>
          </a:prstGeom>
        </p:spPr>
      </p:pic>
      <p:sp>
        <p:nvSpPr>
          <p:cNvPr id="16" name="Tile 1 title"/>
          <p:cNvSpPr txBox="1"/>
          <p:nvPr/>
        </p:nvSpPr>
        <p:spPr>
          <a:xfrm>
            <a:off x="2788920" y="1463040"/>
            <a:ext cx="1600200" cy="274320"/>
          </a:xfrm>
          <a:prstGeom prst="rect">
            <a:avLst/>
          </a:prstGeom>
          <a:noFill/>
          <a:ln/>
        </p:spPr>
        <p:txBody>
          <a:bodyPr wrap="square" lIns="0" tIns="0" rIns="0" bIns="0" rtlCol="0" anchor="t"/>
          <a:lstStyle/>
          <a:p>
            <a:pPr marL="0" indent="0">
              <a:buNone/>
            </a:pPr>
            <a:r>
              <a:rPr lang="en-US" sz="1400" b="1" dirty="0">
                <a:solidFill>
                  <a:srgbClr val="F3EFE6"/>
                </a:solidFill>
                <a:latin typeface="Calibri" pitchFamily="34" charset="0"/>
                <a:ea typeface="Calibri" pitchFamily="34" charset="-122"/>
                <a:cs typeface="Calibri" pitchFamily="34" charset="-120"/>
              </a:rPr>
              <a:t>Shift timeline</a:t>
            </a:r>
            <a:endParaRPr lang="en-US" sz="1400" dirty="0"/>
          </a:p>
        </p:txBody>
      </p:sp>
      <p:sp>
        <p:nvSpPr>
          <p:cNvPr id="17" name="Tile 1 text"/>
          <p:cNvSpPr txBox="1"/>
          <p:nvPr/>
        </p:nvSpPr>
        <p:spPr>
          <a:xfrm>
            <a:off x="2788920" y="1783080"/>
            <a:ext cx="1600200" cy="86868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Drag the clock. The dark panel lists what is overdue or silent.</a:t>
            </a:r>
            <a:endParaRPr lang="en-US" sz="1150" dirty="0"/>
          </a:p>
        </p:txBody>
      </p:sp>
      <p:sp>
        <p:nvSpPr>
          <p:cNvPr id="18" name="Tile 2"/>
          <p:cNvSpPr/>
          <p:nvPr/>
        </p:nvSpPr>
        <p:spPr>
          <a:xfrm>
            <a:off x="4663440" y="1325880"/>
            <a:ext cx="3931920" cy="1417320"/>
          </a:xfrm>
          <a:prstGeom prst="roundRect">
            <a:avLst>
              <a:gd name="adj" fmla="val 6452"/>
            </a:avLst>
          </a:prstGeom>
          <a:solidFill>
            <a:srgbClr val="161B23"/>
          </a:solidFill>
          <a:ln w="12700">
            <a:solidFill>
              <a:srgbClr val="2A323E"/>
            </a:solidFill>
            <a:prstDash val="solid"/>
          </a:ln>
        </p:spPr>
      </p:sp>
      <p:pic>
        <p:nvPicPr>
          <p:cNvPr id="19" name="Tile 2 image" descr="Follow one message"/>
          <p:cNvPicPr>
            <a:picLocks noChangeAspect="1"/>
          </p:cNvPicPr>
          <p:nvPr/>
        </p:nvPicPr>
        <p:blipFill>
          <a:blip r:embed="rId13"/>
          <a:stretch>
            <a:fillRect/>
          </a:stretch>
        </p:blipFill>
        <p:spPr>
          <a:xfrm>
            <a:off x="4754880" y="1435608"/>
            <a:ext cx="2011680" cy="1207008"/>
          </a:xfrm>
          <a:prstGeom prst="rect">
            <a:avLst/>
          </a:prstGeom>
        </p:spPr>
      </p:pic>
      <p:sp>
        <p:nvSpPr>
          <p:cNvPr id="20" name="Tile 2 title"/>
          <p:cNvSpPr txBox="1"/>
          <p:nvPr/>
        </p:nvSpPr>
        <p:spPr>
          <a:xfrm>
            <a:off x="6903720" y="1463040"/>
            <a:ext cx="1600200" cy="274320"/>
          </a:xfrm>
          <a:prstGeom prst="rect">
            <a:avLst/>
          </a:prstGeom>
          <a:noFill/>
          <a:ln/>
        </p:spPr>
        <p:txBody>
          <a:bodyPr wrap="square" lIns="0" tIns="0" rIns="0" bIns="0" rtlCol="0" anchor="t"/>
          <a:lstStyle/>
          <a:p>
            <a:pPr marL="0" indent="0">
              <a:buNone/>
            </a:pPr>
            <a:r>
              <a:rPr lang="en-US" sz="1400" b="1" dirty="0">
                <a:solidFill>
                  <a:srgbClr val="F3EFE6"/>
                </a:solidFill>
                <a:latin typeface="Calibri" pitchFamily="34" charset="0"/>
                <a:ea typeface="Calibri" pitchFamily="34" charset="-122"/>
                <a:cs typeface="Calibri" pitchFamily="34" charset="-120"/>
              </a:rPr>
              <a:t>Follow one message</a:t>
            </a:r>
            <a:endParaRPr lang="en-US" sz="1400" dirty="0"/>
          </a:p>
        </p:txBody>
      </p:sp>
      <p:sp>
        <p:nvSpPr>
          <p:cNvPr id="21" name="Tile 2 text"/>
          <p:cNvSpPr txBox="1"/>
          <p:nvPr/>
        </p:nvSpPr>
        <p:spPr>
          <a:xfrm>
            <a:off x="6903720" y="1783080"/>
            <a:ext cx="1600200" cy="86868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Six checks, then the named team and the escalation ladder.</a:t>
            </a:r>
            <a:endParaRPr lang="en-US" sz="1150" dirty="0"/>
          </a:p>
        </p:txBody>
      </p:sp>
      <p:sp>
        <p:nvSpPr>
          <p:cNvPr id="22" name="Tile 3"/>
          <p:cNvSpPr/>
          <p:nvPr/>
        </p:nvSpPr>
        <p:spPr>
          <a:xfrm>
            <a:off x="548640" y="2862072"/>
            <a:ext cx="3931920" cy="1417320"/>
          </a:xfrm>
          <a:prstGeom prst="roundRect">
            <a:avLst>
              <a:gd name="adj" fmla="val 6452"/>
            </a:avLst>
          </a:prstGeom>
          <a:solidFill>
            <a:srgbClr val="161B23"/>
          </a:solidFill>
          <a:ln w="12700">
            <a:solidFill>
              <a:srgbClr val="2A323E"/>
            </a:solidFill>
            <a:prstDash val="solid"/>
          </a:ln>
        </p:spPr>
      </p:sp>
      <p:pic>
        <p:nvPicPr>
          <p:cNvPr id="23" name="Tile 3 image" descr="NT map"/>
          <p:cNvPicPr>
            <a:picLocks noChangeAspect="1"/>
          </p:cNvPicPr>
          <p:nvPr/>
        </p:nvPicPr>
        <p:blipFill>
          <a:blip r:embed="rId14"/>
          <a:stretch>
            <a:fillRect/>
          </a:stretch>
        </p:blipFill>
        <p:spPr>
          <a:xfrm>
            <a:off x="640080" y="2971800"/>
            <a:ext cx="2011680" cy="1207008"/>
          </a:xfrm>
          <a:prstGeom prst="rect">
            <a:avLst/>
          </a:prstGeom>
        </p:spPr>
      </p:pic>
      <p:sp>
        <p:nvSpPr>
          <p:cNvPr id="24" name="Tile 3 title"/>
          <p:cNvSpPr txBox="1"/>
          <p:nvPr/>
        </p:nvSpPr>
        <p:spPr>
          <a:xfrm>
            <a:off x="2788920" y="2999232"/>
            <a:ext cx="1600200" cy="274320"/>
          </a:xfrm>
          <a:prstGeom prst="rect">
            <a:avLst/>
          </a:prstGeom>
          <a:noFill/>
          <a:ln/>
        </p:spPr>
        <p:txBody>
          <a:bodyPr wrap="square" lIns="0" tIns="0" rIns="0" bIns="0" rtlCol="0" anchor="t"/>
          <a:lstStyle/>
          <a:p>
            <a:pPr marL="0" indent="0">
              <a:buNone/>
            </a:pPr>
            <a:r>
              <a:rPr lang="en-US" sz="1400" b="1" dirty="0">
                <a:solidFill>
                  <a:srgbClr val="F3EFE6"/>
                </a:solidFill>
                <a:latin typeface="Calibri" pitchFamily="34" charset="0"/>
                <a:ea typeface="Calibri" pitchFamily="34" charset="-122"/>
                <a:cs typeface="Calibri" pitchFamily="34" charset="-120"/>
              </a:rPr>
              <a:t>NT map</a:t>
            </a:r>
            <a:endParaRPr lang="en-US" sz="1400" dirty="0"/>
          </a:p>
        </p:txBody>
      </p:sp>
      <p:sp>
        <p:nvSpPr>
          <p:cNvPr id="25" name="Tile 3 text"/>
          <p:cNvSpPr txBox="1"/>
          <p:nvPr/>
        </p:nvSpPr>
        <p:spPr>
          <a:xfrm>
            <a:off x="2788920" y="3319272"/>
            <a:ext cx="1600200" cy="86868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Messages flow to the triage centre. Pins pulse when overdue.</a:t>
            </a:r>
            <a:endParaRPr lang="en-US" sz="1150" dirty="0"/>
          </a:p>
        </p:txBody>
      </p:sp>
      <p:sp>
        <p:nvSpPr>
          <p:cNvPr id="26" name="Tile 4"/>
          <p:cNvSpPr/>
          <p:nvPr/>
        </p:nvSpPr>
        <p:spPr>
          <a:xfrm>
            <a:off x="4663440" y="2862072"/>
            <a:ext cx="3931920" cy="1417320"/>
          </a:xfrm>
          <a:prstGeom prst="roundRect">
            <a:avLst>
              <a:gd name="adj" fmla="val 6452"/>
            </a:avLst>
          </a:prstGeom>
          <a:solidFill>
            <a:srgbClr val="161B23"/>
          </a:solidFill>
          <a:ln w="12700">
            <a:solidFill>
              <a:srgbClr val="2A323E"/>
            </a:solidFill>
            <a:prstDash val="solid"/>
          </a:ln>
        </p:spPr>
      </p:sp>
      <p:pic>
        <p:nvPicPr>
          <p:cNvPr id="27" name="Tile 4 image" descr="Live scores"/>
          <p:cNvPicPr>
            <a:picLocks noChangeAspect="1"/>
          </p:cNvPicPr>
          <p:nvPr/>
        </p:nvPicPr>
        <p:blipFill>
          <a:blip r:embed="rId15"/>
          <a:stretch>
            <a:fillRect/>
          </a:stretch>
        </p:blipFill>
        <p:spPr>
          <a:xfrm>
            <a:off x="4754880" y="2971800"/>
            <a:ext cx="2011680" cy="1207008"/>
          </a:xfrm>
          <a:prstGeom prst="rect">
            <a:avLst/>
          </a:prstGeom>
        </p:spPr>
      </p:pic>
      <p:sp>
        <p:nvSpPr>
          <p:cNvPr id="28" name="Tile 4 title"/>
          <p:cNvSpPr txBox="1"/>
          <p:nvPr/>
        </p:nvSpPr>
        <p:spPr>
          <a:xfrm>
            <a:off x="6903720" y="2999232"/>
            <a:ext cx="1600200" cy="274320"/>
          </a:xfrm>
          <a:prstGeom prst="rect">
            <a:avLst/>
          </a:prstGeom>
          <a:noFill/>
          <a:ln/>
        </p:spPr>
        <p:txBody>
          <a:bodyPr wrap="square" lIns="0" tIns="0" rIns="0" bIns="0" rtlCol="0" anchor="t"/>
          <a:lstStyle/>
          <a:p>
            <a:pPr marL="0" indent="0">
              <a:buNone/>
            </a:pPr>
            <a:r>
              <a:rPr lang="en-US" sz="1400" b="1" dirty="0">
                <a:solidFill>
                  <a:srgbClr val="F3EFE6"/>
                </a:solidFill>
                <a:latin typeface="Calibri" pitchFamily="34" charset="0"/>
                <a:ea typeface="Calibri" pitchFamily="34" charset="-122"/>
                <a:cs typeface="Calibri" pitchFamily="34" charset="-120"/>
              </a:rPr>
              <a:t>Live scores</a:t>
            </a:r>
            <a:endParaRPr lang="en-US" sz="1400" dirty="0"/>
          </a:p>
        </p:txBody>
      </p:sp>
      <p:sp>
        <p:nvSpPr>
          <p:cNvPr id="29" name="Tile 4 text"/>
          <p:cNvSpPr txBox="1"/>
          <p:nvPr/>
        </p:nvSpPr>
        <p:spPr>
          <a:xfrm>
            <a:off x="6903720" y="3319272"/>
            <a:ext cx="1600200" cy="86868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Computed against a hidden answer key, with the AI switched off too.</a:t>
            </a:r>
            <a:endParaRPr lang="en-US" sz="1150" dirty="0"/>
          </a:p>
        </p:txBody>
      </p:sp>
      <p:sp>
        <p:nvSpPr>
          <p:cNvPr id="30" name="Also line"/>
          <p:cNvSpPr txBox="1"/>
          <p:nvPr/>
        </p:nvSpPr>
        <p:spPr>
          <a:xfrm>
            <a:off x="548640" y="4462272"/>
            <a:ext cx="8046720" cy="201168"/>
          </a:xfrm>
          <a:prstGeom prst="rect">
            <a:avLst/>
          </a:prstGeom>
          <a:noFill/>
          <a:ln/>
        </p:spPr>
        <p:txBody>
          <a:bodyPr wrap="square" lIns="0" tIns="0" rIns="0" bIns="0" rtlCol="0" anchor="t"/>
          <a:lstStyle/>
          <a:p>
            <a:pPr marL="0" indent="0">
              <a:buNone/>
            </a:pPr>
            <a:r>
              <a:rPr lang="en-US" sz="1000" kern="0" spc="100" dirty="0">
                <a:solidFill>
                  <a:srgbClr val="F2B84B"/>
                </a:solidFill>
                <a:latin typeface="Consolas" pitchFamily="34" charset="0"/>
                <a:ea typeface="Consolas" pitchFamily="34" charset="-122"/>
                <a:cs typeface="Consolas" pitchFamily="34" charset="-120"/>
              </a:rPr>
              <a:t>ALSO:  THREE ROLES  ·  WELFARE CHECKS  ·  AUDIT LOG  ·  TRY ANY MESSAGE</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5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5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50"/>
                                        <p:tgtEl>
                                          <p:spTgt spid="1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50"/>
                                        <p:tgtEl>
                                          <p:spTgt spid="17"/>
                                        </p:tgtEl>
                                      </p:cBhvr>
                                    </p:animEffect>
                                  </p:childTnLst>
                                </p:cTn>
                              </p:par>
                            </p:childTnLst>
                          </p:cTn>
                        </p:par>
                        <p:par>
                          <p:cTn id="17" fill="hold">
                            <p:stCondLst>
                              <p:cond delay="650"/>
                            </p:stCondLst>
                            <p:childTnLst>
                              <p:par>
                                <p:cTn id="18" presetID="10" presetClass="entr" presetSubtype="0" fill="hold" nodeType="afterEffect">
                                  <p:stCondLst>
                                    <p:cond delay="20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5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5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50"/>
                                        <p:tgtEl>
                                          <p:spTgt spid="2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450"/>
                                        <p:tgtEl>
                                          <p:spTgt spid="21"/>
                                        </p:tgtEl>
                                      </p:cBhvr>
                                    </p:animEffect>
                                  </p:childTnLst>
                                </p:cTn>
                              </p:par>
                            </p:childTnLst>
                          </p:cTn>
                        </p:par>
                        <p:par>
                          <p:cTn id="30" fill="hold">
                            <p:stCondLst>
                              <p:cond delay="1300"/>
                            </p:stCondLst>
                            <p:childTnLst>
                              <p:par>
                                <p:cTn id="31" presetID="10" presetClass="entr" presetSubtype="0" fill="hold" nodeType="afterEffect">
                                  <p:stCondLst>
                                    <p:cond delay="20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50"/>
                                        <p:tgtEl>
                                          <p:spTgt spid="22"/>
                                        </p:tgtEl>
                                      </p:cBhvr>
                                    </p:animEffect>
                                  </p:childTnLst>
                                </p:cTn>
                              </p:par>
                              <p:par>
                                <p:cTn id="34" presetID="10" presetClass="entr" presetSubtype="0" fill="hold"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450"/>
                                        <p:tgtEl>
                                          <p:spTgt spid="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5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50"/>
                                        <p:tgtEl>
                                          <p:spTgt spid="25"/>
                                        </p:tgtEl>
                                      </p:cBhvr>
                                    </p:animEffect>
                                  </p:childTnLst>
                                </p:cTn>
                              </p:par>
                            </p:childTnLst>
                          </p:cTn>
                        </p:par>
                        <p:par>
                          <p:cTn id="43" fill="hold">
                            <p:stCondLst>
                              <p:cond delay="1950"/>
                            </p:stCondLst>
                            <p:childTnLst>
                              <p:par>
                                <p:cTn id="44" presetID="10" presetClass="entr" presetSubtype="0" fill="hold" nodeType="afterEffect">
                                  <p:stCondLst>
                                    <p:cond delay="20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50"/>
                                        <p:tgtEl>
                                          <p:spTgt spid="26"/>
                                        </p:tgtEl>
                                      </p:cBhvr>
                                    </p:animEffect>
                                  </p:childTnLst>
                                </p:cTn>
                              </p:par>
                              <p:par>
                                <p:cTn id="47" presetID="10" presetClass="entr" presetSubtype="0" fill="hold" nodeType="with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50"/>
                                        <p:tgtEl>
                                          <p:spTgt spid="2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50"/>
                                        <p:tgtEl>
                                          <p:spTgt spid="2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50"/>
                                        <p:tgtEl>
                                          <p:spTgt spid="29"/>
                                        </p:tgtEl>
                                      </p:cBhvr>
                                    </p:animEffect>
                                  </p:childTnLst>
                                </p:cTn>
                              </p:par>
                            </p:childTnLst>
                          </p:cTn>
                        </p:par>
                        <p:par>
                          <p:cTn id="56" fill="hold">
                            <p:stCondLst>
                              <p:cond delay="2600"/>
                            </p:stCondLst>
                            <p:childTnLst>
                              <p:par>
                                <p:cTn id="57" presetID="10" presetClass="entr" presetSubtype="0" fill="hold" grpId="0" nodeType="afterEffect">
                                  <p:stCondLst>
                                    <p:cond delay="20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1" grpId="0" animBg="1"/>
      <p:bldP spid="24" grpId="0" animBg="1"/>
      <p:bldP spid="25" grpId="0" animBg="1"/>
      <p:bldP spid="28" grpId="0" animBg="1"/>
      <p:bldP spid="29" grpId="0" animBg="1"/>
      <p:bldP spid="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E0561A"/>
          </a:solidFill>
          <a:ln w="12700">
            <a:solidFill>
              <a:srgbClr val="E0561A"/>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11480"/>
            <a:ext cx="4114800" cy="822960"/>
          </a:xfrm>
          <a:prstGeom prst="rect">
            <a:avLst/>
          </a:prstGeom>
          <a:noFill/>
          <a:ln/>
        </p:spPr>
        <p:txBody>
          <a:bodyPr wrap="square" lIns="0" tIns="0" rIns="0" bIns="0" rtlCol="0" anchor="t"/>
          <a:lstStyle/>
          <a:p>
            <a:pPr marL="0" indent="0">
              <a:buNone/>
            </a:pPr>
            <a:r>
              <a:rPr lang="en-US" sz="4600" b="1" dirty="0">
                <a:solidFill>
                  <a:srgbClr val="F3EFE6"/>
                </a:solidFill>
                <a:latin typeface="Calibri" pitchFamily="34" charset="0"/>
                <a:ea typeface="Calibri" pitchFamily="34" charset="-122"/>
                <a:cs typeface="Calibri" pitchFamily="34" charset="-120"/>
              </a:rPr>
              <a:t>Live demo</a:t>
            </a:r>
            <a:endParaRPr lang="en-US" sz="4600" dirty="0"/>
          </a:p>
        </p:txBody>
      </p:sp>
      <p:sp>
        <p:nvSpPr>
          <p:cNvPr id="13" name="Subtitle"/>
          <p:cNvSpPr txBox="1"/>
          <p:nvPr/>
        </p:nvSpPr>
        <p:spPr>
          <a:xfrm>
            <a:off x="548640" y="1188720"/>
            <a:ext cx="4023360" cy="201168"/>
          </a:xfrm>
          <a:prstGeom prst="rect">
            <a:avLst/>
          </a:prstGeom>
          <a:noFill/>
          <a:ln/>
        </p:spPr>
        <p:txBody>
          <a:bodyPr wrap="square" lIns="0" tIns="0" rIns="0" bIns="0" rtlCol="0" anchor="t"/>
          <a:lstStyle/>
          <a:p>
            <a:pPr marL="0" indent="0">
              <a:buNone/>
            </a:pPr>
            <a:r>
              <a:rPr lang="en-US" sz="1000" kern="0" spc="100" dirty="0">
                <a:solidFill>
                  <a:srgbClr val="F2B84B"/>
                </a:solidFill>
                <a:latin typeface="Consolas" pitchFamily="34" charset="0"/>
                <a:ea typeface="Consolas" pitchFamily="34" charset="-122"/>
                <a:cs typeface="Consolas" pitchFamily="34" charset="-120"/>
              </a:rPr>
              <a:t>CLICK A STEP TO OPEN IT</a:t>
            </a:r>
            <a:endParaRPr lang="en-US" sz="1000" dirty="0"/>
          </a:p>
        </p:txBody>
      </p:sp>
      <p:sp>
        <p:nvSpPr>
          <p:cNvPr id="14" name="Step 1">
            <a:hlinkClick r:id="rId12" tooltip="Opens the console in your browser"/>
          </p:cNvPr>
          <p:cNvSpPr/>
          <p:nvPr/>
        </p:nvSpPr>
        <p:spPr>
          <a:xfrm>
            <a:off x="548640" y="1691640"/>
            <a:ext cx="4206240" cy="457200"/>
          </a:xfrm>
          <a:prstGeom prst="roundRect">
            <a:avLst>
              <a:gd name="adj" fmla="val 20000"/>
            </a:avLst>
          </a:prstGeom>
          <a:solidFill>
            <a:srgbClr val="161B23"/>
          </a:solidFill>
          <a:ln w="12700">
            <a:solidFill>
              <a:srgbClr val="2A323E"/>
            </a:solidFill>
            <a:prstDash val="solid"/>
          </a:ln>
        </p:spPr>
      </p:sp>
      <p:sp>
        <p:nvSpPr>
          <p:cNvPr id="15" name="Step 1 dot">
            <a:hlinkClick r:id="rId12" tooltip="Opens the console in your browser"/>
          </p:cNvPr>
          <p:cNvSpPr/>
          <p:nvPr/>
        </p:nvSpPr>
        <p:spPr>
          <a:xfrm>
            <a:off x="658368" y="1783080"/>
            <a:ext cx="274320" cy="274320"/>
          </a:xfrm>
          <a:prstGeom prst="ellipse">
            <a:avLst/>
          </a:prstGeom>
          <a:solidFill>
            <a:srgbClr val="E0561A"/>
          </a:solidFill>
          <a:ln w="12700">
            <a:solidFill>
              <a:srgbClr val="E0561A"/>
            </a:solidFill>
            <a:prstDash val="solid"/>
          </a:ln>
        </p:spPr>
      </p:sp>
      <p:sp>
        <p:nvSpPr>
          <p:cNvPr id="16" name="Step 1 number">
            <a:hlinkClick r:id="rId12" tooltip="Opens the console in your browser"/>
          </p:cNvPr>
          <p:cNvSpPr txBox="1"/>
          <p:nvPr/>
        </p:nvSpPr>
        <p:spPr>
          <a:xfrm>
            <a:off x="658368" y="178308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1</a:t>
            </a:r>
            <a:endParaRPr lang="en-US" sz="1200" dirty="0"/>
          </a:p>
        </p:txBody>
      </p:sp>
      <p:sp>
        <p:nvSpPr>
          <p:cNvPr id="17" name="Step 1 text">
            <a:hlinkClick r:id="rId12" tooltip="Opens the console in your browser"/>
          </p:cNvPr>
          <p:cNvSpPr txBox="1"/>
          <p:nvPr/>
        </p:nvSpPr>
        <p:spPr>
          <a:xfrm>
            <a:off x="1078992" y="171907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The live queue, and who needs a human now</a:t>
            </a:r>
            <a:endParaRPr lang="en-US" sz="1300" dirty="0"/>
          </a:p>
        </p:txBody>
      </p:sp>
      <p:sp>
        <p:nvSpPr>
          <p:cNvPr id="18" name="Step 2">
            <a:hlinkClick r:id="rId13" tooltip="Opens the console in your browser"/>
          </p:cNvPr>
          <p:cNvSpPr/>
          <p:nvPr/>
        </p:nvSpPr>
        <p:spPr>
          <a:xfrm>
            <a:off x="548640" y="2240280"/>
            <a:ext cx="4206240" cy="457200"/>
          </a:xfrm>
          <a:prstGeom prst="roundRect">
            <a:avLst>
              <a:gd name="adj" fmla="val 20000"/>
            </a:avLst>
          </a:prstGeom>
          <a:solidFill>
            <a:srgbClr val="161B23"/>
          </a:solidFill>
          <a:ln w="12700">
            <a:solidFill>
              <a:srgbClr val="2A323E"/>
            </a:solidFill>
            <a:prstDash val="solid"/>
          </a:ln>
        </p:spPr>
      </p:sp>
      <p:sp>
        <p:nvSpPr>
          <p:cNvPr id="19" name="Step 2 dot">
            <a:hlinkClick r:id="rId13" tooltip="Opens the console in your browser"/>
          </p:cNvPr>
          <p:cNvSpPr/>
          <p:nvPr/>
        </p:nvSpPr>
        <p:spPr>
          <a:xfrm>
            <a:off x="658368" y="2331720"/>
            <a:ext cx="274320" cy="274320"/>
          </a:xfrm>
          <a:prstGeom prst="ellipse">
            <a:avLst/>
          </a:prstGeom>
          <a:solidFill>
            <a:srgbClr val="1C222C"/>
          </a:solidFill>
          <a:ln w="12700">
            <a:solidFill>
              <a:srgbClr val="1C222C"/>
            </a:solidFill>
            <a:prstDash val="solid"/>
          </a:ln>
        </p:spPr>
      </p:sp>
      <p:sp>
        <p:nvSpPr>
          <p:cNvPr id="20" name="Step 2 number">
            <a:hlinkClick r:id="rId13" tooltip="Opens the console in your browser"/>
          </p:cNvPr>
          <p:cNvSpPr txBox="1"/>
          <p:nvPr/>
        </p:nvSpPr>
        <p:spPr>
          <a:xfrm>
            <a:off x="658368" y="233172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2</a:t>
            </a:r>
            <a:endParaRPr lang="en-US" sz="1200" dirty="0"/>
          </a:p>
        </p:txBody>
      </p:sp>
      <p:sp>
        <p:nvSpPr>
          <p:cNvPr id="21" name="Step 2 text">
            <a:hlinkClick r:id="rId13" tooltip="Opens the console in your browser"/>
          </p:cNvPr>
          <p:cNvSpPr txBox="1"/>
          <p:nvPr/>
        </p:nvSpPr>
        <p:spPr>
          <a:xfrm>
            <a:off x="1078992" y="226771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Follow one message through the checks</a:t>
            </a:r>
            <a:endParaRPr lang="en-US" sz="1300" dirty="0"/>
          </a:p>
        </p:txBody>
      </p:sp>
      <p:sp>
        <p:nvSpPr>
          <p:cNvPr id="22" name="Step 3">
            <a:hlinkClick r:id="rId14" tooltip="Opens the console in your browser"/>
          </p:cNvPr>
          <p:cNvSpPr/>
          <p:nvPr/>
        </p:nvSpPr>
        <p:spPr>
          <a:xfrm>
            <a:off x="548640" y="2788920"/>
            <a:ext cx="4206240" cy="457200"/>
          </a:xfrm>
          <a:prstGeom prst="roundRect">
            <a:avLst>
              <a:gd name="adj" fmla="val 20000"/>
            </a:avLst>
          </a:prstGeom>
          <a:solidFill>
            <a:srgbClr val="161B23"/>
          </a:solidFill>
          <a:ln w="12700">
            <a:solidFill>
              <a:srgbClr val="2A323E"/>
            </a:solidFill>
            <a:prstDash val="solid"/>
          </a:ln>
        </p:spPr>
      </p:sp>
      <p:sp>
        <p:nvSpPr>
          <p:cNvPr id="23" name="Step 3 dot">
            <a:hlinkClick r:id="rId14" tooltip="Opens the console in your browser"/>
          </p:cNvPr>
          <p:cNvSpPr/>
          <p:nvPr/>
        </p:nvSpPr>
        <p:spPr>
          <a:xfrm>
            <a:off x="658368" y="2880360"/>
            <a:ext cx="274320" cy="274320"/>
          </a:xfrm>
          <a:prstGeom prst="ellipse">
            <a:avLst/>
          </a:prstGeom>
          <a:solidFill>
            <a:srgbClr val="1C222C"/>
          </a:solidFill>
          <a:ln w="12700">
            <a:solidFill>
              <a:srgbClr val="1C222C"/>
            </a:solidFill>
            <a:prstDash val="solid"/>
          </a:ln>
        </p:spPr>
      </p:sp>
      <p:sp>
        <p:nvSpPr>
          <p:cNvPr id="24" name="Step 3 number">
            <a:hlinkClick r:id="rId14" tooltip="Opens the console in your browser"/>
          </p:cNvPr>
          <p:cNvSpPr txBox="1"/>
          <p:nvPr/>
        </p:nvSpPr>
        <p:spPr>
          <a:xfrm>
            <a:off x="658368" y="288036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3</a:t>
            </a:r>
            <a:endParaRPr lang="en-US" sz="1200" dirty="0"/>
          </a:p>
        </p:txBody>
      </p:sp>
      <p:sp>
        <p:nvSpPr>
          <p:cNvPr id="25" name="Step 3 text">
            <a:hlinkClick r:id="rId14" tooltip="Opens the console in your browser"/>
          </p:cNvPr>
          <p:cNvSpPr txBox="1"/>
          <p:nvPr/>
        </p:nvSpPr>
        <p:spPr>
          <a:xfrm>
            <a:off x="1078992" y="281635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Try to break it: injection, unreadable text</a:t>
            </a:r>
            <a:endParaRPr lang="en-US" sz="1300" dirty="0"/>
          </a:p>
        </p:txBody>
      </p:sp>
      <p:sp>
        <p:nvSpPr>
          <p:cNvPr id="26" name="Step 4">
            <a:hlinkClick r:id="rId15" tooltip="Opens the console in your browser"/>
          </p:cNvPr>
          <p:cNvSpPr/>
          <p:nvPr/>
        </p:nvSpPr>
        <p:spPr>
          <a:xfrm>
            <a:off x="548640" y="3337560"/>
            <a:ext cx="4206240" cy="457200"/>
          </a:xfrm>
          <a:prstGeom prst="roundRect">
            <a:avLst>
              <a:gd name="adj" fmla="val 20000"/>
            </a:avLst>
          </a:prstGeom>
          <a:solidFill>
            <a:srgbClr val="161B23"/>
          </a:solidFill>
          <a:ln w="12700">
            <a:solidFill>
              <a:srgbClr val="2A323E"/>
            </a:solidFill>
            <a:prstDash val="solid"/>
          </a:ln>
        </p:spPr>
      </p:sp>
      <p:sp>
        <p:nvSpPr>
          <p:cNvPr id="27" name="Step 4 dot">
            <a:hlinkClick r:id="rId15" tooltip="Opens the console in your browser"/>
          </p:cNvPr>
          <p:cNvSpPr/>
          <p:nvPr/>
        </p:nvSpPr>
        <p:spPr>
          <a:xfrm>
            <a:off x="658368" y="3429000"/>
            <a:ext cx="274320" cy="274320"/>
          </a:xfrm>
          <a:prstGeom prst="ellipse">
            <a:avLst/>
          </a:prstGeom>
          <a:solidFill>
            <a:srgbClr val="1C222C"/>
          </a:solidFill>
          <a:ln w="12700">
            <a:solidFill>
              <a:srgbClr val="1C222C"/>
            </a:solidFill>
            <a:prstDash val="solid"/>
          </a:ln>
        </p:spPr>
      </p:sp>
      <p:sp>
        <p:nvSpPr>
          <p:cNvPr id="28" name="Step 4 number">
            <a:hlinkClick r:id="rId15" tooltip="Opens the console in your browser"/>
          </p:cNvPr>
          <p:cNvSpPr txBox="1"/>
          <p:nvPr/>
        </p:nvSpPr>
        <p:spPr>
          <a:xfrm>
            <a:off x="658368" y="342900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4</a:t>
            </a:r>
            <a:endParaRPr lang="en-US" sz="1200" dirty="0"/>
          </a:p>
        </p:txBody>
      </p:sp>
      <p:sp>
        <p:nvSpPr>
          <p:cNvPr id="29" name="Step 4 text">
            <a:hlinkClick r:id="rId15" tooltip="Opens the console in your browser"/>
          </p:cNvPr>
          <p:cNvSpPr txBox="1"/>
          <p:nvPr/>
        </p:nvSpPr>
        <p:spPr>
          <a:xfrm>
            <a:off x="1078992" y="336499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Nobody acts, so it escalates</a:t>
            </a:r>
            <a:endParaRPr lang="en-US" sz="1300" dirty="0"/>
          </a:p>
        </p:txBody>
      </p:sp>
      <p:sp>
        <p:nvSpPr>
          <p:cNvPr id="30" name="Step 5">
            <a:hlinkClick r:id="rId16" tooltip="Opens the console in your browser"/>
          </p:cNvPr>
          <p:cNvSpPr/>
          <p:nvPr/>
        </p:nvSpPr>
        <p:spPr>
          <a:xfrm>
            <a:off x="548640" y="3886200"/>
            <a:ext cx="4206240" cy="457200"/>
          </a:xfrm>
          <a:prstGeom prst="roundRect">
            <a:avLst>
              <a:gd name="adj" fmla="val 20000"/>
            </a:avLst>
          </a:prstGeom>
          <a:solidFill>
            <a:srgbClr val="161B23"/>
          </a:solidFill>
          <a:ln w="12700">
            <a:solidFill>
              <a:srgbClr val="2A323E"/>
            </a:solidFill>
            <a:prstDash val="solid"/>
          </a:ln>
        </p:spPr>
      </p:sp>
      <p:sp>
        <p:nvSpPr>
          <p:cNvPr id="31" name="Step 5 dot">
            <a:hlinkClick r:id="rId16" tooltip="Opens the console in your browser"/>
          </p:cNvPr>
          <p:cNvSpPr/>
          <p:nvPr/>
        </p:nvSpPr>
        <p:spPr>
          <a:xfrm>
            <a:off x="658368" y="3977640"/>
            <a:ext cx="274320" cy="274320"/>
          </a:xfrm>
          <a:prstGeom prst="ellipse">
            <a:avLst/>
          </a:prstGeom>
          <a:solidFill>
            <a:srgbClr val="1C222C"/>
          </a:solidFill>
          <a:ln w="12700">
            <a:solidFill>
              <a:srgbClr val="1C222C"/>
            </a:solidFill>
            <a:prstDash val="solid"/>
          </a:ln>
        </p:spPr>
      </p:sp>
      <p:sp>
        <p:nvSpPr>
          <p:cNvPr id="32" name="Step 5 number">
            <a:hlinkClick r:id="rId16" tooltip="Opens the console in your browser"/>
          </p:cNvPr>
          <p:cNvSpPr txBox="1"/>
          <p:nvPr/>
        </p:nvSpPr>
        <p:spPr>
          <a:xfrm>
            <a:off x="658368" y="397764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5</a:t>
            </a:r>
            <a:endParaRPr lang="en-US" sz="1200" dirty="0"/>
          </a:p>
        </p:txBody>
      </p:sp>
      <p:sp>
        <p:nvSpPr>
          <p:cNvPr id="33" name="Step 5 text">
            <a:hlinkClick r:id="rId16" tooltip="Opens the console in your browser"/>
          </p:cNvPr>
          <p:cNvSpPr txBox="1"/>
          <p:nvPr/>
        </p:nvSpPr>
        <p:spPr>
          <a:xfrm>
            <a:off x="1078992" y="391363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The scores, even with the AI off</a:t>
            </a:r>
            <a:endParaRPr lang="en-US" sz="1300" dirty="0"/>
          </a:p>
        </p:txBody>
      </p:sp>
      <p:pic>
        <p:nvPicPr>
          <p:cNvPr id="34" name="Console preview" descr="Short looping preview of the console">
            <a:hlinkClick r:id="rId12"/>
          </p:cNvPr>
          <p:cNvPicPr>
            <a:picLocks noChangeAspect="1"/>
          </p:cNvPicPr>
          <p:nvPr/>
        </p:nvPicPr>
        <p:blipFill>
          <a:blip r:embed="rId17"/>
          <a:stretch>
            <a:fillRect/>
          </a:stretch>
        </p:blipFill>
        <p:spPr>
          <a:xfrm>
            <a:off x="4983480" y="457200"/>
            <a:ext cx="3703320" cy="2572124"/>
          </a:xfrm>
          <a:prstGeom prst="rect">
            <a:avLst/>
          </a:prstGeom>
        </p:spPr>
      </p:pic>
      <p:sp>
        <p:nvSpPr>
          <p:cNvPr id="35" name="Open button">
            <a:hlinkClick r:id="rId12"/>
          </p:cNvPr>
          <p:cNvSpPr/>
          <p:nvPr/>
        </p:nvSpPr>
        <p:spPr>
          <a:xfrm>
            <a:off x="4983480" y="3291840"/>
            <a:ext cx="3703320" cy="566928"/>
          </a:xfrm>
          <a:prstGeom prst="roundRect">
            <a:avLst>
              <a:gd name="adj" fmla="val 16129"/>
            </a:avLst>
          </a:prstGeom>
          <a:solidFill>
            <a:srgbClr val="E0561A"/>
          </a:solidFill>
          <a:ln w="12700">
            <a:solidFill>
              <a:srgbClr val="E0561A"/>
            </a:solidFill>
            <a:prstDash val="solid"/>
          </a:ln>
        </p:spPr>
      </p:sp>
      <p:sp>
        <p:nvSpPr>
          <p:cNvPr id="36" name="Open button text">
            <a:hlinkClick r:id="rId12"/>
          </p:cNvPr>
          <p:cNvSpPr txBox="1"/>
          <p:nvPr/>
        </p:nvSpPr>
        <p:spPr>
          <a:xfrm>
            <a:off x="4983480" y="3291840"/>
            <a:ext cx="3703320" cy="566928"/>
          </a:xfrm>
          <a:prstGeom prst="rect">
            <a:avLst/>
          </a:prstGeom>
          <a:noFill/>
          <a:ln/>
        </p:spPr>
        <p:txBody>
          <a:bodyPr wrap="square" lIns="0" tIns="0" rIns="0" bIns="0" rtlCol="0" anchor="ctr"/>
          <a:lstStyle/>
          <a:p>
            <a:pPr marL="0" indent="0" algn="ctr">
              <a:buNone/>
            </a:pPr>
            <a:r>
              <a:rPr lang="en-US" sz="1800" b="1" dirty="0">
                <a:solidFill>
                  <a:srgbClr val="F3EFE6"/>
                </a:solidFill>
                <a:latin typeface="Calibri" pitchFamily="34" charset="0"/>
                <a:ea typeface="Calibri" pitchFamily="34" charset="-122"/>
                <a:cs typeface="Calibri" pitchFamily="34" charset="-120"/>
              </a:rPr>
              <a:t>OPEN THE CONSOLE  ▶</a:t>
            </a:r>
            <a:endParaRPr lang="en-US" sz="1800" dirty="0"/>
          </a:p>
        </p:txBody>
      </p:sp>
      <p:sp>
        <p:nvSpPr>
          <p:cNvPr id="37" name="Console address"/>
          <p:cNvSpPr txBox="1"/>
          <p:nvPr/>
        </p:nvSpPr>
        <p:spPr>
          <a:xfrm>
            <a:off x="4983480" y="3977640"/>
            <a:ext cx="3703320" cy="201168"/>
          </a:xfrm>
          <a:prstGeom prst="rect">
            <a:avLst/>
          </a:prstGeom>
          <a:noFill/>
          <a:ln/>
        </p:spPr>
        <p:txBody>
          <a:bodyPr wrap="square" lIns="0" tIns="0" rIns="0" bIns="0" rtlCol="0" anchor="t"/>
          <a:lstStyle/>
          <a:p>
            <a:pPr marL="0" indent="0" algn="ctr">
              <a:buNone/>
            </a:pPr>
            <a:r>
              <a:rPr lang="en-US" sz="1000" dirty="0">
                <a:solidFill>
                  <a:srgbClr val="6C7480"/>
                </a:solidFill>
                <a:latin typeface="Consolas" pitchFamily="34" charset="0"/>
                <a:ea typeface="Consolas" pitchFamily="34" charset="-122"/>
                <a:cs typeface="Consolas" pitchFamily="34" charset="-120"/>
              </a:rPr>
              <a:t>127.0.0.1:5050  ·  seed 2026  ·  no AI credit used</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childTnLst>
                          </p:cTn>
                        </p:par>
                        <p:par>
                          <p:cTn id="17" fill="hold">
                            <p:stCondLst>
                              <p:cond delay="550"/>
                            </p:stCondLst>
                            <p:childTnLst>
                              <p:par>
                                <p:cTn id="18" presetID="10" presetClass="entr" presetSubtype="0" fill="hold" nodeType="afterEffect">
                                  <p:stCondLst>
                                    <p:cond delay="15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0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00"/>
                                        <p:tgtEl>
                                          <p:spTgt spid="2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400"/>
                                        <p:tgtEl>
                                          <p:spTgt spid="21"/>
                                        </p:tgtEl>
                                      </p:cBhvr>
                                    </p:animEffect>
                                  </p:childTnLst>
                                </p:cTn>
                              </p:par>
                            </p:childTnLst>
                          </p:cTn>
                        </p:par>
                        <p:par>
                          <p:cTn id="30" fill="hold">
                            <p:stCondLst>
                              <p:cond delay="1100"/>
                            </p:stCondLst>
                            <p:childTnLst>
                              <p:par>
                                <p:cTn id="31" presetID="10" presetClass="entr" presetSubtype="0" fill="hold" nodeType="afterEffect">
                                  <p:stCondLst>
                                    <p:cond delay="15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00"/>
                                        <p:tgtEl>
                                          <p:spTgt spid="22"/>
                                        </p:tgtEl>
                                      </p:cBhvr>
                                    </p:animEffect>
                                  </p:childTnLst>
                                </p:cTn>
                              </p:par>
                              <p:par>
                                <p:cTn id="34" presetID="10" presetClass="entr" presetSubtype="0" fill="hold"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400"/>
                                        <p:tgtEl>
                                          <p:spTgt spid="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00"/>
                                        <p:tgtEl>
                                          <p:spTgt spid="25"/>
                                        </p:tgtEl>
                                      </p:cBhvr>
                                    </p:animEffect>
                                  </p:childTnLst>
                                </p:cTn>
                              </p:par>
                            </p:childTnLst>
                          </p:cTn>
                        </p:par>
                        <p:par>
                          <p:cTn id="43" fill="hold">
                            <p:stCondLst>
                              <p:cond delay="1650"/>
                            </p:stCondLst>
                            <p:childTnLst>
                              <p:par>
                                <p:cTn id="44" presetID="10" presetClass="entr" presetSubtype="0" fill="hold" nodeType="afterEffect">
                                  <p:stCondLst>
                                    <p:cond delay="15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00"/>
                                        <p:tgtEl>
                                          <p:spTgt spid="26"/>
                                        </p:tgtEl>
                                      </p:cBhvr>
                                    </p:animEffect>
                                  </p:childTnLst>
                                </p:cTn>
                              </p:par>
                              <p:par>
                                <p:cTn id="47" presetID="10" presetClass="entr" presetSubtype="0" fill="hold" nodeType="with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00"/>
                                        <p:tgtEl>
                                          <p:spTgt spid="2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00"/>
                                        <p:tgtEl>
                                          <p:spTgt spid="2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00"/>
                                        <p:tgtEl>
                                          <p:spTgt spid="29"/>
                                        </p:tgtEl>
                                      </p:cBhvr>
                                    </p:animEffect>
                                  </p:childTnLst>
                                </p:cTn>
                              </p:par>
                            </p:childTnLst>
                          </p:cTn>
                        </p:par>
                        <p:par>
                          <p:cTn id="56" fill="hold">
                            <p:stCondLst>
                              <p:cond delay="2200"/>
                            </p:stCondLst>
                            <p:childTnLst>
                              <p:par>
                                <p:cTn id="57" presetID="10" presetClass="entr" presetSubtype="0" fill="hold" nodeType="afterEffect">
                                  <p:stCondLst>
                                    <p:cond delay="15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400"/>
                                        <p:tgtEl>
                                          <p:spTgt spid="30"/>
                                        </p:tgtEl>
                                      </p:cBhvr>
                                    </p:animEffect>
                                  </p:childTnLst>
                                </p:cTn>
                              </p:par>
                              <p:par>
                                <p:cTn id="60" presetID="10" presetClass="entr" presetSubtype="0" fill="hold" nodeType="withEffect">
                                  <p:stCondLst>
                                    <p:cond delay="0"/>
                                  </p:stCondLst>
                                  <p:childTnLst>
                                    <p:set>
                                      <p:cBhvr>
                                        <p:cTn id="61" dur="1" fill="hold">
                                          <p:stCondLst>
                                            <p:cond delay="0"/>
                                          </p:stCondLst>
                                        </p:cTn>
                                        <p:tgtEl>
                                          <p:spTgt spid="31"/>
                                        </p:tgtEl>
                                        <p:attrNameLst>
                                          <p:attrName>style.visibility</p:attrName>
                                        </p:attrNameLst>
                                      </p:cBhvr>
                                      <p:to>
                                        <p:strVal val="visible"/>
                                      </p:to>
                                    </p:set>
                                    <p:animEffect transition="in" filter="fade">
                                      <p:cBhvr>
                                        <p:cTn id="62" dur="400"/>
                                        <p:tgtEl>
                                          <p:spTgt spid="3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400"/>
                                        <p:tgtEl>
                                          <p:spTgt spid="3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3"/>
                                        </p:tgtEl>
                                        <p:attrNameLst>
                                          <p:attrName>style.visibility</p:attrName>
                                        </p:attrNameLst>
                                      </p:cBhvr>
                                      <p:to>
                                        <p:strVal val="visible"/>
                                      </p:to>
                                    </p:set>
                                    <p:animEffect transition="in" filter="fade">
                                      <p:cBhvr>
                                        <p:cTn id="68" dur="400"/>
                                        <p:tgtEl>
                                          <p:spTgt spid="33"/>
                                        </p:tgtEl>
                                      </p:cBhvr>
                                    </p:animEffect>
                                  </p:childTnLst>
                                </p:cTn>
                              </p:par>
                            </p:childTnLst>
                          </p:cTn>
                        </p:par>
                        <p:par>
                          <p:cTn id="69" fill="hold">
                            <p:stCondLst>
                              <p:cond delay="2750"/>
                            </p:stCondLst>
                            <p:childTnLst>
                              <p:par>
                                <p:cTn id="70" presetID="10" presetClass="entr" presetSubtype="0" fill="hold" nodeType="afterEffect">
                                  <p:stCondLst>
                                    <p:cond delay="200"/>
                                  </p:stCondLst>
                                  <p:childTnLst>
                                    <p:set>
                                      <p:cBhvr>
                                        <p:cTn id="71" dur="1" fill="hold">
                                          <p:stCondLst>
                                            <p:cond delay="0"/>
                                          </p:stCondLst>
                                        </p:cTn>
                                        <p:tgtEl>
                                          <p:spTgt spid="34"/>
                                        </p:tgtEl>
                                        <p:attrNameLst>
                                          <p:attrName>style.visibility</p:attrName>
                                        </p:attrNameLst>
                                      </p:cBhvr>
                                      <p:to>
                                        <p:strVal val="visible"/>
                                      </p:to>
                                    </p:set>
                                    <p:animEffect transition="in" filter="fade">
                                      <p:cBhvr>
                                        <p:cTn id="72" dur="600"/>
                                        <p:tgtEl>
                                          <p:spTgt spid="34"/>
                                        </p:tgtEl>
                                      </p:cBhvr>
                                    </p:animEffect>
                                  </p:childTnLst>
                                </p:cTn>
                              </p:par>
                            </p:childTnLst>
                          </p:cTn>
                        </p:par>
                        <p:par>
                          <p:cTn id="73" fill="hold">
                            <p:stCondLst>
                              <p:cond delay="3550"/>
                            </p:stCondLst>
                            <p:childTnLst>
                              <p:par>
                                <p:cTn id="74" presetID="10" presetClass="entr" presetSubtype="0" fill="hold" nodeType="afterEffect">
                                  <p:stCondLst>
                                    <p:cond delay="10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6"/>
                                        </p:tgtEl>
                                        <p:attrNameLst>
                                          <p:attrName>style.visibility</p:attrName>
                                        </p:attrNameLst>
                                      </p:cBhvr>
                                      <p:to>
                                        <p:strVal val="visible"/>
                                      </p:to>
                                    </p:set>
                                    <p:animEffect transition="in" filter="fade">
                                      <p:cBhvr>
                                        <p:cTn id="79" dur="400"/>
                                        <p:tgtEl>
                                          <p:spTgt spid="3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7"/>
                                        </p:tgtEl>
                                        <p:attrNameLst>
                                          <p:attrName>style.visibility</p:attrName>
                                        </p:attrNameLst>
                                      </p:cBhvr>
                                      <p:to>
                                        <p:strVal val="visible"/>
                                      </p:to>
                                    </p:set>
                                    <p:animEffect transition="in" filter="fade">
                                      <p:cBhvr>
                                        <p:cTn id="8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1" grpId="0" animBg="1"/>
      <p:bldP spid="24" grpId="0" animBg="1"/>
      <p:bldP spid="25" grpId="0" animBg="1"/>
      <p:bldP spid="28" grpId="0" animBg="1"/>
      <p:bldP spid="29" grpId="0" animBg="1"/>
      <p:bldP spid="32" grpId="0" animBg="1"/>
      <p:bldP spid="33"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E0561A"/>
          </a:solidFill>
          <a:ln w="12700">
            <a:solidFill>
              <a:srgbClr val="E0561A"/>
            </a:solidFill>
            <a:prstDash val="solid"/>
          </a:ln>
        </p:spPr>
      </p:sp>
      <p:sp>
        <p:nvSpPr>
          <p:cNvPr id="12" name="Title"/>
          <p:cNvSpPr txBox="1"/>
          <p:nvPr/>
        </p:nvSpPr>
        <p:spPr>
          <a:xfrm>
            <a:off x="548640" y="457200"/>
            <a:ext cx="8046720" cy="64008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What is real. What is next. What we won't do.</a:t>
            </a:r>
            <a:endParaRPr lang="en-US" sz="3000" dirty="0"/>
          </a:p>
        </p:txBody>
      </p:sp>
      <p:sp>
        <p:nvSpPr>
          <p:cNvPr id="13" name="Column 1"/>
          <p:cNvSpPr/>
          <p:nvPr/>
        </p:nvSpPr>
        <p:spPr>
          <a:xfrm>
            <a:off x="548640" y="1234440"/>
            <a:ext cx="2560320" cy="2103120"/>
          </a:xfrm>
          <a:prstGeom prst="roundRect">
            <a:avLst>
              <a:gd name="adj" fmla="val 4348"/>
            </a:avLst>
          </a:prstGeom>
          <a:solidFill>
            <a:srgbClr val="161B23"/>
          </a:solidFill>
          <a:ln w="12700">
            <a:solidFill>
              <a:srgbClr val="2A323E"/>
            </a:solidFill>
            <a:prstDash val="solid"/>
          </a:ln>
        </p:spPr>
      </p:sp>
      <p:sp>
        <p:nvSpPr>
          <p:cNvPr id="14" name="Column 1 badge"/>
          <p:cNvSpPr/>
          <p:nvPr/>
        </p:nvSpPr>
        <p:spPr>
          <a:xfrm>
            <a:off x="731520" y="1417320"/>
            <a:ext cx="502920" cy="502920"/>
          </a:xfrm>
          <a:prstGeom prst="ellipse">
            <a:avLst/>
          </a:prstGeom>
          <a:solidFill>
            <a:srgbClr val="36B26B"/>
          </a:solidFill>
          <a:ln w="12700">
            <a:solidFill>
              <a:srgbClr val="36B26B"/>
            </a:solidFill>
            <a:prstDash val="solid"/>
          </a:ln>
        </p:spPr>
      </p:sp>
      <p:pic>
        <p:nvPicPr>
          <p:cNvPr id="15" name="Column 1 icon" descr="Column 1"/>
          <p:cNvPicPr>
            <a:picLocks noChangeAspect="1"/>
          </p:cNvPicPr>
          <p:nvPr/>
        </p:nvPicPr>
        <p:blipFill>
          <a:blip r:embed="rId12"/>
          <a:stretch>
            <a:fillRect/>
          </a:stretch>
        </p:blipFill>
        <p:spPr>
          <a:xfrm>
            <a:off x="862279" y="1548079"/>
            <a:ext cx="241402" cy="241402"/>
          </a:xfrm>
          <a:prstGeom prst="rect">
            <a:avLst/>
          </a:prstGeom>
        </p:spPr>
      </p:pic>
      <p:sp>
        <p:nvSpPr>
          <p:cNvPr id="16" name="Column 1 title"/>
          <p:cNvSpPr txBox="1"/>
          <p:nvPr/>
        </p:nvSpPr>
        <p:spPr>
          <a:xfrm>
            <a:off x="731520" y="2029968"/>
            <a:ext cx="2194560" cy="320040"/>
          </a:xfrm>
          <a:prstGeom prst="rect">
            <a:avLst/>
          </a:prstGeom>
          <a:noFill/>
          <a:ln/>
        </p:spPr>
        <p:txBody>
          <a:bodyPr wrap="square" lIns="0" tIns="0" rIns="0" bIns="0" rtlCol="0" anchor="t"/>
          <a:lstStyle/>
          <a:p>
            <a:pPr marL="0" indent="0">
              <a:buNone/>
            </a:pPr>
            <a:r>
              <a:rPr lang="en-US" sz="1800" b="1" dirty="0">
                <a:solidFill>
                  <a:srgbClr val="F3EFE6"/>
                </a:solidFill>
                <a:latin typeface="Calibri" pitchFamily="34" charset="0"/>
                <a:ea typeface="Calibri" pitchFamily="34" charset="-122"/>
                <a:cs typeface="Calibri" pitchFamily="34" charset="-120"/>
              </a:rPr>
              <a:t>Real today</a:t>
            </a:r>
            <a:endParaRPr lang="en-US" sz="1800" dirty="0"/>
          </a:p>
        </p:txBody>
      </p:sp>
      <p:sp>
        <p:nvSpPr>
          <p:cNvPr id="17" name="Column 1 text"/>
          <p:cNvSpPr txBox="1"/>
          <p:nvPr/>
        </p:nvSpPr>
        <p:spPr>
          <a:xfrm>
            <a:off x="731520" y="2395728"/>
            <a:ext cx="2240280" cy="9144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The full pipeline, escalation clocks, silent-sender checks, an inbound endpoint, an audit trail and 97 tests. AI verdicts are real.</a:t>
            </a:r>
            <a:endParaRPr lang="en-US" sz="1200" dirty="0"/>
          </a:p>
        </p:txBody>
      </p:sp>
      <p:sp>
        <p:nvSpPr>
          <p:cNvPr id="18" name="Column 2"/>
          <p:cNvSpPr/>
          <p:nvPr/>
        </p:nvSpPr>
        <p:spPr>
          <a:xfrm>
            <a:off x="3291840" y="1234440"/>
            <a:ext cx="2560320" cy="2103120"/>
          </a:xfrm>
          <a:prstGeom prst="roundRect">
            <a:avLst>
              <a:gd name="adj" fmla="val 4348"/>
            </a:avLst>
          </a:prstGeom>
          <a:solidFill>
            <a:srgbClr val="161B23"/>
          </a:solidFill>
          <a:ln w="12700">
            <a:solidFill>
              <a:srgbClr val="2A323E"/>
            </a:solidFill>
            <a:prstDash val="solid"/>
          </a:ln>
        </p:spPr>
      </p:sp>
      <p:sp>
        <p:nvSpPr>
          <p:cNvPr id="19" name="Column 2 badge"/>
          <p:cNvSpPr/>
          <p:nvPr/>
        </p:nvSpPr>
        <p:spPr>
          <a:xfrm>
            <a:off x="3474720" y="1417320"/>
            <a:ext cx="502920" cy="502920"/>
          </a:xfrm>
          <a:prstGeom prst="ellipse">
            <a:avLst/>
          </a:prstGeom>
          <a:solidFill>
            <a:srgbClr val="17A5A3"/>
          </a:solidFill>
          <a:ln w="12700">
            <a:solidFill>
              <a:srgbClr val="17A5A3"/>
            </a:solidFill>
            <a:prstDash val="solid"/>
          </a:ln>
        </p:spPr>
      </p:sp>
      <p:pic>
        <p:nvPicPr>
          <p:cNvPr id="20" name="Column 2 icon" descr="Column 2"/>
          <p:cNvPicPr>
            <a:picLocks noChangeAspect="1"/>
          </p:cNvPicPr>
          <p:nvPr/>
        </p:nvPicPr>
        <p:blipFill>
          <a:blip r:embed="rId13"/>
          <a:stretch>
            <a:fillRect/>
          </a:stretch>
        </p:blipFill>
        <p:spPr>
          <a:xfrm>
            <a:off x="3605479" y="1548079"/>
            <a:ext cx="241402" cy="241402"/>
          </a:xfrm>
          <a:prstGeom prst="rect">
            <a:avLst/>
          </a:prstGeom>
        </p:spPr>
      </p:pic>
      <p:sp>
        <p:nvSpPr>
          <p:cNvPr id="21" name="Column 2 title"/>
          <p:cNvSpPr txBox="1"/>
          <p:nvPr/>
        </p:nvSpPr>
        <p:spPr>
          <a:xfrm>
            <a:off x="3474720" y="2029968"/>
            <a:ext cx="2194560" cy="320040"/>
          </a:xfrm>
          <a:prstGeom prst="rect">
            <a:avLst/>
          </a:prstGeom>
          <a:noFill/>
          <a:ln/>
        </p:spPr>
        <p:txBody>
          <a:bodyPr wrap="square" lIns="0" tIns="0" rIns="0" bIns="0" rtlCol="0" anchor="t"/>
          <a:lstStyle/>
          <a:p>
            <a:pPr marL="0" indent="0">
              <a:buNone/>
            </a:pPr>
            <a:r>
              <a:rPr lang="en-US" sz="1800" b="1" dirty="0">
                <a:solidFill>
                  <a:srgbClr val="F3EFE6"/>
                </a:solidFill>
                <a:latin typeface="Calibri" pitchFamily="34" charset="0"/>
                <a:ea typeface="Calibri" pitchFamily="34" charset="-122"/>
                <a:cs typeface="Calibri" pitchFamily="34" charset="-120"/>
              </a:rPr>
              <a:t>Next</a:t>
            </a:r>
            <a:endParaRPr lang="en-US" sz="1800" dirty="0"/>
          </a:p>
        </p:txBody>
      </p:sp>
      <p:sp>
        <p:nvSpPr>
          <p:cNvPr id="22" name="Column 2 text"/>
          <p:cNvSpPr txBox="1"/>
          <p:nvPr/>
        </p:nvSpPr>
        <p:spPr>
          <a:xfrm>
            <a:off x="3474720" y="2395728"/>
            <a:ext cx="2240280" cy="9144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A shadow pilot for one wet season. Real SMS and email feeds. Language phrases reviewed by speakers, under community control.</a:t>
            </a:r>
            <a:endParaRPr lang="en-US" sz="1200" dirty="0"/>
          </a:p>
        </p:txBody>
      </p:sp>
      <p:sp>
        <p:nvSpPr>
          <p:cNvPr id="23" name="Column 3"/>
          <p:cNvSpPr/>
          <p:nvPr/>
        </p:nvSpPr>
        <p:spPr>
          <a:xfrm>
            <a:off x="6035040" y="1234440"/>
            <a:ext cx="2560320" cy="2103120"/>
          </a:xfrm>
          <a:prstGeom prst="roundRect">
            <a:avLst>
              <a:gd name="adj" fmla="val 4348"/>
            </a:avLst>
          </a:prstGeom>
          <a:solidFill>
            <a:srgbClr val="161B23"/>
          </a:solidFill>
          <a:ln w="12700">
            <a:solidFill>
              <a:srgbClr val="2A323E"/>
            </a:solidFill>
            <a:prstDash val="solid"/>
          </a:ln>
        </p:spPr>
      </p:sp>
      <p:sp>
        <p:nvSpPr>
          <p:cNvPr id="24" name="Column 3 badge"/>
          <p:cNvSpPr/>
          <p:nvPr/>
        </p:nvSpPr>
        <p:spPr>
          <a:xfrm>
            <a:off x="6217920" y="1417320"/>
            <a:ext cx="502920" cy="502920"/>
          </a:xfrm>
          <a:prstGeom prst="ellipse">
            <a:avLst/>
          </a:prstGeom>
          <a:solidFill>
            <a:srgbClr val="E03A52"/>
          </a:solidFill>
          <a:ln w="12700">
            <a:solidFill>
              <a:srgbClr val="E03A52"/>
            </a:solidFill>
            <a:prstDash val="solid"/>
          </a:ln>
        </p:spPr>
      </p:sp>
      <p:pic>
        <p:nvPicPr>
          <p:cNvPr id="25" name="Column 3 icon" descr="Column 3"/>
          <p:cNvPicPr>
            <a:picLocks noChangeAspect="1"/>
          </p:cNvPicPr>
          <p:nvPr/>
        </p:nvPicPr>
        <p:blipFill>
          <a:blip r:embed="rId14"/>
          <a:stretch>
            <a:fillRect/>
          </a:stretch>
        </p:blipFill>
        <p:spPr>
          <a:xfrm>
            <a:off x="6348679" y="1548079"/>
            <a:ext cx="241402" cy="241402"/>
          </a:xfrm>
          <a:prstGeom prst="rect">
            <a:avLst/>
          </a:prstGeom>
        </p:spPr>
      </p:pic>
      <p:sp>
        <p:nvSpPr>
          <p:cNvPr id="26" name="Column 3 title"/>
          <p:cNvSpPr txBox="1"/>
          <p:nvPr/>
        </p:nvSpPr>
        <p:spPr>
          <a:xfrm>
            <a:off x="6217920" y="2029968"/>
            <a:ext cx="2194560" cy="320040"/>
          </a:xfrm>
          <a:prstGeom prst="rect">
            <a:avLst/>
          </a:prstGeom>
          <a:noFill/>
          <a:ln/>
        </p:spPr>
        <p:txBody>
          <a:bodyPr wrap="square" lIns="0" tIns="0" rIns="0" bIns="0" rtlCol="0" anchor="t"/>
          <a:lstStyle/>
          <a:p>
            <a:pPr marL="0" indent="0">
              <a:buNone/>
            </a:pPr>
            <a:r>
              <a:rPr lang="en-US" sz="1800" b="1" dirty="0">
                <a:solidFill>
                  <a:srgbClr val="F3EFE6"/>
                </a:solidFill>
                <a:latin typeface="Calibri" pitchFamily="34" charset="0"/>
                <a:ea typeface="Calibri" pitchFamily="34" charset="-122"/>
                <a:cs typeface="Calibri" pitchFamily="34" charset="-120"/>
              </a:rPr>
              <a:t>Never</a:t>
            </a:r>
            <a:endParaRPr lang="en-US" sz="1800" dirty="0"/>
          </a:p>
        </p:txBody>
      </p:sp>
      <p:sp>
        <p:nvSpPr>
          <p:cNvPr id="27" name="Column 3 text"/>
          <p:cNvSpPr txBox="1"/>
          <p:nvPr/>
        </p:nvSpPr>
        <p:spPr>
          <a:xfrm>
            <a:off x="6217920" y="2395728"/>
            <a:ext cx="2240280" cy="9144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No auto-replies. No lowering a priority. No pretending to understand a language we can't read.</a:t>
            </a:r>
            <a:endParaRPr lang="en-US" sz="1200" dirty="0"/>
          </a:p>
        </p:txBody>
      </p:sp>
      <p:sp>
        <p:nvSpPr>
          <p:cNvPr id="28" name="Warnings"/>
          <p:cNvSpPr txBox="1"/>
          <p:nvPr/>
        </p:nvSpPr>
        <p:spPr>
          <a:xfrm>
            <a:off x="548640" y="3520440"/>
            <a:ext cx="8046720" cy="201168"/>
          </a:xfrm>
          <a:prstGeom prst="rect">
            <a:avLst/>
          </a:prstGeom>
          <a:noFill/>
          <a:ln/>
        </p:spPr>
        <p:txBody>
          <a:bodyPr wrap="square" lIns="0" tIns="0" rIns="0" bIns="0" rtlCol="0" anchor="t"/>
          <a:lstStyle/>
          <a:p>
            <a:pPr marL="0" indent="0">
              <a:buNone/>
            </a:pPr>
            <a:r>
              <a:rPr lang="en-US" sz="1000" kern="0" spc="100" dirty="0">
                <a:solidFill>
                  <a:srgbClr val="F2B84B"/>
                </a:solidFill>
                <a:latin typeface="Consolas" pitchFamily="34" charset="0"/>
                <a:ea typeface="Consolas" pitchFamily="34" charset="-122"/>
                <a:cs typeface="Consolas" pitchFamily="34" charset="-120"/>
              </a:rPr>
              <a:t>OUR WARNINGS:  SYNTHETIC DATA  ·  30% ON THE CRITICAL CLOCK  ·  ONE MODEL, ENGLISH ONLY</a:t>
            </a:r>
            <a:endParaRPr lang="en-US" sz="1000" dirty="0"/>
          </a:p>
        </p:txBody>
      </p:sp>
      <p:sp>
        <p:nvSpPr>
          <p:cNvPr id="29" name="Closing banner"/>
          <p:cNvSpPr/>
          <p:nvPr/>
        </p:nvSpPr>
        <p:spPr>
          <a:xfrm>
            <a:off x="548640" y="3840480"/>
            <a:ext cx="8046720" cy="640080"/>
          </a:xfrm>
          <a:prstGeom prst="roundRect">
            <a:avLst>
              <a:gd name="adj" fmla="val 14286"/>
            </a:avLst>
          </a:prstGeom>
          <a:solidFill>
            <a:srgbClr val="161B23"/>
          </a:solidFill>
          <a:ln w="12700">
            <a:solidFill>
              <a:srgbClr val="2A323E"/>
            </a:solidFill>
            <a:prstDash val="solid"/>
          </a:ln>
        </p:spPr>
      </p:sp>
      <p:sp>
        <p:nvSpPr>
          <p:cNvPr id="30" name="Questions"/>
          <p:cNvSpPr txBox="1"/>
          <p:nvPr/>
        </p:nvSpPr>
        <p:spPr>
          <a:xfrm>
            <a:off x="822960" y="3840480"/>
            <a:ext cx="2743200" cy="640080"/>
          </a:xfrm>
          <a:prstGeom prst="rect">
            <a:avLst/>
          </a:prstGeom>
          <a:noFill/>
          <a:ln/>
        </p:spPr>
        <p:txBody>
          <a:bodyPr wrap="square" lIns="0" tIns="0" rIns="0" bIns="0" rtlCol="0" anchor="ctr"/>
          <a:lstStyle/>
          <a:p>
            <a:pPr marL="0" indent="0">
              <a:buNone/>
            </a:pPr>
            <a:r>
              <a:rPr lang="en-US" sz="2800" b="1" dirty="0">
                <a:solidFill>
                  <a:srgbClr val="F3EFE6"/>
                </a:solidFill>
                <a:latin typeface="Calibri" pitchFamily="34" charset="0"/>
                <a:ea typeface="Calibri" pitchFamily="34" charset="-122"/>
                <a:cs typeface="Calibri" pitchFamily="34" charset="-120"/>
              </a:rPr>
              <a:t>Questions?</a:t>
            </a:r>
            <a:endParaRPr lang="en-US" sz="2800" dirty="0"/>
          </a:p>
        </p:txBody>
      </p:sp>
      <p:sp>
        <p:nvSpPr>
          <p:cNvPr id="31" name="Principle"/>
          <p:cNvSpPr txBox="1"/>
          <p:nvPr/>
        </p:nvSpPr>
        <p:spPr>
          <a:xfrm>
            <a:off x="3840480" y="3840480"/>
            <a:ext cx="4572000" cy="640080"/>
          </a:xfrm>
          <a:prstGeom prst="rect">
            <a:avLst/>
          </a:prstGeom>
          <a:noFill/>
          <a:ln/>
        </p:spPr>
        <p:txBody>
          <a:bodyPr wrap="square" lIns="0" tIns="0" rIns="0" bIns="0" rtlCol="0" anchor="ctr"/>
          <a:lstStyle/>
          <a:p>
            <a:pPr marL="0" indent="0" algn="r">
              <a:buNone/>
            </a:pPr>
            <a:r>
              <a:rPr lang="en-US" sz="2000" b="1" dirty="0">
                <a:solidFill>
                  <a:srgbClr val="F2B84B"/>
                </a:solidFill>
                <a:latin typeface="Calibri" pitchFamily="34" charset="0"/>
                <a:ea typeface="Calibri" pitchFamily="34" charset="-122"/>
                <a:cs typeface="Calibri" pitchFamily="34" charset="-120"/>
              </a:rPr>
              <a:t>Help people. Never replace them.</a:t>
            </a:r>
            <a:endParaRPr lang="en-US" sz="2000" dirty="0"/>
          </a:p>
        </p:txBody>
      </p:sp>
      <p:sp>
        <p:nvSpPr>
          <p:cNvPr id="32" name="Jump to 11">
            <a:hlinkClick r:id="rId15" action="ppaction://hlinksldjump"/>
            <a:extLst>
              <a:ext uri="{FF2B5EF4-FFF2-40B4-BE49-F238E27FC236}">
                <a16:creationId xmlns:a16="http://schemas.microsoft.com/office/drawing/2014/main" id="{A7068D9C-C24B-8618-CE60-0A3395195452}"/>
              </a:ext>
            </a:extLst>
          </p:cNvPr>
          <p:cNvSpPr txBox="1"/>
          <p:nvPr/>
        </p:nvSpPr>
        <p:spPr>
          <a:xfrm>
            <a:off x="5080000" y="4508500"/>
            <a:ext cx="3683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Likely questions  &gt;</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5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5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5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5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childTnLst>
                          </p:cTn>
                        </p:par>
                        <p:par>
                          <p:cTn id="20" fill="hold">
                            <p:stCondLst>
                              <p:cond delay="650"/>
                            </p:stCondLst>
                            <p:childTnLst>
                              <p:par>
                                <p:cTn id="21" presetID="10" presetClass="entr" presetSubtype="0" fill="hold" nodeType="afterEffect">
                                  <p:stCondLst>
                                    <p:cond delay="2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5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50"/>
                                        <p:tgtEl>
                                          <p:spTgt spid="19"/>
                                        </p:tgtEl>
                                      </p:cBhvr>
                                    </p:animEffect>
                                  </p:childTnLst>
                                </p:cTn>
                              </p:par>
                              <p:par>
                                <p:cTn id="27" presetID="10"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450"/>
                                        <p:tgtEl>
                                          <p:spTgt spid="2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450"/>
                                        <p:tgtEl>
                                          <p:spTgt spid="2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450"/>
                                        <p:tgtEl>
                                          <p:spTgt spid="22"/>
                                        </p:tgtEl>
                                      </p:cBhvr>
                                    </p:animEffect>
                                  </p:childTnLst>
                                </p:cTn>
                              </p:par>
                            </p:childTnLst>
                          </p:cTn>
                        </p:par>
                        <p:par>
                          <p:cTn id="36" fill="hold">
                            <p:stCondLst>
                              <p:cond delay="1300"/>
                            </p:stCondLst>
                            <p:childTnLst>
                              <p:par>
                                <p:cTn id="37" presetID="10" presetClass="entr" presetSubtype="0" fill="hold" nodeType="afterEffect">
                                  <p:stCondLst>
                                    <p:cond delay="20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50"/>
                                        <p:tgtEl>
                                          <p:spTgt spid="23"/>
                                        </p:tgtEl>
                                      </p:cBhvr>
                                    </p:animEffect>
                                  </p:childTnLst>
                                </p:cTn>
                              </p:par>
                              <p:par>
                                <p:cTn id="40" presetID="10" presetClass="entr" presetSubtype="0" fill="hold"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50"/>
                                        <p:tgtEl>
                                          <p:spTgt spid="24"/>
                                        </p:tgtEl>
                                      </p:cBhvr>
                                    </p:animEffect>
                                  </p:childTnLst>
                                </p:cTn>
                              </p:par>
                              <p:par>
                                <p:cTn id="43" presetID="10" presetClass="entr" presetSubtype="0" fill="hold"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5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5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50"/>
                                        <p:tgtEl>
                                          <p:spTgt spid="27"/>
                                        </p:tgtEl>
                                      </p:cBhvr>
                                    </p:animEffect>
                                  </p:childTnLst>
                                </p:cTn>
                              </p:par>
                            </p:childTnLst>
                          </p:cTn>
                        </p:par>
                        <p:par>
                          <p:cTn id="52" fill="hold">
                            <p:stCondLst>
                              <p:cond delay="1950"/>
                            </p:stCondLst>
                            <p:childTnLst>
                              <p:par>
                                <p:cTn id="53" presetID="10" presetClass="entr" presetSubtype="0" fill="hold" grpId="0" nodeType="afterEffect">
                                  <p:stCondLst>
                                    <p:cond delay="20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childTnLst>
                          </p:cTn>
                        </p:par>
                        <p:par>
                          <p:cTn id="56" fill="hold">
                            <p:stCondLst>
                              <p:cond delay="2650"/>
                            </p:stCondLst>
                            <p:childTnLst>
                              <p:par>
                                <p:cTn id="57" presetID="10" presetClass="entr" presetSubtype="0" fill="hold" nodeType="afterEffect">
                                  <p:stCondLst>
                                    <p:cond delay="20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500"/>
                                        <p:tgtEl>
                                          <p:spTgt spid="30"/>
                                        </p:tgtEl>
                                      </p:cBhvr>
                                    </p:animEffect>
                                  </p:childTnLst>
                                </p:cTn>
                              </p:par>
                              <p:par>
                                <p:cTn id="63" presetID="10" presetClass="entr" presetSubtype="0" fill="hold" grpId="0" nodeType="withEffect">
                                  <p:stCondLst>
                                    <p:cond delay="20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1" grpId="0" animBg="1"/>
      <p:bldP spid="22" grpId="0" animBg="1"/>
      <p:bldP spid="26" grpId="0" animBg="1"/>
      <p:bldP spid="27" grpId="0" animBg="1"/>
      <p:bldP spid="28" grpId="0" animBg="1"/>
      <p:bldP spid="30" grpId="0" animBg="1"/>
      <p:bldP spid="31"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0">
  <p:cSld name="Slide 10">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Backup tag"/>
          <p:cNvSpPr txBox="1"/>
          <p:nvPr/>
        </p:nvSpPr>
        <p:spPr>
          <a:xfrm>
            <a:off x="7680960" y="4736592"/>
            <a:ext cx="914400" cy="201168"/>
          </a:xfrm>
          <a:prstGeom prst="rect">
            <a:avLst/>
          </a:prstGeom>
          <a:noFill/>
          <a:ln/>
        </p:spPr>
        <p:txBody>
          <a:bodyPr wrap="square" lIns="0" tIns="0" rIns="0" bIns="0" rtlCol="0" anchor="t"/>
          <a:lstStyle/>
          <a:p>
            <a:pPr marL="0" indent="0" algn="r">
              <a:buNone/>
            </a:pPr>
            <a:r>
              <a:rPr lang="en-US" sz="1000" kern="0" spc="200" dirty="0">
                <a:solidFill>
                  <a:srgbClr val="F2B84B"/>
                </a:solidFill>
                <a:latin typeface="Consolas" pitchFamily="34" charset="0"/>
                <a:ea typeface="Consolas" pitchFamily="34" charset="-122"/>
                <a:cs typeface="Consolas" pitchFamily="34" charset="-120"/>
              </a:rPr>
              <a:t>BACKUP</a:t>
            </a:r>
            <a:endParaRPr lang="en-US" sz="1000" dirty="0"/>
          </a:p>
        </p:txBody>
      </p:sp>
      <p:sp>
        <p:nvSpPr>
          <p:cNvPr id="4" name="Title"/>
          <p:cNvSpPr txBox="1"/>
          <p:nvPr/>
        </p:nvSpPr>
        <p:spPr>
          <a:xfrm>
            <a:off x="548640" y="411480"/>
            <a:ext cx="7315200" cy="548640"/>
          </a:xfrm>
          <a:prstGeom prst="rect">
            <a:avLst/>
          </a:prstGeom>
          <a:noFill/>
          <a:ln/>
        </p:spPr>
        <p:txBody>
          <a:bodyPr wrap="square" lIns="0" tIns="0" rIns="0" bIns="0" rtlCol="0" anchor="t"/>
          <a:lstStyle/>
          <a:p>
            <a:pPr marL="0" indent="0">
              <a:buNone/>
            </a:pPr>
            <a:r>
              <a:rPr lang="en-US" sz="2800" b="1" dirty="0">
                <a:solidFill>
                  <a:srgbClr val="F3EFE6"/>
                </a:solidFill>
                <a:latin typeface="Calibri" pitchFamily="34" charset="0"/>
                <a:ea typeface="Calibri" pitchFamily="34" charset="-122"/>
                <a:cs typeface="Calibri" pitchFamily="34" charset="-120"/>
              </a:rPr>
              <a:t>Fairness, language, and a bug we found late</a:t>
            </a:r>
            <a:endParaRPr lang="en-US" sz="2800" dirty="0"/>
          </a:p>
        </p:txBody>
      </p:sp>
      <p:sp>
        <p:nvSpPr>
          <p:cNvPr id="5" name="Tile 1"/>
          <p:cNvSpPr/>
          <p:nvPr/>
        </p:nvSpPr>
        <p:spPr>
          <a:xfrm>
            <a:off x="548640" y="1280160"/>
            <a:ext cx="2560320" cy="2743200"/>
          </a:xfrm>
          <a:prstGeom prst="roundRect">
            <a:avLst>
              <a:gd name="adj" fmla="val 3571"/>
            </a:avLst>
          </a:prstGeom>
          <a:solidFill>
            <a:srgbClr val="161B23"/>
          </a:solidFill>
          <a:ln w="12700">
            <a:solidFill>
              <a:srgbClr val="2A323E"/>
            </a:solidFill>
            <a:prstDash val="solid"/>
          </a:ln>
        </p:spPr>
      </p:sp>
      <p:sp>
        <p:nvSpPr>
          <p:cNvPr id="6" name="Tile 1 number"/>
          <p:cNvSpPr txBox="1"/>
          <p:nvPr/>
        </p:nvSpPr>
        <p:spPr>
          <a:xfrm>
            <a:off x="731520" y="1463040"/>
            <a:ext cx="2194560" cy="640080"/>
          </a:xfrm>
          <a:prstGeom prst="rect">
            <a:avLst/>
          </a:prstGeom>
          <a:noFill/>
          <a:ln/>
        </p:spPr>
        <p:txBody>
          <a:bodyPr wrap="square" lIns="0" tIns="0" rIns="0" bIns="0" rtlCol="0" anchor="t"/>
          <a:lstStyle/>
          <a:p>
            <a:pPr marL="0" indent="0">
              <a:buNone/>
            </a:pPr>
            <a:r>
              <a:rPr lang="en-US" sz="3400" b="1" dirty="0">
                <a:solidFill>
                  <a:srgbClr val="17A5A3"/>
                </a:solidFill>
                <a:latin typeface="Calibri" pitchFamily="34" charset="0"/>
                <a:ea typeface="Calibri" pitchFamily="34" charset="-122"/>
                <a:cs typeface="Calibri" pitchFamily="34" charset="-120"/>
              </a:rPr>
              <a:t>4 of 5</a:t>
            </a:r>
            <a:endParaRPr lang="en-US" sz="3400" dirty="0"/>
          </a:p>
        </p:txBody>
      </p:sp>
      <p:sp>
        <p:nvSpPr>
          <p:cNvPr id="7" name="Tile 1 text"/>
          <p:cNvSpPr txBox="1"/>
          <p:nvPr/>
        </p:nvSpPr>
        <p:spPr>
          <a:xfrm>
            <a:off x="731520" y="2240280"/>
            <a:ext cx="2194560" cy="1645920"/>
          </a:xfrm>
          <a:prstGeom prst="rect">
            <a:avLst/>
          </a:prstGeom>
          <a:noFill/>
          <a:ln/>
        </p:spPr>
        <p:txBody>
          <a:bodyPr wrap="square" lIns="0" tIns="0" rIns="0" bIns="0" rtlCol="0" anchor="t"/>
          <a:lstStyle/>
          <a:p>
            <a:pPr marL="0" indent="0">
              <a:buNone/>
            </a:pPr>
            <a:r>
              <a:rPr lang="en-US" sz="1300" dirty="0">
                <a:solidFill>
                  <a:srgbClr val="9AA1AD"/>
                </a:solidFill>
                <a:latin typeface="Calibri" pitchFamily="34" charset="0"/>
                <a:ea typeface="Calibri" pitchFamily="34" charset="-122"/>
                <a:cs typeface="Calibri" pitchFamily="34" charset="-120"/>
              </a:rPr>
              <a:t>fairness pairs got the same final priority (AI model 4, backup model 3). The exception: formal wording made the backup model nervous.</a:t>
            </a:r>
            <a:endParaRPr lang="en-US" sz="1300" dirty="0"/>
          </a:p>
        </p:txBody>
      </p:sp>
      <p:sp>
        <p:nvSpPr>
          <p:cNvPr id="8" name="Tile 2"/>
          <p:cNvSpPr/>
          <p:nvPr/>
        </p:nvSpPr>
        <p:spPr>
          <a:xfrm>
            <a:off x="3291840" y="1280160"/>
            <a:ext cx="2560320" cy="2743200"/>
          </a:xfrm>
          <a:prstGeom prst="roundRect">
            <a:avLst>
              <a:gd name="adj" fmla="val 3571"/>
            </a:avLst>
          </a:prstGeom>
          <a:solidFill>
            <a:srgbClr val="161B23"/>
          </a:solidFill>
          <a:ln w="12700">
            <a:solidFill>
              <a:srgbClr val="2A323E"/>
            </a:solidFill>
            <a:prstDash val="solid"/>
          </a:ln>
        </p:spPr>
      </p:sp>
      <p:sp>
        <p:nvSpPr>
          <p:cNvPr id="9" name="Tile 2 number"/>
          <p:cNvSpPr txBox="1"/>
          <p:nvPr/>
        </p:nvSpPr>
        <p:spPr>
          <a:xfrm>
            <a:off x="3474720" y="1463040"/>
            <a:ext cx="2194560" cy="640080"/>
          </a:xfrm>
          <a:prstGeom prst="rect">
            <a:avLst/>
          </a:prstGeom>
          <a:noFill/>
          <a:ln/>
        </p:spPr>
        <p:txBody>
          <a:bodyPr wrap="square" lIns="0" tIns="0" rIns="0" bIns="0" rtlCol="0" anchor="t"/>
          <a:lstStyle/>
          <a:p>
            <a:pPr marL="0" indent="0">
              <a:buNone/>
            </a:pPr>
            <a:r>
              <a:rPr lang="en-US" sz="3400" b="1" dirty="0">
                <a:solidFill>
                  <a:srgbClr val="36B26B"/>
                </a:solidFill>
                <a:latin typeface="Calibri" pitchFamily="34" charset="0"/>
                <a:ea typeface="Calibri" pitchFamily="34" charset="-122"/>
                <a:cs typeface="Calibri" pitchFamily="34" charset="-120"/>
              </a:rPr>
              <a:t>8 → 0</a:t>
            </a:r>
            <a:endParaRPr lang="en-US" sz="3400" dirty="0"/>
          </a:p>
        </p:txBody>
      </p:sp>
      <p:sp>
        <p:nvSpPr>
          <p:cNvPr id="10" name="Tile 2 text"/>
          <p:cNvSpPr txBox="1"/>
          <p:nvPr/>
        </p:nvSpPr>
        <p:spPr>
          <a:xfrm>
            <a:off x="3474720" y="2240280"/>
            <a:ext cx="2194560" cy="1645920"/>
          </a:xfrm>
          <a:prstGeom prst="rect">
            <a:avLst/>
          </a:prstGeom>
          <a:noFill/>
          <a:ln/>
        </p:spPr>
        <p:txBody>
          <a:bodyPr wrap="square" lIns="0" tIns="0" rIns="0" bIns="0" rtlCol="0" anchor="t"/>
          <a:lstStyle/>
          <a:p>
            <a:pPr marL="0" indent="0">
              <a:buNone/>
            </a:pPr>
            <a:r>
              <a:rPr lang="en-US" sz="1300" dirty="0">
                <a:solidFill>
                  <a:srgbClr val="9AA1AD"/>
                </a:solidFill>
                <a:latin typeface="Calibri" pitchFamily="34" charset="0"/>
                <a:ea typeface="Calibri" pitchFamily="34" charset="-122"/>
                <a:cs typeface="Calibri" pitchFamily="34" charset="-120"/>
              </a:rPr>
              <a:t>urgent messages buried in unreadable text, after the readability check. The price: all 8 routine ones were raised to high too.</a:t>
            </a:r>
            <a:endParaRPr lang="en-US" sz="1300" dirty="0"/>
          </a:p>
        </p:txBody>
      </p:sp>
      <p:sp>
        <p:nvSpPr>
          <p:cNvPr id="11" name="Tile 3"/>
          <p:cNvSpPr/>
          <p:nvPr/>
        </p:nvSpPr>
        <p:spPr>
          <a:xfrm>
            <a:off x="6035040" y="1280160"/>
            <a:ext cx="2560320" cy="2743200"/>
          </a:xfrm>
          <a:prstGeom prst="roundRect">
            <a:avLst>
              <a:gd name="adj" fmla="val 3571"/>
            </a:avLst>
          </a:prstGeom>
          <a:solidFill>
            <a:srgbClr val="161B23"/>
          </a:solidFill>
          <a:ln w="12700">
            <a:solidFill>
              <a:srgbClr val="2A323E"/>
            </a:solidFill>
            <a:prstDash val="solid"/>
          </a:ln>
        </p:spPr>
      </p:sp>
      <p:sp>
        <p:nvSpPr>
          <p:cNvPr id="12" name="Tile 3 number"/>
          <p:cNvSpPr txBox="1"/>
          <p:nvPr/>
        </p:nvSpPr>
        <p:spPr>
          <a:xfrm>
            <a:off x="6217920" y="1463040"/>
            <a:ext cx="2194560" cy="640080"/>
          </a:xfrm>
          <a:prstGeom prst="rect">
            <a:avLst/>
          </a:prstGeom>
          <a:noFill/>
          <a:ln/>
        </p:spPr>
        <p:txBody>
          <a:bodyPr wrap="square" lIns="0" tIns="0" rIns="0" bIns="0" rtlCol="0" anchor="t"/>
          <a:lstStyle/>
          <a:p>
            <a:pPr marL="0" indent="0">
              <a:buNone/>
            </a:pPr>
            <a:r>
              <a:rPr lang="en-US" sz="3400" b="1" dirty="0">
                <a:solidFill>
                  <a:srgbClr val="F2B84B"/>
                </a:solidFill>
                <a:latin typeface="Calibri" pitchFamily="34" charset="0"/>
                <a:ea typeface="Calibri" pitchFamily="34" charset="-122"/>
                <a:cs typeface="Calibri" pitchFamily="34" charset="-120"/>
              </a:rPr>
              <a:t>1 rule</a:t>
            </a:r>
            <a:endParaRPr lang="en-US" sz="3400" dirty="0"/>
          </a:p>
        </p:txBody>
      </p:sp>
      <p:sp>
        <p:nvSpPr>
          <p:cNvPr id="13" name="Tile 3 text"/>
          <p:cNvSpPr txBox="1"/>
          <p:nvPr/>
        </p:nvSpPr>
        <p:spPr>
          <a:xfrm>
            <a:off x="6217920" y="2240280"/>
            <a:ext cx="2194560" cy="1645920"/>
          </a:xfrm>
          <a:prstGeom prst="rect">
            <a:avLst/>
          </a:prstGeom>
          <a:noFill/>
          <a:ln/>
        </p:spPr>
        <p:txBody>
          <a:bodyPr wrap="square" lIns="0" tIns="0" rIns="0" bIns="0" rtlCol="0" anchor="t"/>
          <a:lstStyle/>
          <a:p>
            <a:pPr marL="0" indent="0">
              <a:buNone/>
            </a:pPr>
            <a:r>
              <a:rPr lang="en-US" sz="1300" dirty="0">
                <a:solidFill>
                  <a:srgbClr val="9AA1AD"/>
                </a:solidFill>
                <a:latin typeface="Calibri" pitchFamily="34" charset="0"/>
                <a:ea typeface="Calibri" pitchFamily="34" charset="-122"/>
                <a:cs typeface="Calibri" pitchFamily="34" charset="-120"/>
              </a:rPr>
              <a:t>A message reading “NOT SAFE HERE TONIGHT” went to Customer service. Its priority was right, so the Duty Officer was copied, but we added the missing rule.</a:t>
            </a:r>
            <a:endParaRPr lang="en-US" sz="1300" dirty="0"/>
          </a:p>
        </p:txBody>
      </p:sp>
      <p:sp>
        <p:nvSpPr>
          <p:cNvPr id="14" name="Jump to 9">
            <a:hlinkClick r:id="rId3" action="ppaction://hlinksldjump"/>
            <a:extLst>
              <a:ext uri="{FF2B5EF4-FFF2-40B4-BE49-F238E27FC236}">
                <a16:creationId xmlns:a16="http://schemas.microsoft.com/office/drawing/2014/main" id="{0AB939FA-63F3-517E-42DB-93520DAA73B5}"/>
              </a:ext>
            </a:extLst>
          </p:cNvPr>
          <p:cNvSpPr txBox="1"/>
          <p:nvPr/>
        </p:nvSpPr>
        <p:spPr>
          <a:xfrm>
            <a:off x="7112000" y="228600"/>
            <a:ext cx="1905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&lt;  Back to the close</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0">
  <p:cSld name="Slide 11">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Backup tag"/>
          <p:cNvSpPr txBox="1"/>
          <p:nvPr/>
        </p:nvSpPr>
        <p:spPr>
          <a:xfrm>
            <a:off x="7680960" y="4736592"/>
            <a:ext cx="914400" cy="201168"/>
          </a:xfrm>
          <a:prstGeom prst="rect">
            <a:avLst/>
          </a:prstGeom>
          <a:noFill/>
          <a:ln/>
        </p:spPr>
        <p:txBody>
          <a:bodyPr wrap="square" lIns="0" tIns="0" rIns="0" bIns="0" rtlCol="0" anchor="t"/>
          <a:lstStyle/>
          <a:p>
            <a:pPr marL="0" indent="0" algn="r">
              <a:buNone/>
            </a:pPr>
            <a:r>
              <a:rPr lang="en-US" sz="1000" kern="0" spc="200" dirty="0">
                <a:solidFill>
                  <a:srgbClr val="F2B84B"/>
                </a:solidFill>
                <a:latin typeface="Consolas" pitchFamily="34" charset="0"/>
                <a:ea typeface="Consolas" pitchFamily="34" charset="-122"/>
                <a:cs typeface="Consolas" pitchFamily="34" charset="-120"/>
              </a:rPr>
              <a:t>BACKUP</a:t>
            </a:r>
            <a:endParaRPr lang="en-US" sz="1000" dirty="0"/>
          </a:p>
        </p:txBody>
      </p:sp>
      <p:sp>
        <p:nvSpPr>
          <p:cNvPr id="4" name="Title"/>
          <p:cNvSpPr txBox="1"/>
          <p:nvPr/>
        </p:nvSpPr>
        <p:spPr>
          <a:xfrm>
            <a:off x="548640" y="411480"/>
            <a:ext cx="7315200" cy="54864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Questions we expect</a:t>
            </a:r>
            <a:endParaRPr lang="en-US" sz="3000" dirty="0"/>
          </a:p>
        </p:txBody>
      </p:sp>
      <p:sp>
        <p:nvSpPr>
          <p:cNvPr id="5" name="QA 1"/>
          <p:cNvSpPr/>
          <p:nvPr/>
        </p:nvSpPr>
        <p:spPr>
          <a:xfrm>
            <a:off x="548640" y="1188720"/>
            <a:ext cx="3931920" cy="960120"/>
          </a:xfrm>
          <a:prstGeom prst="roundRect">
            <a:avLst>
              <a:gd name="adj" fmla="val 9524"/>
            </a:avLst>
          </a:prstGeom>
          <a:solidFill>
            <a:srgbClr val="161B23"/>
          </a:solidFill>
          <a:ln w="12700">
            <a:solidFill>
              <a:srgbClr val="2A323E"/>
            </a:solidFill>
            <a:prstDash val="solid"/>
          </a:ln>
        </p:spPr>
      </p:sp>
      <p:sp>
        <p:nvSpPr>
          <p:cNvPr id="6" name="QA 1 question"/>
          <p:cNvSpPr txBox="1"/>
          <p:nvPr/>
        </p:nvSpPr>
        <p:spPr>
          <a:xfrm>
            <a:off x="731520" y="128016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Is the data real?</a:t>
            </a:r>
            <a:endParaRPr lang="en-US" sz="1400" dirty="0"/>
          </a:p>
        </p:txBody>
      </p:sp>
      <p:sp>
        <p:nvSpPr>
          <p:cNvPr id="7" name="QA 1 answer"/>
          <p:cNvSpPr txBox="1"/>
          <p:nvPr/>
        </p:nvSpPr>
        <p:spPr>
          <a:xfrm>
            <a:off x="731520" y="157276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No. We wrote it, so scores are optimistic. The pipeline and the AI verdicts are real.</a:t>
            </a:r>
            <a:endParaRPr lang="en-US" sz="1250" dirty="0"/>
          </a:p>
        </p:txBody>
      </p:sp>
      <p:sp>
        <p:nvSpPr>
          <p:cNvPr id="8" name="QA 2"/>
          <p:cNvSpPr/>
          <p:nvPr/>
        </p:nvSpPr>
        <p:spPr>
          <a:xfrm>
            <a:off x="4663440" y="1188720"/>
            <a:ext cx="3931920" cy="960120"/>
          </a:xfrm>
          <a:prstGeom prst="roundRect">
            <a:avLst>
              <a:gd name="adj" fmla="val 9524"/>
            </a:avLst>
          </a:prstGeom>
          <a:solidFill>
            <a:srgbClr val="161B23"/>
          </a:solidFill>
          <a:ln w="12700">
            <a:solidFill>
              <a:srgbClr val="2A323E"/>
            </a:solidFill>
            <a:prstDash val="solid"/>
          </a:ln>
        </p:spPr>
      </p:sp>
      <p:sp>
        <p:nvSpPr>
          <p:cNvPr id="9" name="QA 2 question"/>
          <p:cNvSpPr txBox="1"/>
          <p:nvPr/>
        </p:nvSpPr>
        <p:spPr>
          <a:xfrm>
            <a:off x="4846320" y="128016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What if the AI is down?</a:t>
            </a:r>
            <a:endParaRPr lang="en-US" sz="1400" dirty="0"/>
          </a:p>
        </p:txBody>
      </p:sp>
      <p:sp>
        <p:nvSpPr>
          <p:cNvPr id="10" name="QA 2 answer"/>
          <p:cNvSpPr txBox="1"/>
          <p:nvPr/>
        </p:nvSpPr>
        <p:spPr>
          <a:xfrm>
            <a:off x="4846320" y="157276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Backup model and rules take over: still 98% of urgent messages.</a:t>
            </a:r>
            <a:endParaRPr lang="en-US" sz="1250" dirty="0"/>
          </a:p>
        </p:txBody>
      </p:sp>
      <p:sp>
        <p:nvSpPr>
          <p:cNvPr id="11" name="QA 3"/>
          <p:cNvSpPr/>
          <p:nvPr/>
        </p:nvSpPr>
        <p:spPr>
          <a:xfrm>
            <a:off x="548640" y="2286000"/>
            <a:ext cx="3931920" cy="960120"/>
          </a:xfrm>
          <a:prstGeom prst="roundRect">
            <a:avLst>
              <a:gd name="adj" fmla="val 9524"/>
            </a:avLst>
          </a:prstGeom>
          <a:solidFill>
            <a:srgbClr val="161B23"/>
          </a:solidFill>
          <a:ln w="12700">
            <a:solidFill>
              <a:srgbClr val="2A323E"/>
            </a:solidFill>
            <a:prstDash val="solid"/>
          </a:ln>
        </p:spPr>
      </p:sp>
      <p:sp>
        <p:nvSpPr>
          <p:cNvPr id="12" name="QA 3 question"/>
          <p:cNvSpPr txBox="1"/>
          <p:nvPr/>
        </p:nvSpPr>
        <p:spPr>
          <a:xfrm>
            <a:off x="731520" y="237744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Can someone trick it?</a:t>
            </a:r>
            <a:endParaRPr lang="en-US" sz="1400" dirty="0"/>
          </a:p>
        </p:txBody>
      </p:sp>
      <p:sp>
        <p:nvSpPr>
          <p:cNvPr id="13" name="QA 3 answer"/>
          <p:cNvSpPr txBox="1"/>
          <p:nvPr/>
        </p:nvSpPr>
        <p:spPr>
          <a:xfrm>
            <a:off x="731520" y="267004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The rules ignore instructions in the text, and priorities only go up.</a:t>
            </a:r>
            <a:endParaRPr lang="en-US" sz="1250" dirty="0"/>
          </a:p>
        </p:txBody>
      </p:sp>
      <p:sp>
        <p:nvSpPr>
          <p:cNvPr id="14" name="QA 4"/>
          <p:cNvSpPr/>
          <p:nvPr/>
        </p:nvSpPr>
        <p:spPr>
          <a:xfrm>
            <a:off x="4663440" y="2286000"/>
            <a:ext cx="3931920" cy="960120"/>
          </a:xfrm>
          <a:prstGeom prst="roundRect">
            <a:avLst>
              <a:gd name="adj" fmla="val 9524"/>
            </a:avLst>
          </a:prstGeom>
          <a:solidFill>
            <a:srgbClr val="161B23"/>
          </a:solidFill>
          <a:ln w="12700">
            <a:solidFill>
              <a:srgbClr val="2A323E"/>
            </a:solidFill>
            <a:prstDash val="solid"/>
          </a:ln>
        </p:spPr>
      </p:sp>
      <p:sp>
        <p:nvSpPr>
          <p:cNvPr id="15" name="QA 4 question"/>
          <p:cNvSpPr txBox="1"/>
          <p:nvPr/>
        </p:nvSpPr>
        <p:spPr>
          <a:xfrm>
            <a:off x="4846320" y="237744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Does it reply?</a:t>
            </a:r>
            <a:endParaRPr lang="en-US" sz="1400" dirty="0"/>
          </a:p>
        </p:txBody>
      </p:sp>
      <p:sp>
        <p:nvSpPr>
          <p:cNvPr id="16" name="QA 4 answer"/>
          <p:cNvSpPr txBox="1"/>
          <p:nvPr/>
        </p:nvSpPr>
        <p:spPr>
          <a:xfrm>
            <a:off x="4846320" y="267004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Never. It drafts; a person approves. A test checks nothing can send.</a:t>
            </a:r>
            <a:endParaRPr lang="en-US" sz="1250" dirty="0"/>
          </a:p>
        </p:txBody>
      </p:sp>
      <p:sp>
        <p:nvSpPr>
          <p:cNvPr id="17" name="QA 5"/>
          <p:cNvSpPr/>
          <p:nvPr/>
        </p:nvSpPr>
        <p:spPr>
          <a:xfrm>
            <a:off x="548640" y="3383280"/>
            <a:ext cx="3931920" cy="960120"/>
          </a:xfrm>
          <a:prstGeom prst="roundRect">
            <a:avLst>
              <a:gd name="adj" fmla="val 9524"/>
            </a:avLst>
          </a:prstGeom>
          <a:solidFill>
            <a:srgbClr val="161B23"/>
          </a:solidFill>
          <a:ln w="12700">
            <a:solidFill>
              <a:srgbClr val="2A323E"/>
            </a:solidFill>
            <a:prstDash val="solid"/>
          </a:ln>
        </p:spPr>
      </p:sp>
      <p:sp>
        <p:nvSpPr>
          <p:cNvPr id="18" name="QA 5 question"/>
          <p:cNvSpPr txBox="1"/>
          <p:nvPr/>
        </p:nvSpPr>
        <p:spPr>
          <a:xfrm>
            <a:off x="731520" y="347472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Aboriginal languages?</a:t>
            </a:r>
            <a:endParaRPr lang="en-US" sz="1400" dirty="0"/>
          </a:p>
        </p:txBody>
      </p:sp>
      <p:sp>
        <p:nvSpPr>
          <p:cNvPr id="19" name="QA 5 answer"/>
          <p:cNvSpPr txBox="1"/>
          <p:nvPr/>
        </p:nvSpPr>
        <p:spPr>
          <a:xfrm>
            <a:off x="731520" y="376732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We invent none. Unreadable text goes to an interpreter at HIGH.</a:t>
            </a:r>
            <a:endParaRPr lang="en-US" sz="1250" dirty="0"/>
          </a:p>
        </p:txBody>
      </p:sp>
      <p:sp>
        <p:nvSpPr>
          <p:cNvPr id="20" name="QA 6"/>
          <p:cNvSpPr/>
          <p:nvPr/>
        </p:nvSpPr>
        <p:spPr>
          <a:xfrm>
            <a:off x="4663440" y="3383280"/>
            <a:ext cx="3931920" cy="960120"/>
          </a:xfrm>
          <a:prstGeom prst="roundRect">
            <a:avLst>
              <a:gd name="adj" fmla="val 9524"/>
            </a:avLst>
          </a:prstGeom>
          <a:solidFill>
            <a:srgbClr val="161B23"/>
          </a:solidFill>
          <a:ln w="12700">
            <a:solidFill>
              <a:srgbClr val="2A323E"/>
            </a:solidFill>
            <a:prstDash val="solid"/>
          </a:ln>
        </p:spPr>
      </p:sp>
      <p:sp>
        <p:nvSpPr>
          <p:cNvPr id="21" name="QA 6 question"/>
          <p:cNvSpPr txBox="1"/>
          <p:nvPr/>
        </p:nvSpPr>
        <p:spPr>
          <a:xfrm>
            <a:off x="4846320" y="347472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Privacy?</a:t>
            </a:r>
            <a:endParaRPr lang="en-US" sz="1400" dirty="0"/>
          </a:p>
        </p:txBody>
      </p:sp>
      <p:sp>
        <p:nvSpPr>
          <p:cNvPr id="22" name="QA 6 answer"/>
          <p:cNvSpPr txBox="1"/>
          <p:nvPr/>
        </p:nvSpPr>
        <p:spPr>
          <a:xfrm>
            <a:off x="4846320" y="376732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Needs a privacy impact assessment and Australian hosting before any real message.</a:t>
            </a:r>
            <a:endParaRPr lang="en-US" sz="1250" dirty="0"/>
          </a:p>
        </p:txBody>
      </p:sp>
      <p:sp>
        <p:nvSpPr>
          <p:cNvPr id="23" name="Jump to 9">
            <a:hlinkClick r:id="rId3" action="ppaction://hlinksldjump"/>
            <a:extLst>
              <a:ext uri="{FF2B5EF4-FFF2-40B4-BE49-F238E27FC236}">
                <a16:creationId xmlns:a16="http://schemas.microsoft.com/office/drawing/2014/main" id="{A7510A62-6EB8-73D0-EFA3-DAE6A000EA8C}"/>
              </a:ext>
            </a:extLst>
          </p:cNvPr>
          <p:cNvSpPr txBox="1"/>
          <p:nvPr/>
        </p:nvSpPr>
        <p:spPr>
          <a:xfrm>
            <a:off x="7112000" y="228600"/>
            <a:ext cx="1905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&lt;  Back to the close</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2453</Words>
  <Application>Microsoft Office PowerPoint</Application>
  <PresentationFormat>On-screen Show (16:9)</PresentationFormat>
  <Paragraphs>193</Paragraphs>
  <Slides>11</Slides>
  <Notes>11</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NT Correspondence Triage</dc:title>
  <dc:subject>PptxGenJS Presentation</dc:subject>
  <dc:creator>Team AIC023</dc:creator>
  <cp:lastModifiedBy>Aaditya Kulkarni</cp:lastModifiedBy>
  <cp:revision>2</cp:revision>
  <dcterms:created xsi:type="dcterms:W3CDTF">2026-10-08T14:20:20Z</dcterms:created>
  <dcterms:modified xsi:type="dcterms:W3CDTF">2026-10-08T14:20:28Z</dcterms:modified>
</cp:coreProperties>
</file>